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2 minutes. Introduce the catalogue-membership question: how would we answer one query against an unsorted list, and what changes if queries repeat? Say that an algorithm choice has to meet a behaviour contract before speed matters. Name the three kinds of evidence the session will use: a precise specification, an invariant argument and controlled observation. Avoid claiming that a stopwatch proves an asymptotic class. Ask students to keep one example in mind as definitions arrive. Transition to a prediction before giving costs.
Source: Official M12 Module Descriptor, pp. 1–3; lecturer-approved course-plan.md, S01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8 minutes including pair discussion. Ask for a choice and its assumptions, not a named data structure alone. A sequential scan has no setup cost. Repeated queries may justify building an index, but construction and updates matter. Do not present a hash table as automatically constant time. Invite one student to distinguish a query from a workload. Collect predictions without grading them; revisit after comparing bounds and observations. Transition to specifying the exact output required.
Source: Official M12 Module Descriptor, pp. 1–3; lecturer-approved course-plan.md, S01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8 minutes. Ask which index should be returned for target 7. Emphasise that a boolean membership request has a different contract from first-index search. A duplicate example exposes an otherwise hidden specification choice. State that equality is assumed to be defined and, for the first cost model, constant time. If comparing long strings, equality cost can vary. Ask what should happen for an empty sequence. Transition to the ADT distinction.
Source: Official M12 Module Descriptor, pp. 1–3; lecturer-approved course-plan.md, S01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11 minutes. A set-like ADT can offer contains, insert and remove while leaving physical storage unspecified. A dynamic array and linked list can support sequence behaviour with different indexed-access and update costs. Explain that “array” is used both informally for an indexed collection and concretely for contiguous storage, so context matters. Ask students whether the caller can observe node pointers in a normal sequence contract. Mention that later sessions develop structures named in the descriptor. Transition to operation mix.
Source: Official M12 Module Descriptor, pp. 1–3; lecturer-approved course-plan.md, S01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11 minutes. Work through a catalogue loaded once: a scan may be simplest for one request, while an index has an upfront cost that may be repaid over repeated lookups. A changing catalogue adds update cost. Resist presenting a numeric crossover without hardware and workload data. Ask what happens if the representation must preserve order or duplicates. Students should identify contract requirements before comparing costs. Transition to a concrete correct scan.
Source: Official M12 Module Descriptor, pp. 1–3; lecturer-approved course-plan.md, S01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5 minutes. Trace target 4 one comparison at a time and stop at index 1. Ask why the second 4 is not inspected. Make students predict the result for absent target 7 and empty input. If the loop never starts, the final return still meets the specified behaviour. Highlight that the returned index is zero based. The next slide states an invariant that explains first-index correctness for all finite inputs.
Source: Official M12 Module Descriptor, pp. 1–3; lecturer-approved course-plan.md, S01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12 minutes. State initialization: at i=0 the earlier prefix is empty. For maintenance, when the current element differs, the no-match prefix extends to include it. For a match, the invariant excludes any earlier match, proving the first-index promise. At exhaustion, the prefix is the entire input, proving the −1 result. Termination follows because i increases and is bounded by finite n. Ask students which part of the argument would fail if the loop skipped an index. This is a proof, separate from testing.
Source: Official M12 Module Descriptor, pp. 1–3; lecturer-approved course-plan.md, S01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8 minutes. Use [7,4,7,9] for a first-position match and [9,4,4,1] for a second-position match. Ask a student to state the count for a singleton miss. The formulas are exact equality-check counts under the chosen model. Distinguish the empty input from a constant-time best case for n&gt;0. Do not call all successful searches constant time. Transition to a second algorithm whose nested loops reveal a different growth rate.
Source: Official M12 Module Descriptor, pp. 1–3; lecturer-approved course-plan.md, S01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8 minutes. Trace pairs in loop order: (0,1), (0,2), (0,3), (1,2), then (1,3) matches. Explain the invariant that every earlier pair has been checked and found unequal. A match justifies immediate true; a false result requires exhaustion. For no duplicate, the pair count is n(n−1)/2. Ask what happens on empty and singleton input. Transition to separating input cases from growth notation.
Source: Official M12 Module Descriptor, pp. 1–3; lecturer-approved course-plan.md, S01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7 minutes. For a present search with a uniformly distributed first matching position, derive (n+1)/2 comparisons. State that this is a conditional teaching model and that duplicates or absent queries change it. For pairwise duplicate detection, an immediate first-pair match takes one comparison when n≥2; no duplicates take n(n−1)/2. Do not announce an average-case pair count without a distribution. Ask whether worst case means all runs are slow. Transition to formal bounds on selected cost functions.
Source: Official M12 Module Descriptor, pp. 1–3; lecturer-approved course-plan.md, S01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 minutes. Give the quantified definition in the lecture notes: positive constants and a threshold n₀. The functions considered are nonnegative for sufficiently large n. Big-O is an upper bound on a specified cost function, not a synonym for worst case. A worst-case cost can itself be O(n), while a best-case cost can be Θ(1). Ask whether 3n²+5n+7 is O(n³) as well as Θ(n²); explain that a loose upper bound may be true. Transition to counting loops.
Source: Official M12 Module Descriptor, pp. 1–3; lecturer-approved course-plan.md, S01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8 minutes. Derive the pair sum n(n−1)/2 and its Θ(n²) growth, keeping the exact count visible first. Two consecutive n-step scans remain Θ(n), not Θ(n²). A comparison is a unit here; if equality of two long strings costs up to L, the scan can cost O(nL). Ask what is counted by `n` in each example. Mention that recurrences are developed in S02. Transition to memory and the cost model used in practice.
Source: Official M12 Module Descriptor, pp. 1–3; lecturer-approved course-plan.md, S01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6 minutes. Auxiliary space excludes the given sequence; total storage includes it. The pairwise checker uses constant extra storage even though it does quadratic work on distinct values. A hash-based duplicate checker often uses linear space and expected linear time under suitable assumptions, but collisions and hashing costs matter. Do not claim a universal constant-time lookup or describe an unimplemented alternative as the lab solution. Ask what a service with frequent updates might prefer. Transition to measurement protocol.
Source: Official M12 Module Descriptor, pp. 1–3; lecturer-approved course-plan.md, S01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6 minutes. The labs use `perf_counter_ns` or `steady_clock`, one warm-up and a median of 11 calls. Input construction is outside the timed region. Ask why a small run can be dominated by timer and scheduling effects. The C++ program records its language standard; students must add compiler and hardware details. Do not compare raw Python and C++ time as if language were the only variable. Comparison counts help connect observations to a proof but do not themselves replace the proof.
Source: Official M12 Module Descriptor, pp. 1–3; lecturer-approved course-plan.md, S01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40 minutes, largely away from the slide. Direct students to `lab.ipynb` or offline `lab.py`; `lab.cpp` offers a C++17 analogue. Have them write predictions before pressing Run. Confirm the examples' edge-case checks, then inspect absent search and distinct duplicate-check inputs. Ask for the environment and at least one plausible source of noise. Help with toolchain setup, but preserve the offline Python route and paper comparison-count trace. Point students to `exercises.md` after observing, without giving solutions.
Source: Official M12 Module Descriptor, pp. 1–3; lecturer-approved course-plan.md, S01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minutes including 20 minutes of paired exercise work and a 10-minute exit ticket. Ask students to name the input size, cost model and case for each complexity claim. For the invariant, require initialization, maintenance, termination and both return paths. The exit ticket asks for one justified bound and one reason timing alone does not prove it. Collect questions for S02, which introduces recurrence relations. Avoid showing worked answers; this is student-facing practice.
Source: Official M12 Module Descriptor, pp. 1–3; lecturer-approved course-plan.md, S01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08C95"/>
          </a:solidFill>
          <a:ln w="12700">
            <a:solidFill>
              <a:srgbClr val="008C95"/>
            </a:solidFill>
            <a:prstDash val="solid"/>
          </a:ln>
        </p:spPr>
      </p:sp>
      <p:sp>
        <p:nvSpPr>
          <p:cNvPr id="3" name="Text 1"/>
          <p:cNvSpPr/>
          <p:nvPr/>
        </p:nvSpPr>
        <p:spPr>
          <a:xfrm>
            <a:off x="640080" y="384048"/>
            <a:ext cx="10881360" cy="566928"/>
          </a:xfrm>
          <a:prstGeom prst="rect">
            <a:avLst/>
          </a:prstGeom>
          <a:noFill/>
          <a:ln/>
        </p:spPr>
        <p:txBody>
          <a:bodyPr wrap="square" lIns="0" tIns="0" rIns="0" bIns="0" rtlCol="0" anchor="ctr">
            <a:normAutofit/>
          </a:bodyPr>
          <a:lstStyle/>
          <a:p>
            <a:pPr algn="l" indent="0" marL="0">
              <a:buNone/>
            </a:pPr>
            <a:r>
              <a:rPr lang="en-US" sz="3000" b="1" dirty="0">
                <a:solidFill>
                  <a:srgbClr val="17324D"/>
                </a:solidFill>
                <a:latin typeface="Aptos" pitchFamily="34" charset="0"/>
                <a:ea typeface="Aptos" pitchFamily="34" charset="-122"/>
                <a:cs typeface="Aptos" pitchFamily="34" charset="-120"/>
              </a:rPr>
              <a:t>S01: reasoning about algorithms</a:t>
            </a:r>
            <a:endParaRPr lang="en-US" sz="3000" dirty="0"/>
          </a:p>
        </p:txBody>
      </p:sp>
      <p:sp>
        <p:nvSpPr>
          <p:cNvPr id="4" name="Text 2"/>
          <p:cNvSpPr/>
          <p:nvPr/>
        </p:nvSpPr>
        <p:spPr>
          <a:xfrm>
            <a:off x="676656" y="1024128"/>
            <a:ext cx="9875520" cy="265176"/>
          </a:xfrm>
          <a:prstGeom prst="rect">
            <a:avLst/>
          </a:prstGeom>
          <a:noFill/>
          <a:ln/>
        </p:spPr>
        <p:txBody>
          <a:bodyPr wrap="square" lIns="0" tIns="0" rIns="0" bIns="0" rtlCol="0" anchor="ctr">
            <a:normAutofit/>
          </a:bodyPr>
          <a:lstStyle/>
          <a:p>
            <a:pPr algn="l" indent="0" marL="0">
              <a:buNone/>
            </a:pPr>
            <a:r>
              <a:rPr lang="en-US" sz="1200" b="1" dirty="0">
                <a:solidFill>
                  <a:srgbClr val="008C95"/>
                </a:solidFill>
                <a:latin typeface="Aptos" pitchFamily="34" charset="0"/>
                <a:ea typeface="Aptos" pitchFamily="34" charset="-122"/>
                <a:cs typeface="Aptos" pitchFamily="34" charset="-120"/>
              </a:rPr>
              <a:t>C2, C3, C6, K1, K2.</a:t>
            </a:r>
            <a:endParaRPr lang="en-US" sz="1200" dirty="0"/>
          </a:p>
        </p:txBody>
      </p:sp>
      <p:sp>
        <p:nvSpPr>
          <p:cNvPr id="5" name="Shape 3"/>
          <p:cNvSpPr/>
          <p:nvPr/>
        </p:nvSpPr>
        <p:spPr>
          <a:xfrm>
            <a:off x="676656" y="1600200"/>
            <a:ext cx="4892040" cy="914400"/>
          </a:xfrm>
          <a:prstGeom prst="roundRect">
            <a:avLst>
              <a:gd name="adj" fmla="val 12000"/>
            </a:avLst>
          </a:prstGeom>
          <a:solidFill>
            <a:srgbClr val="FFFFFF"/>
          </a:solidFill>
          <a:ln w="15240">
            <a:solidFill>
              <a:srgbClr val="BDD0D8"/>
            </a:solidFill>
            <a:prstDash val="solid"/>
          </a:ln>
        </p:spPr>
      </p:sp>
      <p:sp>
        <p:nvSpPr>
          <p:cNvPr id="6" name="Text 4"/>
          <p:cNvSpPr/>
          <p:nvPr/>
        </p:nvSpPr>
        <p:spPr>
          <a:xfrm>
            <a:off x="905256" y="1737360"/>
            <a:ext cx="4434840" cy="621792"/>
          </a:xfrm>
          <a:prstGeom prst="rect">
            <a:avLst/>
          </a:prstGeom>
          <a:noFill/>
          <a:ln/>
        </p:spPr>
        <p:txBody>
          <a:bodyPr wrap="square" lIns="0" tIns="0" rIns="0" bIns="0" rtlCol="0" anchor="ctr">
            <a:normAutofit/>
          </a:bodyPr>
          <a:lstStyle/>
          <a:p>
            <a:pPr algn="l" indent="0" marL="0">
              <a:buNone/>
            </a:pPr>
            <a:r>
              <a:rPr lang="en-US" sz="2000" dirty="0">
                <a:solidFill>
                  <a:srgbClr val="263442"/>
                </a:solidFill>
                <a:latin typeface="Aptos" pitchFamily="34" charset="0"/>
                <a:ea typeface="Aptos" pitchFamily="34" charset="-122"/>
                <a:cs typeface="Aptos" pitchFamily="34" charset="-120"/>
              </a:rPr>
              <a:t>Algorithm specification</a:t>
            </a:r>
            <a:endParaRPr lang="en-US" sz="2000" dirty="0"/>
          </a:p>
        </p:txBody>
      </p:sp>
      <p:sp>
        <p:nvSpPr>
          <p:cNvPr id="7" name="Shape 5"/>
          <p:cNvSpPr/>
          <p:nvPr/>
        </p:nvSpPr>
        <p:spPr>
          <a:xfrm>
            <a:off x="676656" y="2743200"/>
            <a:ext cx="4892040" cy="914400"/>
          </a:xfrm>
          <a:prstGeom prst="roundRect">
            <a:avLst>
              <a:gd name="adj" fmla="val 12000"/>
            </a:avLst>
          </a:prstGeom>
          <a:solidFill>
            <a:srgbClr val="E8F3F3"/>
          </a:solidFill>
          <a:ln w="15240">
            <a:solidFill>
              <a:srgbClr val="008C95"/>
            </a:solidFill>
            <a:prstDash val="solid"/>
          </a:ln>
        </p:spPr>
      </p:sp>
      <p:sp>
        <p:nvSpPr>
          <p:cNvPr id="8" name="Text 6"/>
          <p:cNvSpPr/>
          <p:nvPr/>
        </p:nvSpPr>
        <p:spPr>
          <a:xfrm>
            <a:off x="905256" y="2880360"/>
            <a:ext cx="4434840" cy="621792"/>
          </a:xfrm>
          <a:prstGeom prst="rect">
            <a:avLst/>
          </a:prstGeom>
          <a:noFill/>
          <a:ln/>
        </p:spPr>
        <p:txBody>
          <a:bodyPr wrap="square" lIns="0" tIns="0" rIns="0" bIns="0" rtlCol="0" anchor="ctr">
            <a:normAutofit/>
          </a:bodyPr>
          <a:lstStyle/>
          <a:p>
            <a:pPr algn="l" indent="0" marL="0">
              <a:buNone/>
            </a:pPr>
            <a:r>
              <a:rPr lang="en-US" sz="2000" b="1" dirty="0">
                <a:solidFill>
                  <a:srgbClr val="263442"/>
                </a:solidFill>
                <a:latin typeface="Aptos" pitchFamily="34" charset="0"/>
                <a:ea typeface="Aptos" pitchFamily="34" charset="-122"/>
                <a:cs typeface="Aptos" pitchFamily="34" charset="-120"/>
              </a:rPr>
              <a:t>ADT and representation</a:t>
            </a:r>
            <a:endParaRPr lang="en-US" sz="2000" dirty="0"/>
          </a:p>
        </p:txBody>
      </p:sp>
      <p:sp>
        <p:nvSpPr>
          <p:cNvPr id="9" name="Shape 7"/>
          <p:cNvSpPr/>
          <p:nvPr/>
        </p:nvSpPr>
        <p:spPr>
          <a:xfrm>
            <a:off x="676656" y="3886200"/>
            <a:ext cx="4892040" cy="914400"/>
          </a:xfrm>
          <a:prstGeom prst="roundRect">
            <a:avLst>
              <a:gd name="adj" fmla="val 12000"/>
            </a:avLst>
          </a:prstGeom>
          <a:solidFill>
            <a:srgbClr val="FFFFFF"/>
          </a:solidFill>
          <a:ln w="15240">
            <a:solidFill>
              <a:srgbClr val="BDD0D8"/>
            </a:solidFill>
            <a:prstDash val="solid"/>
          </a:ln>
        </p:spPr>
      </p:sp>
      <p:sp>
        <p:nvSpPr>
          <p:cNvPr id="10" name="Text 8"/>
          <p:cNvSpPr/>
          <p:nvPr/>
        </p:nvSpPr>
        <p:spPr>
          <a:xfrm>
            <a:off x="905256" y="4023360"/>
            <a:ext cx="4434840" cy="621792"/>
          </a:xfrm>
          <a:prstGeom prst="rect">
            <a:avLst/>
          </a:prstGeom>
          <a:noFill/>
          <a:ln/>
        </p:spPr>
        <p:txBody>
          <a:bodyPr wrap="square" lIns="0" tIns="0" rIns="0" bIns="0" rtlCol="0" anchor="ctr">
            <a:normAutofit/>
          </a:bodyPr>
          <a:lstStyle/>
          <a:p>
            <a:pPr algn="l" indent="0" marL="0">
              <a:buNone/>
            </a:pPr>
            <a:r>
              <a:rPr lang="en-US" sz="2000" dirty="0">
                <a:solidFill>
                  <a:srgbClr val="263442"/>
                </a:solidFill>
                <a:latin typeface="Aptos" pitchFamily="34" charset="0"/>
                <a:ea typeface="Aptos" pitchFamily="34" charset="-122"/>
                <a:cs typeface="Aptos" pitchFamily="34" charset="-120"/>
              </a:rPr>
              <a:t>Correctness, cost and measured time</a:t>
            </a:r>
            <a:endParaRPr lang="en-US" sz="2000" dirty="0"/>
          </a:p>
        </p:txBody>
      </p:sp>
      <p:sp>
        <p:nvSpPr>
          <p:cNvPr id="11" name="Shape 9"/>
          <p:cNvSpPr/>
          <p:nvPr/>
        </p:nvSpPr>
        <p:spPr>
          <a:xfrm>
            <a:off x="6217920" y="2377440"/>
            <a:ext cx="1417320" cy="1005840"/>
          </a:xfrm>
          <a:prstGeom prst="roundRect">
            <a:avLst>
              <a:gd name="adj" fmla="val 10909"/>
            </a:avLst>
          </a:prstGeom>
          <a:solidFill>
            <a:srgbClr val="E8F3F3"/>
          </a:solidFill>
          <a:ln w="15240">
            <a:solidFill>
              <a:srgbClr val="008C95"/>
            </a:solidFill>
            <a:prstDash val="solid"/>
          </a:ln>
        </p:spPr>
      </p:sp>
      <p:sp>
        <p:nvSpPr>
          <p:cNvPr id="12" name="Text 10"/>
          <p:cNvSpPr/>
          <p:nvPr/>
        </p:nvSpPr>
        <p:spPr>
          <a:xfrm>
            <a:off x="6327648" y="2542032"/>
            <a:ext cx="1197864" cy="640080"/>
          </a:xfrm>
          <a:prstGeom prst="rect">
            <a:avLst/>
          </a:prstGeom>
          <a:noFill/>
          <a:ln/>
        </p:spPr>
        <p:txBody>
          <a:bodyPr wrap="square" lIns="0" tIns="0" rIns="0" bIns="0" rtlCol="0" anchor="ctr">
            <a:normAutofit/>
          </a:bodyPr>
          <a:lstStyle/>
          <a:p>
            <a:pPr algn="ctr" indent="0" marL="0">
              <a:buNone/>
            </a:pPr>
            <a:r>
              <a:rPr lang="en-US" sz="1500" b="1" dirty="0">
                <a:solidFill>
                  <a:srgbClr val="263442"/>
                </a:solidFill>
                <a:latin typeface="Aptos" pitchFamily="34" charset="0"/>
                <a:ea typeface="Aptos" pitchFamily="34" charset="-122"/>
                <a:cs typeface="Aptos" pitchFamily="34" charset="-120"/>
              </a:rPr>
              <a:t>Contract</a:t>
            </a:r>
            <a:endParaRPr lang="en-US" sz="1500" dirty="0"/>
          </a:p>
        </p:txBody>
      </p:sp>
      <p:sp>
        <p:nvSpPr>
          <p:cNvPr id="13" name="Text 11"/>
          <p:cNvSpPr/>
          <p:nvPr/>
        </p:nvSpPr>
        <p:spPr>
          <a:xfrm>
            <a:off x="7635240" y="2688336"/>
            <a:ext cx="201168" cy="228600"/>
          </a:xfrm>
          <a:prstGeom prst="rect">
            <a:avLst/>
          </a:prstGeom>
          <a:noFill/>
          <a:ln/>
        </p:spPr>
        <p:txBody>
          <a:bodyPr wrap="square" lIns="0" tIns="0" rIns="0" bIns="0" rtlCol="0" anchor="ctr">
            <a:normAutofit/>
          </a:bodyPr>
          <a:lstStyle/>
          <a:p>
            <a:pPr algn="ctr" indent="0" marL="0">
              <a:buNone/>
            </a:pPr>
            <a:r>
              <a:rPr lang="en-US" sz="1800" dirty="0">
                <a:solidFill>
                  <a:srgbClr val="008C95"/>
                </a:solidFill>
                <a:latin typeface="Aptos" pitchFamily="34" charset="0"/>
                <a:ea typeface="Aptos" pitchFamily="34" charset="-122"/>
                <a:cs typeface="Aptos" pitchFamily="34" charset="-120"/>
              </a:rPr>
              <a:t>→</a:t>
            </a:r>
            <a:endParaRPr lang="en-US" sz="1800" dirty="0"/>
          </a:p>
        </p:txBody>
      </p:sp>
      <p:sp>
        <p:nvSpPr>
          <p:cNvPr id="14" name="Shape 12"/>
          <p:cNvSpPr/>
          <p:nvPr/>
        </p:nvSpPr>
        <p:spPr>
          <a:xfrm>
            <a:off x="7836408" y="2377440"/>
            <a:ext cx="1417320" cy="1005840"/>
          </a:xfrm>
          <a:prstGeom prst="roundRect">
            <a:avLst>
              <a:gd name="adj" fmla="val 10909"/>
            </a:avLst>
          </a:prstGeom>
          <a:solidFill>
            <a:srgbClr val="FFFFFF"/>
          </a:solidFill>
          <a:ln w="15240">
            <a:solidFill>
              <a:srgbClr val="BDD0D8"/>
            </a:solidFill>
            <a:prstDash val="solid"/>
          </a:ln>
        </p:spPr>
      </p:sp>
      <p:sp>
        <p:nvSpPr>
          <p:cNvPr id="15" name="Text 13"/>
          <p:cNvSpPr/>
          <p:nvPr/>
        </p:nvSpPr>
        <p:spPr>
          <a:xfrm>
            <a:off x="7946136" y="2542032"/>
            <a:ext cx="1197864" cy="640080"/>
          </a:xfrm>
          <a:prstGeom prst="rect">
            <a:avLst/>
          </a:prstGeom>
          <a:noFill/>
          <a:ln/>
        </p:spPr>
        <p:txBody>
          <a:bodyPr wrap="square" lIns="0" tIns="0" rIns="0" bIns="0" rtlCol="0" anchor="ctr">
            <a:normAutofit/>
          </a:bodyPr>
          <a:lstStyle/>
          <a:p>
            <a:pPr algn="ctr" indent="0" marL="0">
              <a:buNone/>
            </a:pPr>
            <a:r>
              <a:rPr lang="en-US" sz="1500" b="1" dirty="0">
                <a:solidFill>
                  <a:srgbClr val="263442"/>
                </a:solidFill>
                <a:latin typeface="Aptos" pitchFamily="34" charset="0"/>
                <a:ea typeface="Aptos" pitchFamily="34" charset="-122"/>
                <a:cs typeface="Aptos" pitchFamily="34" charset="-120"/>
              </a:rPr>
              <a:t>Proof</a:t>
            </a:r>
            <a:endParaRPr lang="en-US" sz="1500" dirty="0"/>
          </a:p>
        </p:txBody>
      </p:sp>
      <p:sp>
        <p:nvSpPr>
          <p:cNvPr id="16" name="Text 14"/>
          <p:cNvSpPr/>
          <p:nvPr/>
        </p:nvSpPr>
        <p:spPr>
          <a:xfrm>
            <a:off x="9253728" y="2688336"/>
            <a:ext cx="201168" cy="228600"/>
          </a:xfrm>
          <a:prstGeom prst="rect">
            <a:avLst/>
          </a:prstGeom>
          <a:noFill/>
          <a:ln/>
        </p:spPr>
        <p:txBody>
          <a:bodyPr wrap="square" lIns="0" tIns="0" rIns="0" bIns="0" rtlCol="0" anchor="ctr">
            <a:normAutofit/>
          </a:bodyPr>
          <a:lstStyle/>
          <a:p>
            <a:pPr algn="ctr" indent="0" marL="0">
              <a:buNone/>
            </a:pPr>
            <a:r>
              <a:rPr lang="en-US" sz="1800" dirty="0">
                <a:solidFill>
                  <a:srgbClr val="008C95"/>
                </a:solidFill>
                <a:latin typeface="Aptos" pitchFamily="34" charset="0"/>
                <a:ea typeface="Aptos" pitchFamily="34" charset="-122"/>
                <a:cs typeface="Aptos" pitchFamily="34" charset="-120"/>
              </a:rPr>
              <a:t>→</a:t>
            </a:r>
            <a:endParaRPr lang="en-US" sz="1800" dirty="0"/>
          </a:p>
        </p:txBody>
      </p:sp>
      <p:sp>
        <p:nvSpPr>
          <p:cNvPr id="17" name="Shape 15"/>
          <p:cNvSpPr/>
          <p:nvPr/>
        </p:nvSpPr>
        <p:spPr>
          <a:xfrm>
            <a:off x="9454896" y="2377440"/>
            <a:ext cx="1417320" cy="1005840"/>
          </a:xfrm>
          <a:prstGeom prst="roundRect">
            <a:avLst>
              <a:gd name="adj" fmla="val 10909"/>
            </a:avLst>
          </a:prstGeom>
          <a:solidFill>
            <a:srgbClr val="FFFFFF"/>
          </a:solidFill>
          <a:ln w="15240">
            <a:solidFill>
              <a:srgbClr val="BDD0D8"/>
            </a:solidFill>
            <a:prstDash val="solid"/>
          </a:ln>
        </p:spPr>
      </p:sp>
      <p:sp>
        <p:nvSpPr>
          <p:cNvPr id="18" name="Text 16"/>
          <p:cNvSpPr/>
          <p:nvPr/>
        </p:nvSpPr>
        <p:spPr>
          <a:xfrm>
            <a:off x="9564624" y="2542032"/>
            <a:ext cx="1197864" cy="640080"/>
          </a:xfrm>
          <a:prstGeom prst="rect">
            <a:avLst/>
          </a:prstGeom>
          <a:noFill/>
          <a:ln/>
        </p:spPr>
        <p:txBody>
          <a:bodyPr wrap="square" lIns="0" tIns="0" rIns="0" bIns="0" rtlCol="0" anchor="ctr">
            <a:normAutofit/>
          </a:bodyPr>
          <a:lstStyle/>
          <a:p>
            <a:pPr algn="ctr" indent="0" marL="0">
              <a:buNone/>
            </a:pPr>
            <a:r>
              <a:rPr lang="en-US" sz="1500" b="1" dirty="0">
                <a:solidFill>
                  <a:srgbClr val="263442"/>
                </a:solidFill>
                <a:latin typeface="Aptos" pitchFamily="34" charset="0"/>
                <a:ea typeface="Aptos" pitchFamily="34" charset="-122"/>
                <a:cs typeface="Aptos" pitchFamily="34" charset="-120"/>
              </a:rPr>
              <a:t>Cost</a:t>
            </a:r>
            <a:endParaRPr lang="en-US" sz="1500" dirty="0"/>
          </a:p>
        </p:txBody>
      </p:sp>
      <p:sp>
        <p:nvSpPr>
          <p:cNvPr id="19" name="Text 17"/>
          <p:cNvSpPr/>
          <p:nvPr/>
        </p:nvSpPr>
        <p:spPr>
          <a:xfrm>
            <a:off x="6172200" y="3913632"/>
            <a:ext cx="4892040" cy="457200"/>
          </a:xfrm>
          <a:prstGeom prst="rect">
            <a:avLst/>
          </a:prstGeom>
          <a:noFill/>
          <a:ln/>
        </p:spPr>
        <p:txBody>
          <a:bodyPr wrap="square" lIns="0" tIns="0" rIns="0" bIns="0" rtlCol="0" anchor="ctr">
            <a:normAutofit/>
          </a:bodyPr>
          <a:lstStyle/>
          <a:p>
            <a:pPr algn="ctr" indent="0" marL="0">
              <a:buNone/>
            </a:pPr>
            <a:r>
              <a:rPr lang="en-US" sz="1800" b="1" dirty="0">
                <a:solidFill>
                  <a:srgbClr val="008C95"/>
                </a:solidFill>
                <a:latin typeface="Aptos" pitchFamily="34" charset="0"/>
                <a:ea typeface="Aptos" pitchFamily="34" charset="-122"/>
                <a:cs typeface="Aptos" pitchFamily="34" charset="-120"/>
              </a:rPr>
              <a:t>Membership check</a:t>
            </a:r>
            <a:endParaRPr lang="en-US" sz="1800" dirty="0"/>
          </a:p>
        </p:txBody>
      </p:sp>
      <p:sp>
        <p:nvSpPr>
          <p:cNvPr id="20" name="Shape 18"/>
          <p:cNvSpPr/>
          <p:nvPr/>
        </p:nvSpPr>
        <p:spPr>
          <a:xfrm>
            <a:off x="667512" y="6208776"/>
            <a:ext cx="10844784" cy="0"/>
          </a:xfrm>
          <a:prstGeom prst="line">
            <a:avLst/>
          </a:prstGeom>
          <a:noFill/>
          <a:ln w="10160">
            <a:solidFill>
              <a:srgbClr val="BDD0D8"/>
            </a:solidFill>
            <a:prstDash val="solid"/>
          </a:ln>
        </p:spPr>
      </p:sp>
      <p:sp>
        <p:nvSpPr>
          <p:cNvPr id="21" name="Text 19"/>
          <p:cNvSpPr/>
          <p:nvPr/>
        </p:nvSpPr>
        <p:spPr>
          <a:xfrm>
            <a:off x="667512" y="6355080"/>
            <a:ext cx="1828800" cy="228600"/>
          </a:xfrm>
          <a:prstGeom prst="rect">
            <a:avLst/>
          </a:prstGeom>
          <a:noFill/>
          <a:ln/>
        </p:spPr>
        <p:txBody>
          <a:bodyPr wrap="square" lIns="0" tIns="0" rIns="0" bIns="0" rtlCol="0" anchor="ctr">
            <a:normAutofit/>
          </a:bodyPr>
          <a:lstStyle/>
          <a:p>
            <a:pPr algn="l" indent="0" marL="0">
              <a:buNone/>
            </a:pPr>
            <a:r>
              <a:rPr lang="en-US" sz="1000" dirty="0">
                <a:solidFill>
                  <a:srgbClr val="607483"/>
                </a:solidFill>
                <a:latin typeface="Aptos" pitchFamily="34" charset="0"/>
                <a:ea typeface="Aptos" pitchFamily="34" charset="-122"/>
                <a:cs typeface="Aptos" pitchFamily="34" charset="-120"/>
              </a:rPr>
              <a:t>M12 · S01</a:t>
            </a:r>
            <a:endParaRPr lang="en-US" sz="1000" dirty="0"/>
          </a:p>
        </p:txBody>
      </p:sp>
      <p:sp>
        <p:nvSpPr>
          <p:cNvPr id="22" name="Text 20"/>
          <p:cNvSpPr/>
          <p:nvPr/>
        </p:nvSpPr>
        <p:spPr>
          <a:xfrm>
            <a:off x="10607040" y="6355080"/>
            <a:ext cx="914400" cy="228600"/>
          </a:xfrm>
          <a:prstGeom prst="rect">
            <a:avLst/>
          </a:prstGeom>
          <a:noFill/>
          <a:ln/>
        </p:spPr>
        <p:txBody>
          <a:bodyPr wrap="square" lIns="0" tIns="0" rIns="0" bIns="0" rtlCol="0" anchor="ctr">
            <a:normAutofit/>
          </a:bodyPr>
          <a:lstStyle/>
          <a:p>
            <a:pPr algn="r" indent="0" marL="0">
              <a:buNone/>
            </a:pPr>
            <a:r>
              <a:rPr lang="en-US" sz="1000" dirty="0">
                <a:solidFill>
                  <a:srgbClr val="607483"/>
                </a:solidFill>
                <a:latin typeface="Aptos" pitchFamily="34" charset="0"/>
                <a:ea typeface="Aptos" pitchFamily="34" charset="-122"/>
                <a:cs typeface="Aptos" pitchFamily="34" charset="-120"/>
              </a:rPr>
              <a:t>01 / 16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08C95"/>
          </a:solidFill>
          <a:ln w="12700">
            <a:solidFill>
              <a:srgbClr val="008C95"/>
            </a:solidFill>
            <a:prstDash val="solid"/>
          </a:ln>
        </p:spPr>
      </p:sp>
      <p:sp>
        <p:nvSpPr>
          <p:cNvPr id="3" name="Text 1"/>
          <p:cNvSpPr/>
          <p:nvPr/>
        </p:nvSpPr>
        <p:spPr>
          <a:xfrm>
            <a:off x="640080" y="384048"/>
            <a:ext cx="10881360" cy="566928"/>
          </a:xfrm>
          <a:prstGeom prst="rect">
            <a:avLst/>
          </a:prstGeom>
          <a:noFill/>
          <a:ln/>
        </p:spPr>
        <p:txBody>
          <a:bodyPr wrap="square" lIns="0" tIns="0" rIns="0" bIns="0" rtlCol="0" anchor="ctr">
            <a:normAutofit/>
          </a:bodyPr>
          <a:lstStyle/>
          <a:p>
            <a:pPr algn="l" indent="0" marL="0">
              <a:buNone/>
            </a:pPr>
            <a:r>
              <a:rPr lang="en-US" sz="3000" b="1" dirty="0">
                <a:solidFill>
                  <a:srgbClr val="17324D"/>
                </a:solidFill>
                <a:latin typeface="Aptos" pitchFamily="34" charset="0"/>
                <a:ea typeface="Aptos" pitchFamily="34" charset="-122"/>
                <a:cs typeface="Aptos" pitchFamily="34" charset="-120"/>
              </a:rPr>
              <a:t>Membership prediction</a:t>
            </a:r>
            <a:endParaRPr lang="en-US" sz="3000" dirty="0"/>
          </a:p>
        </p:txBody>
      </p:sp>
      <p:sp>
        <p:nvSpPr>
          <p:cNvPr id="4" name="Text 2"/>
          <p:cNvSpPr/>
          <p:nvPr/>
        </p:nvSpPr>
        <p:spPr>
          <a:xfrm>
            <a:off x="676656" y="1024128"/>
            <a:ext cx="9875520" cy="265176"/>
          </a:xfrm>
          <a:prstGeom prst="rect">
            <a:avLst/>
          </a:prstGeom>
          <a:noFill/>
          <a:ln/>
        </p:spPr>
        <p:txBody>
          <a:bodyPr wrap="square" lIns="0" tIns="0" rIns="0" bIns="0" rtlCol="0" anchor="ctr">
            <a:normAutofit/>
          </a:bodyPr>
          <a:lstStyle/>
          <a:p>
            <a:pPr algn="l" indent="0" marL="0">
              <a:buNone/>
            </a:pPr>
            <a:r>
              <a:rPr lang="en-US" sz="1200" b="1" dirty="0">
                <a:solidFill>
                  <a:srgbClr val="008C95"/>
                </a:solidFill>
                <a:latin typeface="Aptos" pitchFamily="34" charset="0"/>
                <a:ea typeface="Aptos" pitchFamily="34" charset="-122"/>
                <a:cs typeface="Aptos" pitchFamily="34" charset="-120"/>
              </a:rPr>
              <a:t>C2, C6.</a:t>
            </a:r>
            <a:endParaRPr lang="en-US" sz="1200" dirty="0"/>
          </a:p>
        </p:txBody>
      </p:sp>
      <p:sp>
        <p:nvSpPr>
          <p:cNvPr id="5" name="Shape 3"/>
          <p:cNvSpPr/>
          <p:nvPr/>
        </p:nvSpPr>
        <p:spPr>
          <a:xfrm>
            <a:off x="676656" y="1600200"/>
            <a:ext cx="4892040" cy="914400"/>
          </a:xfrm>
          <a:prstGeom prst="roundRect">
            <a:avLst>
              <a:gd name="adj" fmla="val 12000"/>
            </a:avLst>
          </a:prstGeom>
          <a:solidFill>
            <a:srgbClr val="FFFFFF"/>
          </a:solidFill>
          <a:ln w="15240">
            <a:solidFill>
              <a:srgbClr val="BDD0D8"/>
            </a:solidFill>
            <a:prstDash val="solid"/>
          </a:ln>
        </p:spPr>
      </p:sp>
      <p:sp>
        <p:nvSpPr>
          <p:cNvPr id="6" name="Text 4"/>
          <p:cNvSpPr/>
          <p:nvPr/>
        </p:nvSpPr>
        <p:spPr>
          <a:xfrm>
            <a:off x="905256" y="1737360"/>
            <a:ext cx="4434840" cy="621792"/>
          </a:xfrm>
          <a:prstGeom prst="rect">
            <a:avLst/>
          </a:prstGeom>
          <a:noFill/>
          <a:ln/>
        </p:spPr>
        <p:txBody>
          <a:bodyPr wrap="square" lIns="0" tIns="0" rIns="0" bIns="0" rtlCol="0" anchor="ctr">
            <a:normAutofit/>
          </a:bodyPr>
          <a:lstStyle/>
          <a:p>
            <a:pPr algn="l" indent="0" marL="0">
              <a:buNone/>
            </a:pPr>
            <a:r>
              <a:rPr lang="en-US" sz="2000" dirty="0">
                <a:solidFill>
                  <a:srgbClr val="263442"/>
                </a:solidFill>
                <a:latin typeface="Aptos" pitchFamily="34" charset="0"/>
                <a:ea typeface="Aptos" pitchFamily="34" charset="-122"/>
                <a:cs typeface="Aptos" pitchFamily="34" charset="-120"/>
              </a:rPr>
              <a:t>One query over 30 unsorted values</a:t>
            </a:r>
            <a:endParaRPr lang="en-US" sz="2000" dirty="0"/>
          </a:p>
        </p:txBody>
      </p:sp>
      <p:sp>
        <p:nvSpPr>
          <p:cNvPr id="7" name="Shape 5"/>
          <p:cNvSpPr/>
          <p:nvPr/>
        </p:nvSpPr>
        <p:spPr>
          <a:xfrm>
            <a:off x="676656" y="2743200"/>
            <a:ext cx="4892040" cy="914400"/>
          </a:xfrm>
          <a:prstGeom prst="roundRect">
            <a:avLst>
              <a:gd name="adj" fmla="val 12000"/>
            </a:avLst>
          </a:prstGeom>
          <a:solidFill>
            <a:srgbClr val="E8F3F3"/>
          </a:solidFill>
          <a:ln w="15240">
            <a:solidFill>
              <a:srgbClr val="008C95"/>
            </a:solidFill>
            <a:prstDash val="solid"/>
          </a:ln>
        </p:spPr>
      </p:sp>
      <p:sp>
        <p:nvSpPr>
          <p:cNvPr id="8" name="Text 6"/>
          <p:cNvSpPr/>
          <p:nvPr/>
        </p:nvSpPr>
        <p:spPr>
          <a:xfrm>
            <a:off x="905256" y="2880360"/>
            <a:ext cx="4434840" cy="621792"/>
          </a:xfrm>
          <a:prstGeom prst="rect">
            <a:avLst/>
          </a:prstGeom>
          <a:noFill/>
          <a:ln/>
        </p:spPr>
        <p:txBody>
          <a:bodyPr wrap="square" lIns="0" tIns="0" rIns="0" bIns="0" rtlCol="0" anchor="ctr">
            <a:normAutofit/>
          </a:bodyPr>
          <a:lstStyle/>
          <a:p>
            <a:pPr algn="l" indent="0" marL="0">
              <a:buNone/>
            </a:pPr>
            <a:r>
              <a:rPr lang="en-US" sz="2000" b="1" dirty="0">
                <a:solidFill>
                  <a:srgbClr val="263442"/>
                </a:solidFill>
                <a:latin typeface="Aptos" pitchFamily="34" charset="0"/>
                <a:ea typeface="Aptos" pitchFamily="34" charset="-122"/>
                <a:cs typeface="Aptos" pitchFamily="34" charset="-120"/>
              </a:rPr>
              <a:t>Many queries over the same values</a:t>
            </a:r>
            <a:endParaRPr lang="en-US" sz="2000" dirty="0"/>
          </a:p>
        </p:txBody>
      </p:sp>
      <p:sp>
        <p:nvSpPr>
          <p:cNvPr id="9" name="Shape 7"/>
          <p:cNvSpPr/>
          <p:nvPr/>
        </p:nvSpPr>
        <p:spPr>
          <a:xfrm>
            <a:off x="676656" y="3886200"/>
            <a:ext cx="4892040" cy="914400"/>
          </a:xfrm>
          <a:prstGeom prst="roundRect">
            <a:avLst>
              <a:gd name="adj" fmla="val 12000"/>
            </a:avLst>
          </a:prstGeom>
          <a:solidFill>
            <a:srgbClr val="FFFFFF"/>
          </a:solidFill>
          <a:ln w="15240">
            <a:solidFill>
              <a:srgbClr val="BDD0D8"/>
            </a:solidFill>
            <a:prstDash val="solid"/>
          </a:ln>
        </p:spPr>
      </p:sp>
      <p:sp>
        <p:nvSpPr>
          <p:cNvPr id="10" name="Text 8"/>
          <p:cNvSpPr/>
          <p:nvPr/>
        </p:nvSpPr>
        <p:spPr>
          <a:xfrm>
            <a:off x="905256" y="4023360"/>
            <a:ext cx="4434840" cy="621792"/>
          </a:xfrm>
          <a:prstGeom prst="rect">
            <a:avLst/>
          </a:prstGeom>
          <a:noFill/>
          <a:ln/>
        </p:spPr>
        <p:txBody>
          <a:bodyPr wrap="square" lIns="0" tIns="0" rIns="0" bIns="0" rtlCol="0" anchor="ctr">
            <a:normAutofit/>
          </a:bodyPr>
          <a:lstStyle/>
          <a:p>
            <a:pPr algn="l" indent="0" marL="0">
              <a:buNone/>
            </a:pPr>
            <a:r>
              <a:rPr lang="en-US" sz="2000" dirty="0">
                <a:solidFill>
                  <a:srgbClr val="263442"/>
                </a:solidFill>
                <a:latin typeface="Aptos" pitchFamily="34" charset="0"/>
                <a:ea typeface="Aptos" pitchFamily="34" charset="-122"/>
                <a:cs typeface="Aptos" pitchFamily="34" charset="-120"/>
              </a:rPr>
              <a:t>What changes if values are updated?</a:t>
            </a:r>
            <a:endParaRPr lang="en-US" sz="2000" dirty="0"/>
          </a:p>
        </p:txBody>
      </p:sp>
      <p:sp>
        <p:nvSpPr>
          <p:cNvPr id="11" name="Shape 9"/>
          <p:cNvSpPr/>
          <p:nvPr/>
        </p:nvSpPr>
        <p:spPr>
          <a:xfrm>
            <a:off x="6172200" y="2103120"/>
            <a:ext cx="434340" cy="658368"/>
          </a:xfrm>
          <a:prstGeom prst="rect">
            <a:avLst/>
          </a:prstGeom>
          <a:solidFill>
            <a:srgbClr val="FFFFFF"/>
          </a:solidFill>
          <a:ln w="15240">
            <a:solidFill>
              <a:srgbClr val="BDD0D8"/>
            </a:solidFill>
            <a:prstDash val="solid"/>
          </a:ln>
        </p:spPr>
      </p:sp>
      <p:sp>
        <p:nvSpPr>
          <p:cNvPr id="12" name="Text 10"/>
          <p:cNvSpPr/>
          <p:nvPr/>
        </p:nvSpPr>
        <p:spPr>
          <a:xfrm>
            <a:off x="6172200" y="2203704"/>
            <a:ext cx="434340" cy="320040"/>
          </a:xfrm>
          <a:prstGeom prst="rect">
            <a:avLst/>
          </a:prstGeom>
          <a:noFill/>
          <a:ln/>
        </p:spPr>
        <p:txBody>
          <a:bodyPr wrap="square" lIns="0" tIns="0" rIns="0" bIns="0" rtlCol="0" anchor="ctr">
            <a:normAutofit/>
          </a:bodyPr>
          <a:lstStyle/>
          <a:p>
            <a:pPr algn="ctr" indent="0" marL="0">
              <a:buNone/>
            </a:pPr>
            <a:r>
              <a:rPr lang="en-US" sz="2000" dirty="0">
                <a:solidFill>
                  <a:srgbClr val="263442"/>
                </a:solidFill>
                <a:latin typeface="Aptos" pitchFamily="34" charset="0"/>
                <a:ea typeface="Aptos" pitchFamily="34" charset="-122"/>
                <a:cs typeface="Aptos" pitchFamily="34" charset="-120"/>
              </a:rPr>
              <a:t>1</a:t>
            </a:r>
            <a:endParaRPr lang="en-US" sz="2000" dirty="0"/>
          </a:p>
        </p:txBody>
      </p:sp>
      <p:sp>
        <p:nvSpPr>
          <p:cNvPr id="13" name="Text 11"/>
          <p:cNvSpPr/>
          <p:nvPr/>
        </p:nvSpPr>
        <p:spPr>
          <a:xfrm>
            <a:off x="6172200" y="2560320"/>
            <a:ext cx="434340" cy="155448"/>
          </a:xfrm>
          <a:prstGeom prst="rect">
            <a:avLst/>
          </a:prstGeom>
          <a:noFill/>
          <a:ln/>
        </p:spPr>
        <p:txBody>
          <a:bodyPr wrap="square" lIns="0" tIns="0" rIns="0" bIns="0" rtlCol="0" anchor="ctr">
            <a:normAutofit/>
          </a:bodyPr>
          <a:lstStyle/>
          <a:p>
            <a:pPr algn="ctr" indent="0" marL="0">
              <a:buNone/>
            </a:pPr>
            <a:r>
              <a:rPr lang="en-US" sz="1100" dirty="0">
                <a:solidFill>
                  <a:srgbClr val="607483"/>
                </a:solidFill>
                <a:latin typeface="Aptos" pitchFamily="34" charset="0"/>
                <a:ea typeface="Aptos" pitchFamily="34" charset="-122"/>
                <a:cs typeface="Aptos" pitchFamily="34" charset="-120"/>
              </a:rPr>
              <a:t>0</a:t>
            </a:r>
            <a:endParaRPr lang="en-US" sz="1100" dirty="0"/>
          </a:p>
        </p:txBody>
      </p:sp>
      <p:sp>
        <p:nvSpPr>
          <p:cNvPr id="14" name="Shape 12"/>
          <p:cNvSpPr/>
          <p:nvPr/>
        </p:nvSpPr>
        <p:spPr>
          <a:xfrm>
            <a:off x="6652260" y="2103120"/>
            <a:ext cx="434340" cy="658368"/>
          </a:xfrm>
          <a:prstGeom prst="rect">
            <a:avLst/>
          </a:prstGeom>
          <a:solidFill>
            <a:srgbClr val="FFFFFF"/>
          </a:solidFill>
          <a:ln w="15240">
            <a:solidFill>
              <a:srgbClr val="BDD0D8"/>
            </a:solidFill>
            <a:prstDash val="solid"/>
          </a:ln>
        </p:spPr>
      </p:sp>
      <p:sp>
        <p:nvSpPr>
          <p:cNvPr id="15" name="Text 13"/>
          <p:cNvSpPr/>
          <p:nvPr/>
        </p:nvSpPr>
        <p:spPr>
          <a:xfrm>
            <a:off x="6652260" y="2203704"/>
            <a:ext cx="434340" cy="320040"/>
          </a:xfrm>
          <a:prstGeom prst="rect">
            <a:avLst/>
          </a:prstGeom>
          <a:noFill/>
          <a:ln/>
        </p:spPr>
        <p:txBody>
          <a:bodyPr wrap="square" lIns="0" tIns="0" rIns="0" bIns="0" rtlCol="0" anchor="ctr">
            <a:normAutofit/>
          </a:bodyPr>
          <a:lstStyle/>
          <a:p>
            <a:pPr algn="ctr" indent="0" marL="0">
              <a:buNone/>
            </a:pPr>
            <a:r>
              <a:rPr lang="en-US" sz="2000" dirty="0">
                <a:solidFill>
                  <a:srgbClr val="263442"/>
                </a:solidFill>
                <a:latin typeface="Aptos" pitchFamily="34" charset="0"/>
                <a:ea typeface="Aptos" pitchFamily="34" charset="-122"/>
                <a:cs typeface="Aptos" pitchFamily="34" charset="-120"/>
              </a:rPr>
              <a:t>2</a:t>
            </a:r>
            <a:endParaRPr lang="en-US" sz="2000" dirty="0"/>
          </a:p>
        </p:txBody>
      </p:sp>
      <p:sp>
        <p:nvSpPr>
          <p:cNvPr id="16" name="Text 14"/>
          <p:cNvSpPr/>
          <p:nvPr/>
        </p:nvSpPr>
        <p:spPr>
          <a:xfrm>
            <a:off x="6652260" y="2560320"/>
            <a:ext cx="434340" cy="155448"/>
          </a:xfrm>
          <a:prstGeom prst="rect">
            <a:avLst/>
          </a:prstGeom>
          <a:noFill/>
          <a:ln/>
        </p:spPr>
        <p:txBody>
          <a:bodyPr wrap="square" lIns="0" tIns="0" rIns="0" bIns="0" rtlCol="0" anchor="ctr">
            <a:normAutofit/>
          </a:bodyPr>
          <a:lstStyle/>
          <a:p>
            <a:pPr algn="ctr" indent="0" marL="0">
              <a:buNone/>
            </a:pPr>
            <a:r>
              <a:rPr lang="en-US" sz="1100" dirty="0">
                <a:solidFill>
                  <a:srgbClr val="607483"/>
                </a:solidFill>
                <a:latin typeface="Aptos" pitchFamily="34" charset="0"/>
                <a:ea typeface="Aptos" pitchFamily="34" charset="-122"/>
                <a:cs typeface="Aptos" pitchFamily="34" charset="-120"/>
              </a:rPr>
              <a:t>1</a:t>
            </a:r>
            <a:endParaRPr lang="en-US" sz="1100" dirty="0"/>
          </a:p>
        </p:txBody>
      </p:sp>
      <p:sp>
        <p:nvSpPr>
          <p:cNvPr id="17" name="Shape 15"/>
          <p:cNvSpPr/>
          <p:nvPr/>
        </p:nvSpPr>
        <p:spPr>
          <a:xfrm>
            <a:off x="7132320" y="2103120"/>
            <a:ext cx="434340" cy="658368"/>
          </a:xfrm>
          <a:prstGeom prst="rect">
            <a:avLst/>
          </a:prstGeom>
          <a:solidFill>
            <a:srgbClr val="FFFFFF"/>
          </a:solidFill>
          <a:ln w="15240">
            <a:solidFill>
              <a:srgbClr val="BDD0D8"/>
            </a:solidFill>
            <a:prstDash val="solid"/>
          </a:ln>
        </p:spPr>
      </p:sp>
      <p:sp>
        <p:nvSpPr>
          <p:cNvPr id="18" name="Text 16"/>
          <p:cNvSpPr/>
          <p:nvPr/>
        </p:nvSpPr>
        <p:spPr>
          <a:xfrm>
            <a:off x="7132320" y="2203704"/>
            <a:ext cx="434340" cy="320040"/>
          </a:xfrm>
          <a:prstGeom prst="rect">
            <a:avLst/>
          </a:prstGeom>
          <a:noFill/>
          <a:ln/>
        </p:spPr>
        <p:txBody>
          <a:bodyPr wrap="square" lIns="0" tIns="0" rIns="0" bIns="0" rtlCol="0" anchor="ctr">
            <a:normAutofit/>
          </a:bodyPr>
          <a:lstStyle/>
          <a:p>
            <a:pPr algn="ctr" indent="0" marL="0">
              <a:buNone/>
            </a:pPr>
            <a:r>
              <a:rPr lang="en-US" sz="2000" dirty="0">
                <a:solidFill>
                  <a:srgbClr val="263442"/>
                </a:solidFill>
                <a:latin typeface="Aptos" pitchFamily="34" charset="0"/>
                <a:ea typeface="Aptos" pitchFamily="34" charset="-122"/>
                <a:cs typeface="Aptos" pitchFamily="34" charset="-120"/>
              </a:rPr>
              <a:t>3</a:t>
            </a:r>
            <a:endParaRPr lang="en-US" sz="2000" dirty="0"/>
          </a:p>
        </p:txBody>
      </p:sp>
      <p:sp>
        <p:nvSpPr>
          <p:cNvPr id="19" name="Text 17"/>
          <p:cNvSpPr/>
          <p:nvPr/>
        </p:nvSpPr>
        <p:spPr>
          <a:xfrm>
            <a:off x="7132320" y="2560320"/>
            <a:ext cx="434340" cy="155448"/>
          </a:xfrm>
          <a:prstGeom prst="rect">
            <a:avLst/>
          </a:prstGeom>
          <a:noFill/>
          <a:ln/>
        </p:spPr>
        <p:txBody>
          <a:bodyPr wrap="square" lIns="0" tIns="0" rIns="0" bIns="0" rtlCol="0" anchor="ctr">
            <a:normAutofit/>
          </a:bodyPr>
          <a:lstStyle/>
          <a:p>
            <a:pPr algn="ctr" indent="0" marL="0">
              <a:buNone/>
            </a:pPr>
            <a:r>
              <a:rPr lang="en-US" sz="1100" dirty="0">
                <a:solidFill>
                  <a:srgbClr val="607483"/>
                </a:solidFill>
                <a:latin typeface="Aptos" pitchFamily="34" charset="0"/>
                <a:ea typeface="Aptos" pitchFamily="34" charset="-122"/>
                <a:cs typeface="Aptos" pitchFamily="34" charset="-120"/>
              </a:rPr>
              <a:t>2</a:t>
            </a:r>
            <a:endParaRPr lang="en-US" sz="1100" dirty="0"/>
          </a:p>
        </p:txBody>
      </p:sp>
      <p:sp>
        <p:nvSpPr>
          <p:cNvPr id="20" name="Shape 18"/>
          <p:cNvSpPr/>
          <p:nvPr/>
        </p:nvSpPr>
        <p:spPr>
          <a:xfrm>
            <a:off x="7612380" y="2103120"/>
            <a:ext cx="434340" cy="658368"/>
          </a:xfrm>
          <a:prstGeom prst="rect">
            <a:avLst/>
          </a:prstGeom>
          <a:solidFill>
            <a:srgbClr val="FFFFFF"/>
          </a:solidFill>
          <a:ln w="15240">
            <a:solidFill>
              <a:srgbClr val="BDD0D8"/>
            </a:solidFill>
            <a:prstDash val="solid"/>
          </a:ln>
        </p:spPr>
      </p:sp>
      <p:sp>
        <p:nvSpPr>
          <p:cNvPr id="21" name="Text 19"/>
          <p:cNvSpPr/>
          <p:nvPr/>
        </p:nvSpPr>
        <p:spPr>
          <a:xfrm>
            <a:off x="7612380" y="2203704"/>
            <a:ext cx="434340" cy="320040"/>
          </a:xfrm>
          <a:prstGeom prst="rect">
            <a:avLst/>
          </a:prstGeom>
          <a:noFill/>
          <a:ln/>
        </p:spPr>
        <p:txBody>
          <a:bodyPr wrap="square" lIns="0" tIns="0" rIns="0" bIns="0" rtlCol="0" anchor="ctr">
            <a:normAutofit/>
          </a:bodyPr>
          <a:lstStyle/>
          <a:p>
            <a:pPr algn="ctr" indent="0" marL="0">
              <a:buNone/>
            </a:pPr>
            <a:r>
              <a:rPr lang="en-US" sz="2000" dirty="0">
                <a:solidFill>
                  <a:srgbClr val="263442"/>
                </a:solidFill>
                <a:latin typeface="Aptos" pitchFamily="34" charset="0"/>
                <a:ea typeface="Aptos" pitchFamily="34" charset="-122"/>
                <a:cs typeface="Aptos" pitchFamily="34" charset="-120"/>
              </a:rPr>
              <a:t>4</a:t>
            </a:r>
            <a:endParaRPr lang="en-US" sz="2000" dirty="0"/>
          </a:p>
        </p:txBody>
      </p:sp>
      <p:sp>
        <p:nvSpPr>
          <p:cNvPr id="22" name="Text 20"/>
          <p:cNvSpPr/>
          <p:nvPr/>
        </p:nvSpPr>
        <p:spPr>
          <a:xfrm>
            <a:off x="7612380" y="2560320"/>
            <a:ext cx="434340" cy="155448"/>
          </a:xfrm>
          <a:prstGeom prst="rect">
            <a:avLst/>
          </a:prstGeom>
          <a:noFill/>
          <a:ln/>
        </p:spPr>
        <p:txBody>
          <a:bodyPr wrap="square" lIns="0" tIns="0" rIns="0" bIns="0" rtlCol="0" anchor="ctr">
            <a:normAutofit/>
          </a:bodyPr>
          <a:lstStyle/>
          <a:p>
            <a:pPr algn="ctr" indent="0" marL="0">
              <a:buNone/>
            </a:pPr>
            <a:r>
              <a:rPr lang="en-US" sz="1100" dirty="0">
                <a:solidFill>
                  <a:srgbClr val="607483"/>
                </a:solidFill>
                <a:latin typeface="Aptos" pitchFamily="34" charset="0"/>
                <a:ea typeface="Aptos" pitchFamily="34" charset="-122"/>
                <a:cs typeface="Aptos" pitchFamily="34" charset="-120"/>
              </a:rPr>
              <a:t>3</a:t>
            </a:r>
            <a:endParaRPr lang="en-US" sz="1100" dirty="0"/>
          </a:p>
        </p:txBody>
      </p:sp>
      <p:sp>
        <p:nvSpPr>
          <p:cNvPr id="23" name="Shape 21"/>
          <p:cNvSpPr/>
          <p:nvPr/>
        </p:nvSpPr>
        <p:spPr>
          <a:xfrm>
            <a:off x="8092440" y="2103120"/>
            <a:ext cx="434340" cy="658368"/>
          </a:xfrm>
          <a:prstGeom prst="rect">
            <a:avLst/>
          </a:prstGeom>
          <a:solidFill>
            <a:srgbClr val="FFFFFF"/>
          </a:solidFill>
          <a:ln w="15240">
            <a:solidFill>
              <a:srgbClr val="BDD0D8"/>
            </a:solidFill>
            <a:prstDash val="solid"/>
          </a:ln>
        </p:spPr>
      </p:sp>
      <p:sp>
        <p:nvSpPr>
          <p:cNvPr id="24" name="Text 22"/>
          <p:cNvSpPr/>
          <p:nvPr/>
        </p:nvSpPr>
        <p:spPr>
          <a:xfrm>
            <a:off x="8092440" y="2203704"/>
            <a:ext cx="434340" cy="320040"/>
          </a:xfrm>
          <a:prstGeom prst="rect">
            <a:avLst/>
          </a:prstGeom>
          <a:noFill/>
          <a:ln/>
        </p:spPr>
        <p:txBody>
          <a:bodyPr wrap="square" lIns="0" tIns="0" rIns="0" bIns="0" rtlCol="0" anchor="ctr">
            <a:normAutofit/>
          </a:bodyPr>
          <a:lstStyle/>
          <a:p>
            <a:pPr algn="ctr" indent="0" marL="0">
              <a:buNone/>
            </a:pPr>
            <a:r>
              <a:rPr lang="en-US" sz="2000" dirty="0">
                <a:solidFill>
                  <a:srgbClr val="263442"/>
                </a:solidFill>
                <a:latin typeface="Aptos" pitchFamily="34" charset="0"/>
                <a:ea typeface="Aptos" pitchFamily="34" charset="-122"/>
                <a:cs typeface="Aptos" pitchFamily="34" charset="-120"/>
              </a:rPr>
              <a:t>5</a:t>
            </a:r>
            <a:endParaRPr lang="en-US" sz="2000" dirty="0"/>
          </a:p>
        </p:txBody>
      </p:sp>
      <p:sp>
        <p:nvSpPr>
          <p:cNvPr id="25" name="Text 23"/>
          <p:cNvSpPr/>
          <p:nvPr/>
        </p:nvSpPr>
        <p:spPr>
          <a:xfrm>
            <a:off x="8092440" y="2560320"/>
            <a:ext cx="434340" cy="155448"/>
          </a:xfrm>
          <a:prstGeom prst="rect">
            <a:avLst/>
          </a:prstGeom>
          <a:noFill/>
          <a:ln/>
        </p:spPr>
        <p:txBody>
          <a:bodyPr wrap="square" lIns="0" tIns="0" rIns="0" bIns="0" rtlCol="0" anchor="ctr">
            <a:normAutofit/>
          </a:bodyPr>
          <a:lstStyle/>
          <a:p>
            <a:pPr algn="ctr" indent="0" marL="0">
              <a:buNone/>
            </a:pPr>
            <a:r>
              <a:rPr lang="en-US" sz="1100" dirty="0">
                <a:solidFill>
                  <a:srgbClr val="607483"/>
                </a:solidFill>
                <a:latin typeface="Aptos" pitchFamily="34" charset="0"/>
                <a:ea typeface="Aptos" pitchFamily="34" charset="-122"/>
                <a:cs typeface="Aptos" pitchFamily="34" charset="-120"/>
              </a:rPr>
              <a:t>4</a:t>
            </a:r>
            <a:endParaRPr lang="en-US" sz="1100" dirty="0"/>
          </a:p>
        </p:txBody>
      </p:sp>
      <p:sp>
        <p:nvSpPr>
          <p:cNvPr id="26" name="Shape 24"/>
          <p:cNvSpPr/>
          <p:nvPr/>
        </p:nvSpPr>
        <p:spPr>
          <a:xfrm>
            <a:off x="8572500" y="2103120"/>
            <a:ext cx="434340" cy="658368"/>
          </a:xfrm>
          <a:prstGeom prst="rect">
            <a:avLst/>
          </a:prstGeom>
          <a:solidFill>
            <a:srgbClr val="FFFFFF"/>
          </a:solidFill>
          <a:ln w="15240">
            <a:solidFill>
              <a:srgbClr val="BDD0D8"/>
            </a:solidFill>
            <a:prstDash val="solid"/>
          </a:ln>
        </p:spPr>
      </p:sp>
      <p:sp>
        <p:nvSpPr>
          <p:cNvPr id="27" name="Text 25"/>
          <p:cNvSpPr/>
          <p:nvPr/>
        </p:nvSpPr>
        <p:spPr>
          <a:xfrm>
            <a:off x="8572500" y="2203704"/>
            <a:ext cx="434340" cy="320040"/>
          </a:xfrm>
          <a:prstGeom prst="rect">
            <a:avLst/>
          </a:prstGeom>
          <a:noFill/>
          <a:ln/>
        </p:spPr>
        <p:txBody>
          <a:bodyPr wrap="square" lIns="0" tIns="0" rIns="0" bIns="0" rtlCol="0" anchor="ctr">
            <a:normAutofit/>
          </a:bodyPr>
          <a:lstStyle/>
          <a:p>
            <a:pPr algn="ctr" indent="0" marL="0">
              <a:buNone/>
            </a:pPr>
            <a:r>
              <a:rPr lang="en-US" sz="2000" dirty="0">
                <a:solidFill>
                  <a:srgbClr val="263442"/>
                </a:solidFill>
                <a:latin typeface="Aptos" pitchFamily="34" charset="0"/>
                <a:ea typeface="Aptos" pitchFamily="34" charset="-122"/>
                <a:cs typeface="Aptos" pitchFamily="34" charset="-120"/>
              </a:rPr>
              <a:t>6</a:t>
            </a:r>
            <a:endParaRPr lang="en-US" sz="2000" dirty="0"/>
          </a:p>
        </p:txBody>
      </p:sp>
      <p:sp>
        <p:nvSpPr>
          <p:cNvPr id="28" name="Text 26"/>
          <p:cNvSpPr/>
          <p:nvPr/>
        </p:nvSpPr>
        <p:spPr>
          <a:xfrm>
            <a:off x="8572500" y="2560320"/>
            <a:ext cx="434340" cy="155448"/>
          </a:xfrm>
          <a:prstGeom prst="rect">
            <a:avLst/>
          </a:prstGeom>
          <a:noFill/>
          <a:ln/>
        </p:spPr>
        <p:txBody>
          <a:bodyPr wrap="square" lIns="0" tIns="0" rIns="0" bIns="0" rtlCol="0" anchor="ctr">
            <a:normAutofit/>
          </a:bodyPr>
          <a:lstStyle/>
          <a:p>
            <a:pPr algn="ctr" indent="0" marL="0">
              <a:buNone/>
            </a:pPr>
            <a:r>
              <a:rPr lang="en-US" sz="1100" dirty="0">
                <a:solidFill>
                  <a:srgbClr val="607483"/>
                </a:solidFill>
                <a:latin typeface="Aptos" pitchFamily="34" charset="0"/>
                <a:ea typeface="Aptos" pitchFamily="34" charset="-122"/>
                <a:cs typeface="Aptos" pitchFamily="34" charset="-120"/>
              </a:rPr>
              <a:t>5</a:t>
            </a:r>
            <a:endParaRPr lang="en-US" sz="1100" dirty="0"/>
          </a:p>
        </p:txBody>
      </p:sp>
      <p:sp>
        <p:nvSpPr>
          <p:cNvPr id="29" name="Shape 27"/>
          <p:cNvSpPr/>
          <p:nvPr/>
        </p:nvSpPr>
        <p:spPr>
          <a:xfrm>
            <a:off x="9052560" y="2103120"/>
            <a:ext cx="434340" cy="658368"/>
          </a:xfrm>
          <a:prstGeom prst="rect">
            <a:avLst/>
          </a:prstGeom>
          <a:solidFill>
            <a:srgbClr val="FFFFFF"/>
          </a:solidFill>
          <a:ln w="15240">
            <a:solidFill>
              <a:srgbClr val="BDD0D8"/>
            </a:solidFill>
            <a:prstDash val="solid"/>
          </a:ln>
        </p:spPr>
      </p:sp>
      <p:sp>
        <p:nvSpPr>
          <p:cNvPr id="30" name="Text 28"/>
          <p:cNvSpPr/>
          <p:nvPr/>
        </p:nvSpPr>
        <p:spPr>
          <a:xfrm>
            <a:off x="9052560" y="2203704"/>
            <a:ext cx="434340" cy="320040"/>
          </a:xfrm>
          <a:prstGeom prst="rect">
            <a:avLst/>
          </a:prstGeom>
          <a:noFill/>
          <a:ln/>
        </p:spPr>
        <p:txBody>
          <a:bodyPr wrap="square" lIns="0" tIns="0" rIns="0" bIns="0" rtlCol="0" anchor="ctr">
            <a:normAutofit/>
          </a:bodyPr>
          <a:lstStyle/>
          <a:p>
            <a:pPr algn="ctr" indent="0" marL="0">
              <a:buNone/>
            </a:pPr>
            <a:r>
              <a:rPr lang="en-US" sz="2000" dirty="0">
                <a:solidFill>
                  <a:srgbClr val="263442"/>
                </a:solidFill>
                <a:latin typeface="Aptos" pitchFamily="34" charset="0"/>
                <a:ea typeface="Aptos" pitchFamily="34" charset="-122"/>
                <a:cs typeface="Aptos" pitchFamily="34" charset="-120"/>
              </a:rPr>
              <a:t>7</a:t>
            </a:r>
            <a:endParaRPr lang="en-US" sz="2000" dirty="0"/>
          </a:p>
        </p:txBody>
      </p:sp>
      <p:sp>
        <p:nvSpPr>
          <p:cNvPr id="31" name="Text 29"/>
          <p:cNvSpPr/>
          <p:nvPr/>
        </p:nvSpPr>
        <p:spPr>
          <a:xfrm>
            <a:off x="9052560" y="2560320"/>
            <a:ext cx="434340" cy="155448"/>
          </a:xfrm>
          <a:prstGeom prst="rect">
            <a:avLst/>
          </a:prstGeom>
          <a:noFill/>
          <a:ln/>
        </p:spPr>
        <p:txBody>
          <a:bodyPr wrap="square" lIns="0" tIns="0" rIns="0" bIns="0" rtlCol="0" anchor="ctr">
            <a:normAutofit/>
          </a:bodyPr>
          <a:lstStyle/>
          <a:p>
            <a:pPr algn="ctr" indent="0" marL="0">
              <a:buNone/>
            </a:pPr>
            <a:r>
              <a:rPr lang="en-US" sz="1100" dirty="0">
                <a:solidFill>
                  <a:srgbClr val="607483"/>
                </a:solidFill>
                <a:latin typeface="Aptos" pitchFamily="34" charset="0"/>
                <a:ea typeface="Aptos" pitchFamily="34" charset="-122"/>
                <a:cs typeface="Aptos" pitchFamily="34" charset="-120"/>
              </a:rPr>
              <a:t>6</a:t>
            </a:r>
            <a:endParaRPr lang="en-US" sz="1100" dirty="0"/>
          </a:p>
        </p:txBody>
      </p:sp>
      <p:sp>
        <p:nvSpPr>
          <p:cNvPr id="32" name="Shape 30"/>
          <p:cNvSpPr/>
          <p:nvPr/>
        </p:nvSpPr>
        <p:spPr>
          <a:xfrm>
            <a:off x="9532620" y="2103120"/>
            <a:ext cx="434340" cy="658368"/>
          </a:xfrm>
          <a:prstGeom prst="rect">
            <a:avLst/>
          </a:prstGeom>
          <a:solidFill>
            <a:srgbClr val="FFFFFF"/>
          </a:solidFill>
          <a:ln w="15240">
            <a:solidFill>
              <a:srgbClr val="BDD0D8"/>
            </a:solidFill>
            <a:prstDash val="solid"/>
          </a:ln>
        </p:spPr>
      </p:sp>
      <p:sp>
        <p:nvSpPr>
          <p:cNvPr id="33" name="Text 31"/>
          <p:cNvSpPr/>
          <p:nvPr/>
        </p:nvSpPr>
        <p:spPr>
          <a:xfrm>
            <a:off x="9532620" y="2203704"/>
            <a:ext cx="434340" cy="320040"/>
          </a:xfrm>
          <a:prstGeom prst="rect">
            <a:avLst/>
          </a:prstGeom>
          <a:noFill/>
          <a:ln/>
        </p:spPr>
        <p:txBody>
          <a:bodyPr wrap="square" lIns="0" tIns="0" rIns="0" bIns="0" rtlCol="0" anchor="ctr">
            <a:normAutofit/>
          </a:bodyPr>
          <a:lstStyle/>
          <a:p>
            <a:pPr algn="ctr" indent="0" marL="0">
              <a:buNone/>
            </a:pPr>
            <a:r>
              <a:rPr lang="en-US" sz="2000" dirty="0">
                <a:solidFill>
                  <a:srgbClr val="263442"/>
                </a:solidFill>
                <a:latin typeface="Aptos" pitchFamily="34" charset="0"/>
                <a:ea typeface="Aptos" pitchFamily="34" charset="-122"/>
                <a:cs typeface="Aptos" pitchFamily="34" charset="-120"/>
              </a:rPr>
              <a:t>8</a:t>
            </a:r>
            <a:endParaRPr lang="en-US" sz="2000" dirty="0"/>
          </a:p>
        </p:txBody>
      </p:sp>
      <p:sp>
        <p:nvSpPr>
          <p:cNvPr id="34" name="Text 32"/>
          <p:cNvSpPr/>
          <p:nvPr/>
        </p:nvSpPr>
        <p:spPr>
          <a:xfrm>
            <a:off x="9532620" y="2560320"/>
            <a:ext cx="434340" cy="155448"/>
          </a:xfrm>
          <a:prstGeom prst="rect">
            <a:avLst/>
          </a:prstGeom>
          <a:noFill/>
          <a:ln/>
        </p:spPr>
        <p:txBody>
          <a:bodyPr wrap="square" lIns="0" tIns="0" rIns="0" bIns="0" rtlCol="0" anchor="ctr">
            <a:normAutofit/>
          </a:bodyPr>
          <a:lstStyle/>
          <a:p>
            <a:pPr algn="ctr" indent="0" marL="0">
              <a:buNone/>
            </a:pPr>
            <a:r>
              <a:rPr lang="en-US" sz="1100" dirty="0">
                <a:solidFill>
                  <a:srgbClr val="607483"/>
                </a:solidFill>
                <a:latin typeface="Aptos" pitchFamily="34" charset="0"/>
                <a:ea typeface="Aptos" pitchFamily="34" charset="-122"/>
                <a:cs typeface="Aptos" pitchFamily="34" charset="-120"/>
              </a:rPr>
              <a:t>7</a:t>
            </a:r>
            <a:endParaRPr lang="en-US" sz="1100" dirty="0"/>
          </a:p>
        </p:txBody>
      </p:sp>
      <p:sp>
        <p:nvSpPr>
          <p:cNvPr id="35" name="Shape 33"/>
          <p:cNvSpPr/>
          <p:nvPr/>
        </p:nvSpPr>
        <p:spPr>
          <a:xfrm>
            <a:off x="10012680" y="2103120"/>
            <a:ext cx="434340" cy="658368"/>
          </a:xfrm>
          <a:prstGeom prst="rect">
            <a:avLst/>
          </a:prstGeom>
          <a:solidFill>
            <a:srgbClr val="FFFFFF"/>
          </a:solidFill>
          <a:ln w="15240">
            <a:solidFill>
              <a:srgbClr val="BDD0D8"/>
            </a:solidFill>
            <a:prstDash val="solid"/>
          </a:ln>
        </p:spPr>
      </p:sp>
      <p:sp>
        <p:nvSpPr>
          <p:cNvPr id="36" name="Text 34"/>
          <p:cNvSpPr/>
          <p:nvPr/>
        </p:nvSpPr>
        <p:spPr>
          <a:xfrm>
            <a:off x="10012680" y="2203704"/>
            <a:ext cx="434340" cy="320040"/>
          </a:xfrm>
          <a:prstGeom prst="rect">
            <a:avLst/>
          </a:prstGeom>
          <a:noFill/>
          <a:ln/>
        </p:spPr>
        <p:txBody>
          <a:bodyPr wrap="square" lIns="0" tIns="0" rIns="0" bIns="0" rtlCol="0" anchor="ctr">
            <a:normAutofit/>
          </a:bodyPr>
          <a:lstStyle/>
          <a:p>
            <a:pPr algn="ctr" indent="0" marL="0">
              <a:buNone/>
            </a:pPr>
            <a:r>
              <a:rPr lang="en-US" sz="2000" dirty="0">
                <a:solidFill>
                  <a:srgbClr val="263442"/>
                </a:solidFill>
                <a:latin typeface="Aptos" pitchFamily="34" charset="0"/>
                <a:ea typeface="Aptos" pitchFamily="34" charset="-122"/>
                <a:cs typeface="Aptos" pitchFamily="34" charset="-120"/>
              </a:rPr>
              <a:t>9</a:t>
            </a:r>
            <a:endParaRPr lang="en-US" sz="2000" dirty="0"/>
          </a:p>
        </p:txBody>
      </p:sp>
      <p:sp>
        <p:nvSpPr>
          <p:cNvPr id="37" name="Text 35"/>
          <p:cNvSpPr/>
          <p:nvPr/>
        </p:nvSpPr>
        <p:spPr>
          <a:xfrm>
            <a:off x="10012680" y="2560320"/>
            <a:ext cx="434340" cy="155448"/>
          </a:xfrm>
          <a:prstGeom prst="rect">
            <a:avLst/>
          </a:prstGeom>
          <a:noFill/>
          <a:ln/>
        </p:spPr>
        <p:txBody>
          <a:bodyPr wrap="square" lIns="0" tIns="0" rIns="0" bIns="0" rtlCol="0" anchor="ctr">
            <a:normAutofit/>
          </a:bodyPr>
          <a:lstStyle/>
          <a:p>
            <a:pPr algn="ctr" indent="0" marL="0">
              <a:buNone/>
            </a:pPr>
            <a:r>
              <a:rPr lang="en-US" sz="1100" dirty="0">
                <a:solidFill>
                  <a:srgbClr val="607483"/>
                </a:solidFill>
                <a:latin typeface="Aptos" pitchFamily="34" charset="0"/>
                <a:ea typeface="Aptos" pitchFamily="34" charset="-122"/>
                <a:cs typeface="Aptos" pitchFamily="34" charset="-120"/>
              </a:rPr>
              <a:t>8</a:t>
            </a:r>
            <a:endParaRPr lang="en-US" sz="1100" dirty="0"/>
          </a:p>
        </p:txBody>
      </p:sp>
      <p:sp>
        <p:nvSpPr>
          <p:cNvPr id="38" name="Shape 36"/>
          <p:cNvSpPr/>
          <p:nvPr/>
        </p:nvSpPr>
        <p:spPr>
          <a:xfrm>
            <a:off x="10492740" y="2103120"/>
            <a:ext cx="434340" cy="658368"/>
          </a:xfrm>
          <a:prstGeom prst="rect">
            <a:avLst/>
          </a:prstGeom>
          <a:solidFill>
            <a:srgbClr val="FFFFFF"/>
          </a:solidFill>
          <a:ln w="15240">
            <a:solidFill>
              <a:srgbClr val="BDD0D8"/>
            </a:solidFill>
            <a:prstDash val="solid"/>
          </a:ln>
        </p:spPr>
      </p:sp>
      <p:sp>
        <p:nvSpPr>
          <p:cNvPr id="39" name="Text 37"/>
          <p:cNvSpPr/>
          <p:nvPr/>
        </p:nvSpPr>
        <p:spPr>
          <a:xfrm>
            <a:off x="10492740" y="2203704"/>
            <a:ext cx="434340" cy="320040"/>
          </a:xfrm>
          <a:prstGeom prst="rect">
            <a:avLst/>
          </a:prstGeom>
          <a:noFill/>
          <a:ln/>
        </p:spPr>
        <p:txBody>
          <a:bodyPr wrap="square" lIns="0" tIns="0" rIns="0" bIns="0" rtlCol="0" anchor="ctr">
            <a:normAutofit/>
          </a:bodyPr>
          <a:lstStyle/>
          <a:p>
            <a:pPr algn="ctr" indent="0" marL="0">
              <a:buNone/>
            </a:pPr>
            <a:r>
              <a:rPr lang="en-US" sz="2000" dirty="0">
                <a:solidFill>
                  <a:srgbClr val="263442"/>
                </a:solidFill>
                <a:latin typeface="Aptos" pitchFamily="34" charset="0"/>
                <a:ea typeface="Aptos" pitchFamily="34" charset="-122"/>
                <a:cs typeface="Aptos" pitchFamily="34" charset="-120"/>
              </a:rPr>
              <a:t>10</a:t>
            </a:r>
            <a:endParaRPr lang="en-US" sz="2000" dirty="0"/>
          </a:p>
        </p:txBody>
      </p:sp>
      <p:sp>
        <p:nvSpPr>
          <p:cNvPr id="40" name="Text 38"/>
          <p:cNvSpPr/>
          <p:nvPr/>
        </p:nvSpPr>
        <p:spPr>
          <a:xfrm>
            <a:off x="10492740" y="2560320"/>
            <a:ext cx="434340" cy="155448"/>
          </a:xfrm>
          <a:prstGeom prst="rect">
            <a:avLst/>
          </a:prstGeom>
          <a:noFill/>
          <a:ln/>
        </p:spPr>
        <p:txBody>
          <a:bodyPr wrap="square" lIns="0" tIns="0" rIns="0" bIns="0" rtlCol="0" anchor="ctr">
            <a:normAutofit/>
          </a:bodyPr>
          <a:lstStyle/>
          <a:p>
            <a:pPr algn="ctr" indent="0" marL="0">
              <a:buNone/>
            </a:pPr>
            <a:r>
              <a:rPr lang="en-US" sz="1100" dirty="0">
                <a:solidFill>
                  <a:srgbClr val="607483"/>
                </a:solidFill>
                <a:latin typeface="Aptos" pitchFamily="34" charset="0"/>
                <a:ea typeface="Aptos" pitchFamily="34" charset="-122"/>
                <a:cs typeface="Aptos" pitchFamily="34" charset="-120"/>
              </a:rPr>
              <a:t>9</a:t>
            </a:r>
            <a:endParaRPr lang="en-US" sz="1100" dirty="0"/>
          </a:p>
        </p:txBody>
      </p:sp>
      <p:sp>
        <p:nvSpPr>
          <p:cNvPr id="41" name="Text 39"/>
          <p:cNvSpPr/>
          <p:nvPr/>
        </p:nvSpPr>
        <p:spPr>
          <a:xfrm>
            <a:off x="6172200" y="2971800"/>
            <a:ext cx="4754880" cy="365760"/>
          </a:xfrm>
          <a:prstGeom prst="rect">
            <a:avLst/>
          </a:prstGeom>
          <a:noFill/>
          <a:ln/>
        </p:spPr>
        <p:txBody>
          <a:bodyPr wrap="square" lIns="0" tIns="0" rIns="0" bIns="0" rtlCol="0" anchor="ctr">
            <a:normAutofit/>
          </a:bodyPr>
          <a:lstStyle/>
          <a:p>
            <a:pPr algn="l" indent="0" marL="0">
              <a:buNone/>
            </a:pPr>
            <a:r>
              <a:rPr lang="en-US" sz="1600" dirty="0">
                <a:solidFill>
                  <a:srgbClr val="607483"/>
                </a:solidFill>
                <a:latin typeface="Aptos" pitchFamily="34" charset="0"/>
                <a:ea typeface="Aptos" pitchFamily="34" charset="-122"/>
                <a:cs typeface="Aptos" pitchFamily="34" charset="-120"/>
              </a:rPr>
              <a:t>× 3 rows of catalogue values</a:t>
            </a:r>
            <a:endParaRPr lang="en-US" sz="1600" dirty="0"/>
          </a:p>
        </p:txBody>
      </p:sp>
      <p:sp>
        <p:nvSpPr>
          <p:cNvPr id="42" name="Shape 40"/>
          <p:cNvSpPr/>
          <p:nvPr/>
        </p:nvSpPr>
        <p:spPr>
          <a:xfrm>
            <a:off x="6172200" y="3657600"/>
            <a:ext cx="2148840" cy="594360"/>
          </a:xfrm>
          <a:prstGeom prst="roundRect">
            <a:avLst>
              <a:gd name="adj" fmla="val 18462"/>
            </a:avLst>
          </a:prstGeom>
          <a:solidFill>
            <a:srgbClr val="E8F3F3"/>
          </a:solidFill>
          <a:ln w="15240">
            <a:solidFill>
              <a:srgbClr val="E8F3F3"/>
            </a:solidFill>
            <a:prstDash val="solid"/>
          </a:ln>
        </p:spPr>
      </p:sp>
      <p:sp>
        <p:nvSpPr>
          <p:cNvPr id="43" name="Text 41"/>
          <p:cNvSpPr/>
          <p:nvPr/>
        </p:nvSpPr>
        <p:spPr>
          <a:xfrm>
            <a:off x="6281928" y="3703320"/>
            <a:ext cx="1929384" cy="502920"/>
          </a:xfrm>
          <a:prstGeom prst="rect">
            <a:avLst/>
          </a:prstGeom>
          <a:noFill/>
          <a:ln/>
        </p:spPr>
        <p:txBody>
          <a:bodyPr wrap="square" lIns="0" tIns="0" rIns="0" bIns="0" rtlCol="0" anchor="ctr">
            <a:normAutofit/>
          </a:bodyPr>
          <a:lstStyle/>
          <a:p>
            <a:pPr algn="ctr" indent="0" marL="0">
              <a:buNone/>
            </a:pPr>
            <a:r>
              <a:rPr lang="en-US" sz="1500" b="1" dirty="0">
                <a:solidFill>
                  <a:srgbClr val="17324D"/>
                </a:solidFill>
                <a:latin typeface="Aptos" pitchFamily="34" charset="0"/>
                <a:ea typeface="Aptos" pitchFamily="34" charset="-122"/>
                <a:cs typeface="Aptos" pitchFamily="34" charset="-120"/>
              </a:rPr>
              <a:t>one query</a:t>
            </a:r>
            <a:endParaRPr lang="en-US" sz="1500" dirty="0"/>
          </a:p>
        </p:txBody>
      </p:sp>
      <p:sp>
        <p:nvSpPr>
          <p:cNvPr id="44" name="Shape 42"/>
          <p:cNvSpPr/>
          <p:nvPr/>
        </p:nvSpPr>
        <p:spPr>
          <a:xfrm>
            <a:off x="8595360" y="3657600"/>
            <a:ext cx="2148840" cy="594360"/>
          </a:xfrm>
          <a:prstGeom prst="roundRect">
            <a:avLst>
              <a:gd name="adj" fmla="val 18462"/>
            </a:avLst>
          </a:prstGeom>
          <a:solidFill>
            <a:srgbClr val="E8F3F3"/>
          </a:solidFill>
          <a:ln w="15240">
            <a:solidFill>
              <a:srgbClr val="E8F3F3"/>
            </a:solidFill>
            <a:prstDash val="solid"/>
          </a:ln>
        </p:spPr>
      </p:sp>
      <p:sp>
        <p:nvSpPr>
          <p:cNvPr id="45" name="Text 43"/>
          <p:cNvSpPr/>
          <p:nvPr/>
        </p:nvSpPr>
        <p:spPr>
          <a:xfrm>
            <a:off x="8705088" y="3703320"/>
            <a:ext cx="1929384" cy="502920"/>
          </a:xfrm>
          <a:prstGeom prst="rect">
            <a:avLst/>
          </a:prstGeom>
          <a:noFill/>
          <a:ln/>
        </p:spPr>
        <p:txBody>
          <a:bodyPr wrap="square" lIns="0" tIns="0" rIns="0" bIns="0" rtlCol="0" anchor="ctr">
            <a:normAutofit/>
          </a:bodyPr>
          <a:lstStyle/>
          <a:p>
            <a:pPr algn="ctr" indent="0" marL="0">
              <a:buNone/>
            </a:pPr>
            <a:r>
              <a:rPr lang="en-US" sz="1500" b="1" dirty="0">
                <a:solidFill>
                  <a:srgbClr val="17324D"/>
                </a:solidFill>
                <a:latin typeface="Aptos" pitchFamily="34" charset="0"/>
                <a:ea typeface="Aptos" pitchFamily="34" charset="-122"/>
                <a:cs typeface="Aptos" pitchFamily="34" charset="-120"/>
              </a:rPr>
              <a:t>many queries</a:t>
            </a:r>
            <a:endParaRPr lang="en-US" sz="1500" dirty="0"/>
          </a:p>
        </p:txBody>
      </p:sp>
      <p:sp>
        <p:nvSpPr>
          <p:cNvPr id="46" name="Shape 44"/>
          <p:cNvSpPr/>
          <p:nvPr/>
        </p:nvSpPr>
        <p:spPr>
          <a:xfrm>
            <a:off x="667512" y="6208776"/>
            <a:ext cx="10844784" cy="0"/>
          </a:xfrm>
          <a:prstGeom prst="line">
            <a:avLst/>
          </a:prstGeom>
          <a:noFill/>
          <a:ln w="10160">
            <a:solidFill>
              <a:srgbClr val="BDD0D8"/>
            </a:solidFill>
            <a:prstDash val="solid"/>
          </a:ln>
        </p:spPr>
      </p:sp>
      <p:sp>
        <p:nvSpPr>
          <p:cNvPr id="47" name="Text 45"/>
          <p:cNvSpPr/>
          <p:nvPr/>
        </p:nvSpPr>
        <p:spPr>
          <a:xfrm>
            <a:off x="667512" y="6355080"/>
            <a:ext cx="1828800" cy="228600"/>
          </a:xfrm>
          <a:prstGeom prst="rect">
            <a:avLst/>
          </a:prstGeom>
          <a:noFill/>
          <a:ln/>
        </p:spPr>
        <p:txBody>
          <a:bodyPr wrap="square" lIns="0" tIns="0" rIns="0" bIns="0" rtlCol="0" anchor="ctr">
            <a:normAutofit/>
          </a:bodyPr>
          <a:lstStyle/>
          <a:p>
            <a:pPr algn="l" indent="0" marL="0">
              <a:buNone/>
            </a:pPr>
            <a:r>
              <a:rPr lang="en-US" sz="1000" dirty="0">
                <a:solidFill>
                  <a:srgbClr val="607483"/>
                </a:solidFill>
                <a:latin typeface="Aptos" pitchFamily="34" charset="0"/>
                <a:ea typeface="Aptos" pitchFamily="34" charset="-122"/>
                <a:cs typeface="Aptos" pitchFamily="34" charset="-120"/>
              </a:rPr>
              <a:t>M12 · S01</a:t>
            </a:r>
            <a:endParaRPr lang="en-US" sz="1000" dirty="0"/>
          </a:p>
        </p:txBody>
      </p:sp>
      <p:sp>
        <p:nvSpPr>
          <p:cNvPr id="48" name="Text 46"/>
          <p:cNvSpPr/>
          <p:nvPr/>
        </p:nvSpPr>
        <p:spPr>
          <a:xfrm>
            <a:off x="10607040" y="6355080"/>
            <a:ext cx="914400" cy="228600"/>
          </a:xfrm>
          <a:prstGeom prst="rect">
            <a:avLst/>
          </a:prstGeom>
          <a:noFill/>
          <a:ln/>
        </p:spPr>
        <p:txBody>
          <a:bodyPr wrap="square" lIns="0" tIns="0" rIns="0" bIns="0" rtlCol="0" anchor="ctr">
            <a:normAutofit/>
          </a:bodyPr>
          <a:lstStyle/>
          <a:p>
            <a:pPr algn="r" indent="0" marL="0">
              <a:buNone/>
            </a:pPr>
            <a:r>
              <a:rPr lang="en-US" sz="1000" dirty="0">
                <a:solidFill>
                  <a:srgbClr val="607483"/>
                </a:solidFill>
                <a:latin typeface="Aptos" pitchFamily="34" charset="0"/>
                <a:ea typeface="Aptos" pitchFamily="34" charset="-122"/>
                <a:cs typeface="Aptos" pitchFamily="34" charset="-120"/>
              </a:rPr>
              <a:t>02 / 16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08C95"/>
          </a:solidFill>
          <a:ln w="12700">
            <a:solidFill>
              <a:srgbClr val="008C95"/>
            </a:solidFill>
            <a:prstDash val="solid"/>
          </a:ln>
        </p:spPr>
      </p:sp>
      <p:sp>
        <p:nvSpPr>
          <p:cNvPr id="3" name="Text 1"/>
          <p:cNvSpPr/>
          <p:nvPr/>
        </p:nvSpPr>
        <p:spPr>
          <a:xfrm>
            <a:off x="640080" y="384048"/>
            <a:ext cx="10881360" cy="566928"/>
          </a:xfrm>
          <a:prstGeom prst="rect">
            <a:avLst/>
          </a:prstGeom>
          <a:noFill/>
          <a:ln/>
        </p:spPr>
        <p:txBody>
          <a:bodyPr wrap="square" lIns="0" tIns="0" rIns="0" bIns="0" rtlCol="0" anchor="ctr">
            <a:normAutofit/>
          </a:bodyPr>
          <a:lstStyle/>
          <a:p>
            <a:pPr algn="l" indent="0" marL="0">
              <a:buNone/>
            </a:pPr>
            <a:r>
              <a:rPr lang="en-US" sz="3000" b="1" dirty="0">
                <a:solidFill>
                  <a:srgbClr val="17324D"/>
                </a:solidFill>
                <a:latin typeface="Aptos" pitchFamily="34" charset="0"/>
                <a:ea typeface="Aptos" pitchFamily="34" charset="-122"/>
                <a:cs typeface="Aptos" pitchFamily="34" charset="-120"/>
              </a:rPr>
              <a:t>Specify the operation</a:t>
            </a:r>
            <a:endParaRPr lang="en-US" sz="3000" dirty="0"/>
          </a:p>
        </p:txBody>
      </p:sp>
      <p:sp>
        <p:nvSpPr>
          <p:cNvPr id="4" name="Text 2"/>
          <p:cNvSpPr/>
          <p:nvPr/>
        </p:nvSpPr>
        <p:spPr>
          <a:xfrm>
            <a:off x="676656" y="1024128"/>
            <a:ext cx="9875520" cy="265176"/>
          </a:xfrm>
          <a:prstGeom prst="rect">
            <a:avLst/>
          </a:prstGeom>
          <a:noFill/>
          <a:ln/>
        </p:spPr>
        <p:txBody>
          <a:bodyPr wrap="square" lIns="0" tIns="0" rIns="0" bIns="0" rtlCol="0" anchor="ctr">
            <a:normAutofit/>
          </a:bodyPr>
          <a:lstStyle/>
          <a:p>
            <a:pPr algn="l" indent="0" marL="0">
              <a:buNone/>
            </a:pPr>
            <a:r>
              <a:rPr lang="en-US" sz="1200" b="1" dirty="0">
                <a:solidFill>
                  <a:srgbClr val="008C95"/>
                </a:solidFill>
                <a:latin typeface="Aptos" pitchFamily="34" charset="0"/>
                <a:ea typeface="Aptos" pitchFamily="34" charset="-122"/>
                <a:cs typeface="Aptos" pitchFamily="34" charset="-120"/>
              </a:rPr>
              <a:t>C2, C3.</a:t>
            </a:r>
            <a:endParaRPr lang="en-US" sz="1200" dirty="0"/>
          </a:p>
        </p:txBody>
      </p:sp>
      <p:sp>
        <p:nvSpPr>
          <p:cNvPr id="5" name="Shape 3"/>
          <p:cNvSpPr/>
          <p:nvPr/>
        </p:nvSpPr>
        <p:spPr>
          <a:xfrm>
            <a:off x="676656" y="1600200"/>
            <a:ext cx="4892040" cy="914400"/>
          </a:xfrm>
          <a:prstGeom prst="roundRect">
            <a:avLst>
              <a:gd name="adj" fmla="val 12000"/>
            </a:avLst>
          </a:prstGeom>
          <a:solidFill>
            <a:srgbClr val="FFFFFF"/>
          </a:solidFill>
          <a:ln w="15240">
            <a:solidFill>
              <a:srgbClr val="BDD0D8"/>
            </a:solidFill>
            <a:prstDash val="solid"/>
          </a:ln>
        </p:spPr>
      </p:sp>
      <p:sp>
        <p:nvSpPr>
          <p:cNvPr id="6" name="Text 4"/>
          <p:cNvSpPr/>
          <p:nvPr/>
        </p:nvSpPr>
        <p:spPr>
          <a:xfrm>
            <a:off x="905256" y="1737360"/>
            <a:ext cx="4434840" cy="621792"/>
          </a:xfrm>
          <a:prstGeom prst="rect">
            <a:avLst/>
          </a:prstGeom>
          <a:noFill/>
          <a:ln/>
        </p:spPr>
        <p:txBody>
          <a:bodyPr wrap="square" lIns="0" tIns="0" rIns="0" bIns="0" rtlCol="0" anchor="ctr">
            <a:normAutofit/>
          </a:bodyPr>
          <a:lstStyle/>
          <a:p>
            <a:pPr algn="l" indent="0" marL="0">
              <a:buNone/>
            </a:pPr>
            <a:r>
              <a:rPr lang="en-US" sz="2000" dirty="0">
                <a:solidFill>
                  <a:srgbClr val="263442"/>
                </a:solidFill>
                <a:latin typeface="Aptos" pitchFamily="34" charset="0"/>
                <a:ea typeface="Aptos" pitchFamily="34" charset="-122"/>
                <a:cs typeface="Aptos" pitchFamily="34" charset="-120"/>
              </a:rPr>
              <a:t>Input: sequence A of length n; target x</a:t>
            </a:r>
            <a:endParaRPr lang="en-US" sz="2000" dirty="0"/>
          </a:p>
        </p:txBody>
      </p:sp>
      <p:sp>
        <p:nvSpPr>
          <p:cNvPr id="7" name="Shape 5"/>
          <p:cNvSpPr/>
          <p:nvPr/>
        </p:nvSpPr>
        <p:spPr>
          <a:xfrm>
            <a:off x="676656" y="2743200"/>
            <a:ext cx="4892040" cy="914400"/>
          </a:xfrm>
          <a:prstGeom prst="roundRect">
            <a:avLst>
              <a:gd name="adj" fmla="val 12000"/>
            </a:avLst>
          </a:prstGeom>
          <a:solidFill>
            <a:srgbClr val="E8F3F3"/>
          </a:solidFill>
          <a:ln w="15240">
            <a:solidFill>
              <a:srgbClr val="008C95"/>
            </a:solidFill>
            <a:prstDash val="solid"/>
          </a:ln>
        </p:spPr>
      </p:sp>
      <p:sp>
        <p:nvSpPr>
          <p:cNvPr id="8" name="Text 6"/>
          <p:cNvSpPr/>
          <p:nvPr/>
        </p:nvSpPr>
        <p:spPr>
          <a:xfrm>
            <a:off x="905256" y="2880360"/>
            <a:ext cx="4434840" cy="621792"/>
          </a:xfrm>
          <a:prstGeom prst="rect">
            <a:avLst/>
          </a:prstGeom>
          <a:noFill/>
          <a:ln/>
        </p:spPr>
        <p:txBody>
          <a:bodyPr wrap="square" lIns="0" tIns="0" rIns="0" bIns="0" rtlCol="0" anchor="ctr">
            <a:normAutofit/>
          </a:bodyPr>
          <a:lstStyle/>
          <a:p>
            <a:pPr algn="l" indent="0" marL="0">
              <a:buNone/>
            </a:pPr>
            <a:r>
              <a:rPr lang="en-US" sz="2000" b="1" dirty="0">
                <a:solidFill>
                  <a:srgbClr val="263442"/>
                </a:solidFill>
                <a:latin typeface="Aptos" pitchFamily="34" charset="0"/>
                <a:ea typeface="Aptos" pitchFamily="34" charset="-122"/>
                <a:cs typeface="Aptos" pitchFamily="34" charset="-120"/>
              </a:rPr>
              <a:t>Output: first matching index or −1</a:t>
            </a:r>
            <a:endParaRPr lang="en-US" sz="2000" dirty="0"/>
          </a:p>
        </p:txBody>
      </p:sp>
      <p:sp>
        <p:nvSpPr>
          <p:cNvPr id="9" name="Shape 7"/>
          <p:cNvSpPr/>
          <p:nvPr/>
        </p:nvSpPr>
        <p:spPr>
          <a:xfrm>
            <a:off x="676656" y="3886200"/>
            <a:ext cx="4892040" cy="914400"/>
          </a:xfrm>
          <a:prstGeom prst="roundRect">
            <a:avLst>
              <a:gd name="adj" fmla="val 12000"/>
            </a:avLst>
          </a:prstGeom>
          <a:solidFill>
            <a:srgbClr val="FFFFFF"/>
          </a:solidFill>
          <a:ln w="15240">
            <a:solidFill>
              <a:srgbClr val="BDD0D8"/>
            </a:solidFill>
            <a:prstDash val="solid"/>
          </a:ln>
        </p:spPr>
      </p:sp>
      <p:sp>
        <p:nvSpPr>
          <p:cNvPr id="10" name="Text 8"/>
          <p:cNvSpPr/>
          <p:nvPr/>
        </p:nvSpPr>
        <p:spPr>
          <a:xfrm>
            <a:off x="905256" y="4023360"/>
            <a:ext cx="4434840" cy="621792"/>
          </a:xfrm>
          <a:prstGeom prst="rect">
            <a:avLst/>
          </a:prstGeom>
          <a:noFill/>
          <a:ln/>
        </p:spPr>
        <p:txBody>
          <a:bodyPr wrap="square" lIns="0" tIns="0" rIns="0" bIns="0" rtlCol="0" anchor="ctr">
            <a:normAutofit/>
          </a:bodyPr>
          <a:lstStyle/>
          <a:p>
            <a:pPr algn="l" indent="0" marL="0">
              <a:buNone/>
            </a:pPr>
            <a:r>
              <a:rPr lang="en-US" sz="2000" dirty="0">
                <a:solidFill>
                  <a:srgbClr val="263442"/>
                </a:solidFill>
                <a:latin typeface="Aptos" pitchFamily="34" charset="0"/>
                <a:ea typeface="Aptos" pitchFamily="34" charset="-122"/>
                <a:cs typeface="Aptos" pitchFamily="34" charset="-120"/>
              </a:rPr>
              <a:t>Unsorted input; equality defined</a:t>
            </a:r>
            <a:endParaRPr lang="en-US" sz="2000" dirty="0"/>
          </a:p>
        </p:txBody>
      </p:sp>
      <p:sp>
        <p:nvSpPr>
          <p:cNvPr id="11" name="Shape 9"/>
          <p:cNvSpPr/>
          <p:nvPr/>
        </p:nvSpPr>
        <p:spPr>
          <a:xfrm>
            <a:off x="6172200" y="2377440"/>
            <a:ext cx="1143000" cy="658368"/>
          </a:xfrm>
          <a:prstGeom prst="rect">
            <a:avLst/>
          </a:prstGeom>
          <a:solidFill>
            <a:srgbClr val="E8F3F3"/>
          </a:solidFill>
          <a:ln w="15240">
            <a:solidFill>
              <a:srgbClr val="008C95"/>
            </a:solidFill>
            <a:prstDash val="solid"/>
          </a:ln>
        </p:spPr>
      </p:sp>
      <p:sp>
        <p:nvSpPr>
          <p:cNvPr id="12" name="Text 10"/>
          <p:cNvSpPr/>
          <p:nvPr/>
        </p:nvSpPr>
        <p:spPr>
          <a:xfrm>
            <a:off x="6172200" y="2478024"/>
            <a:ext cx="1143000" cy="320040"/>
          </a:xfrm>
          <a:prstGeom prst="rect">
            <a:avLst/>
          </a:prstGeom>
          <a:noFill/>
          <a:ln/>
        </p:spPr>
        <p:txBody>
          <a:bodyPr wrap="square" lIns="0" tIns="0" rIns="0" bIns="0" rtlCol="0" anchor="ctr">
            <a:normAutofit/>
          </a:bodyPr>
          <a:lstStyle/>
          <a:p>
            <a:pPr algn="ctr" indent="0" marL="0">
              <a:buNone/>
            </a:pPr>
            <a:r>
              <a:rPr lang="en-US" sz="2000" b="1" dirty="0">
                <a:solidFill>
                  <a:srgbClr val="263442"/>
                </a:solidFill>
                <a:latin typeface="Aptos" pitchFamily="34" charset="0"/>
                <a:ea typeface="Aptos" pitchFamily="34" charset="-122"/>
                <a:cs typeface="Aptos" pitchFamily="34" charset="-120"/>
              </a:rPr>
              <a:t>7</a:t>
            </a:r>
            <a:endParaRPr lang="en-US" sz="2000" dirty="0"/>
          </a:p>
        </p:txBody>
      </p:sp>
      <p:sp>
        <p:nvSpPr>
          <p:cNvPr id="13" name="Text 11"/>
          <p:cNvSpPr/>
          <p:nvPr/>
        </p:nvSpPr>
        <p:spPr>
          <a:xfrm>
            <a:off x="6172200" y="2834640"/>
            <a:ext cx="1143000" cy="155448"/>
          </a:xfrm>
          <a:prstGeom prst="rect">
            <a:avLst/>
          </a:prstGeom>
          <a:noFill/>
          <a:ln/>
        </p:spPr>
        <p:txBody>
          <a:bodyPr wrap="square" lIns="0" tIns="0" rIns="0" bIns="0" rtlCol="0" anchor="ctr">
            <a:normAutofit/>
          </a:bodyPr>
          <a:lstStyle/>
          <a:p>
            <a:pPr algn="ctr" indent="0" marL="0">
              <a:buNone/>
            </a:pPr>
            <a:r>
              <a:rPr lang="en-US" sz="1100" dirty="0">
                <a:solidFill>
                  <a:srgbClr val="607483"/>
                </a:solidFill>
                <a:latin typeface="Aptos" pitchFamily="34" charset="0"/>
                <a:ea typeface="Aptos" pitchFamily="34" charset="-122"/>
                <a:cs typeface="Aptos" pitchFamily="34" charset="-120"/>
              </a:rPr>
              <a:t>0</a:t>
            </a:r>
            <a:endParaRPr lang="en-US" sz="1100" dirty="0"/>
          </a:p>
        </p:txBody>
      </p:sp>
      <p:sp>
        <p:nvSpPr>
          <p:cNvPr id="14" name="Shape 12"/>
          <p:cNvSpPr/>
          <p:nvPr/>
        </p:nvSpPr>
        <p:spPr>
          <a:xfrm>
            <a:off x="7360920" y="2377440"/>
            <a:ext cx="1143000" cy="658368"/>
          </a:xfrm>
          <a:prstGeom prst="rect">
            <a:avLst/>
          </a:prstGeom>
          <a:solidFill>
            <a:srgbClr val="FFFFFF"/>
          </a:solidFill>
          <a:ln w="15240">
            <a:solidFill>
              <a:srgbClr val="BDD0D8"/>
            </a:solidFill>
            <a:prstDash val="solid"/>
          </a:ln>
        </p:spPr>
      </p:sp>
      <p:sp>
        <p:nvSpPr>
          <p:cNvPr id="15" name="Text 13"/>
          <p:cNvSpPr/>
          <p:nvPr/>
        </p:nvSpPr>
        <p:spPr>
          <a:xfrm>
            <a:off x="7360920" y="2478024"/>
            <a:ext cx="1143000" cy="320040"/>
          </a:xfrm>
          <a:prstGeom prst="rect">
            <a:avLst/>
          </a:prstGeom>
          <a:noFill/>
          <a:ln/>
        </p:spPr>
        <p:txBody>
          <a:bodyPr wrap="square" lIns="0" tIns="0" rIns="0" bIns="0" rtlCol="0" anchor="ctr">
            <a:normAutofit/>
          </a:bodyPr>
          <a:lstStyle/>
          <a:p>
            <a:pPr algn="ctr" indent="0" marL="0">
              <a:buNone/>
            </a:pPr>
            <a:r>
              <a:rPr lang="en-US" sz="2000" dirty="0">
                <a:solidFill>
                  <a:srgbClr val="263442"/>
                </a:solidFill>
                <a:latin typeface="Aptos" pitchFamily="34" charset="0"/>
                <a:ea typeface="Aptos" pitchFamily="34" charset="-122"/>
                <a:cs typeface="Aptos" pitchFamily="34" charset="-120"/>
              </a:rPr>
              <a:t>4</a:t>
            </a:r>
            <a:endParaRPr lang="en-US" sz="2000" dirty="0"/>
          </a:p>
        </p:txBody>
      </p:sp>
      <p:sp>
        <p:nvSpPr>
          <p:cNvPr id="16" name="Text 14"/>
          <p:cNvSpPr/>
          <p:nvPr/>
        </p:nvSpPr>
        <p:spPr>
          <a:xfrm>
            <a:off x="7360920" y="2834640"/>
            <a:ext cx="1143000" cy="155448"/>
          </a:xfrm>
          <a:prstGeom prst="rect">
            <a:avLst/>
          </a:prstGeom>
          <a:noFill/>
          <a:ln/>
        </p:spPr>
        <p:txBody>
          <a:bodyPr wrap="square" lIns="0" tIns="0" rIns="0" bIns="0" rtlCol="0" anchor="ctr">
            <a:normAutofit/>
          </a:bodyPr>
          <a:lstStyle/>
          <a:p>
            <a:pPr algn="ctr" indent="0" marL="0">
              <a:buNone/>
            </a:pPr>
            <a:r>
              <a:rPr lang="en-US" sz="1100" dirty="0">
                <a:solidFill>
                  <a:srgbClr val="607483"/>
                </a:solidFill>
                <a:latin typeface="Aptos" pitchFamily="34" charset="0"/>
                <a:ea typeface="Aptos" pitchFamily="34" charset="-122"/>
                <a:cs typeface="Aptos" pitchFamily="34" charset="-120"/>
              </a:rPr>
              <a:t>1</a:t>
            </a:r>
            <a:endParaRPr lang="en-US" sz="1100" dirty="0"/>
          </a:p>
        </p:txBody>
      </p:sp>
      <p:sp>
        <p:nvSpPr>
          <p:cNvPr id="17" name="Shape 15"/>
          <p:cNvSpPr/>
          <p:nvPr/>
        </p:nvSpPr>
        <p:spPr>
          <a:xfrm>
            <a:off x="8549640" y="2377440"/>
            <a:ext cx="1143000" cy="658368"/>
          </a:xfrm>
          <a:prstGeom prst="rect">
            <a:avLst/>
          </a:prstGeom>
          <a:solidFill>
            <a:srgbClr val="FFFFFF"/>
          </a:solidFill>
          <a:ln w="15240">
            <a:solidFill>
              <a:srgbClr val="BDD0D8"/>
            </a:solidFill>
            <a:prstDash val="solid"/>
          </a:ln>
        </p:spPr>
      </p:sp>
      <p:sp>
        <p:nvSpPr>
          <p:cNvPr id="18" name="Text 16"/>
          <p:cNvSpPr/>
          <p:nvPr/>
        </p:nvSpPr>
        <p:spPr>
          <a:xfrm>
            <a:off x="8549640" y="2478024"/>
            <a:ext cx="1143000" cy="320040"/>
          </a:xfrm>
          <a:prstGeom prst="rect">
            <a:avLst/>
          </a:prstGeom>
          <a:noFill/>
          <a:ln/>
        </p:spPr>
        <p:txBody>
          <a:bodyPr wrap="square" lIns="0" tIns="0" rIns="0" bIns="0" rtlCol="0" anchor="ctr">
            <a:normAutofit/>
          </a:bodyPr>
          <a:lstStyle/>
          <a:p>
            <a:pPr algn="ctr" indent="0" marL="0">
              <a:buNone/>
            </a:pPr>
            <a:r>
              <a:rPr lang="en-US" sz="2000" dirty="0">
                <a:solidFill>
                  <a:srgbClr val="263442"/>
                </a:solidFill>
                <a:latin typeface="Aptos" pitchFamily="34" charset="0"/>
                <a:ea typeface="Aptos" pitchFamily="34" charset="-122"/>
                <a:cs typeface="Aptos" pitchFamily="34" charset="-120"/>
              </a:rPr>
              <a:t>7</a:t>
            </a:r>
            <a:endParaRPr lang="en-US" sz="2000" dirty="0"/>
          </a:p>
        </p:txBody>
      </p:sp>
      <p:sp>
        <p:nvSpPr>
          <p:cNvPr id="19" name="Text 17"/>
          <p:cNvSpPr/>
          <p:nvPr/>
        </p:nvSpPr>
        <p:spPr>
          <a:xfrm>
            <a:off x="8549640" y="2834640"/>
            <a:ext cx="1143000" cy="155448"/>
          </a:xfrm>
          <a:prstGeom prst="rect">
            <a:avLst/>
          </a:prstGeom>
          <a:noFill/>
          <a:ln/>
        </p:spPr>
        <p:txBody>
          <a:bodyPr wrap="square" lIns="0" tIns="0" rIns="0" bIns="0" rtlCol="0" anchor="ctr">
            <a:normAutofit/>
          </a:bodyPr>
          <a:lstStyle/>
          <a:p>
            <a:pPr algn="ctr" indent="0" marL="0">
              <a:buNone/>
            </a:pPr>
            <a:r>
              <a:rPr lang="en-US" sz="1100" dirty="0">
                <a:solidFill>
                  <a:srgbClr val="607483"/>
                </a:solidFill>
                <a:latin typeface="Aptos" pitchFamily="34" charset="0"/>
                <a:ea typeface="Aptos" pitchFamily="34" charset="-122"/>
                <a:cs typeface="Aptos" pitchFamily="34" charset="-120"/>
              </a:rPr>
              <a:t>2</a:t>
            </a:r>
            <a:endParaRPr lang="en-US" sz="1100" dirty="0"/>
          </a:p>
        </p:txBody>
      </p:sp>
      <p:sp>
        <p:nvSpPr>
          <p:cNvPr id="20" name="Shape 18"/>
          <p:cNvSpPr/>
          <p:nvPr/>
        </p:nvSpPr>
        <p:spPr>
          <a:xfrm>
            <a:off x="9738360" y="2377440"/>
            <a:ext cx="1143000" cy="658368"/>
          </a:xfrm>
          <a:prstGeom prst="rect">
            <a:avLst/>
          </a:prstGeom>
          <a:solidFill>
            <a:srgbClr val="FFFFFF"/>
          </a:solidFill>
          <a:ln w="15240">
            <a:solidFill>
              <a:srgbClr val="BDD0D8"/>
            </a:solidFill>
            <a:prstDash val="solid"/>
          </a:ln>
        </p:spPr>
      </p:sp>
      <p:sp>
        <p:nvSpPr>
          <p:cNvPr id="21" name="Text 19"/>
          <p:cNvSpPr/>
          <p:nvPr/>
        </p:nvSpPr>
        <p:spPr>
          <a:xfrm>
            <a:off x="9738360" y="2478024"/>
            <a:ext cx="1143000" cy="320040"/>
          </a:xfrm>
          <a:prstGeom prst="rect">
            <a:avLst/>
          </a:prstGeom>
          <a:noFill/>
          <a:ln/>
        </p:spPr>
        <p:txBody>
          <a:bodyPr wrap="square" lIns="0" tIns="0" rIns="0" bIns="0" rtlCol="0" anchor="ctr">
            <a:normAutofit/>
          </a:bodyPr>
          <a:lstStyle/>
          <a:p>
            <a:pPr algn="ctr" indent="0" marL="0">
              <a:buNone/>
            </a:pPr>
            <a:r>
              <a:rPr lang="en-US" sz="2000" dirty="0">
                <a:solidFill>
                  <a:srgbClr val="263442"/>
                </a:solidFill>
                <a:latin typeface="Aptos" pitchFamily="34" charset="0"/>
                <a:ea typeface="Aptos" pitchFamily="34" charset="-122"/>
                <a:cs typeface="Aptos" pitchFamily="34" charset="-120"/>
              </a:rPr>
              <a:t>9</a:t>
            </a:r>
            <a:endParaRPr lang="en-US" sz="2000" dirty="0"/>
          </a:p>
        </p:txBody>
      </p:sp>
      <p:sp>
        <p:nvSpPr>
          <p:cNvPr id="22" name="Text 20"/>
          <p:cNvSpPr/>
          <p:nvPr/>
        </p:nvSpPr>
        <p:spPr>
          <a:xfrm>
            <a:off x="9738360" y="2834640"/>
            <a:ext cx="1143000" cy="155448"/>
          </a:xfrm>
          <a:prstGeom prst="rect">
            <a:avLst/>
          </a:prstGeom>
          <a:noFill/>
          <a:ln/>
        </p:spPr>
        <p:txBody>
          <a:bodyPr wrap="square" lIns="0" tIns="0" rIns="0" bIns="0" rtlCol="0" anchor="ctr">
            <a:normAutofit/>
          </a:bodyPr>
          <a:lstStyle/>
          <a:p>
            <a:pPr algn="ctr" indent="0" marL="0">
              <a:buNone/>
            </a:pPr>
            <a:r>
              <a:rPr lang="en-US" sz="1100" dirty="0">
                <a:solidFill>
                  <a:srgbClr val="607483"/>
                </a:solidFill>
                <a:latin typeface="Aptos" pitchFamily="34" charset="0"/>
                <a:ea typeface="Aptos" pitchFamily="34" charset="-122"/>
                <a:cs typeface="Aptos" pitchFamily="34" charset="-120"/>
              </a:rPr>
              <a:t>3</a:t>
            </a:r>
            <a:endParaRPr lang="en-US" sz="1100" dirty="0"/>
          </a:p>
        </p:txBody>
      </p:sp>
      <p:sp>
        <p:nvSpPr>
          <p:cNvPr id="23" name="Text 21"/>
          <p:cNvSpPr/>
          <p:nvPr/>
        </p:nvSpPr>
        <p:spPr>
          <a:xfrm>
            <a:off x="6172200" y="3337560"/>
            <a:ext cx="4754880" cy="365760"/>
          </a:xfrm>
          <a:prstGeom prst="rect">
            <a:avLst/>
          </a:prstGeom>
          <a:noFill/>
          <a:ln/>
        </p:spPr>
        <p:txBody>
          <a:bodyPr wrap="square" lIns="0" tIns="0" rIns="0" bIns="0" rtlCol="0" anchor="ctr">
            <a:normAutofit/>
          </a:bodyPr>
          <a:lstStyle/>
          <a:p>
            <a:pPr algn="ctr" indent="0" marL="0">
              <a:buNone/>
            </a:pPr>
            <a:r>
              <a:rPr lang="en-US" sz="1900" dirty="0">
                <a:solidFill>
                  <a:srgbClr val="263442"/>
                </a:solidFill>
                <a:latin typeface="Aptos" pitchFamily="34" charset="0"/>
                <a:ea typeface="Aptos" pitchFamily="34" charset="-122"/>
                <a:cs typeface="Aptos" pitchFamily="34" charset="-120"/>
              </a:rPr>
              <a:t>Target 7 appears twice</a:t>
            </a:r>
            <a:endParaRPr lang="en-US" sz="1900" dirty="0"/>
          </a:p>
        </p:txBody>
      </p:sp>
      <p:sp>
        <p:nvSpPr>
          <p:cNvPr id="24" name="Text 22"/>
          <p:cNvSpPr/>
          <p:nvPr/>
        </p:nvSpPr>
        <p:spPr>
          <a:xfrm>
            <a:off x="6172200" y="3977640"/>
            <a:ext cx="4754880" cy="457200"/>
          </a:xfrm>
          <a:prstGeom prst="rect">
            <a:avLst/>
          </a:prstGeom>
          <a:noFill/>
          <a:ln/>
        </p:spPr>
        <p:txBody>
          <a:bodyPr wrap="square" lIns="0" tIns="0" rIns="0" bIns="0" rtlCol="0" anchor="ctr">
            <a:normAutofit/>
          </a:bodyPr>
          <a:lstStyle/>
          <a:p>
            <a:pPr algn="ctr" indent="0" marL="0">
              <a:buNone/>
            </a:pPr>
            <a:r>
              <a:rPr lang="en-US" sz="1900" b="1" dirty="0">
                <a:solidFill>
                  <a:srgbClr val="008C95"/>
                </a:solidFill>
                <a:latin typeface="Aptos" pitchFamily="34" charset="0"/>
                <a:ea typeface="Aptos" pitchFamily="34" charset="-122"/>
                <a:cs typeface="Aptos" pitchFamily="34" charset="-120"/>
              </a:rPr>
              <a:t>Contract: return the first index</a:t>
            </a:r>
            <a:endParaRPr lang="en-US" sz="1900" dirty="0"/>
          </a:p>
        </p:txBody>
      </p:sp>
      <p:sp>
        <p:nvSpPr>
          <p:cNvPr id="25" name="Shape 23"/>
          <p:cNvSpPr/>
          <p:nvPr/>
        </p:nvSpPr>
        <p:spPr>
          <a:xfrm>
            <a:off x="667512" y="6208776"/>
            <a:ext cx="10844784" cy="0"/>
          </a:xfrm>
          <a:prstGeom prst="line">
            <a:avLst/>
          </a:prstGeom>
          <a:noFill/>
          <a:ln w="10160">
            <a:solidFill>
              <a:srgbClr val="BDD0D8"/>
            </a:solidFill>
            <a:prstDash val="solid"/>
          </a:ln>
        </p:spPr>
      </p:sp>
      <p:sp>
        <p:nvSpPr>
          <p:cNvPr id="26" name="Text 24"/>
          <p:cNvSpPr/>
          <p:nvPr/>
        </p:nvSpPr>
        <p:spPr>
          <a:xfrm>
            <a:off x="667512" y="6355080"/>
            <a:ext cx="1828800" cy="228600"/>
          </a:xfrm>
          <a:prstGeom prst="rect">
            <a:avLst/>
          </a:prstGeom>
          <a:noFill/>
          <a:ln/>
        </p:spPr>
        <p:txBody>
          <a:bodyPr wrap="square" lIns="0" tIns="0" rIns="0" bIns="0" rtlCol="0" anchor="ctr">
            <a:normAutofit/>
          </a:bodyPr>
          <a:lstStyle/>
          <a:p>
            <a:pPr algn="l" indent="0" marL="0">
              <a:buNone/>
            </a:pPr>
            <a:r>
              <a:rPr lang="en-US" sz="1000" dirty="0">
                <a:solidFill>
                  <a:srgbClr val="607483"/>
                </a:solidFill>
                <a:latin typeface="Aptos" pitchFamily="34" charset="0"/>
                <a:ea typeface="Aptos" pitchFamily="34" charset="-122"/>
                <a:cs typeface="Aptos" pitchFamily="34" charset="-120"/>
              </a:rPr>
              <a:t>M12 · S01</a:t>
            </a:r>
            <a:endParaRPr lang="en-US" sz="1000" dirty="0"/>
          </a:p>
        </p:txBody>
      </p:sp>
      <p:sp>
        <p:nvSpPr>
          <p:cNvPr id="27" name="Text 25"/>
          <p:cNvSpPr/>
          <p:nvPr/>
        </p:nvSpPr>
        <p:spPr>
          <a:xfrm>
            <a:off x="10607040" y="6355080"/>
            <a:ext cx="914400" cy="228600"/>
          </a:xfrm>
          <a:prstGeom prst="rect">
            <a:avLst/>
          </a:prstGeom>
          <a:noFill/>
          <a:ln/>
        </p:spPr>
        <p:txBody>
          <a:bodyPr wrap="square" lIns="0" tIns="0" rIns="0" bIns="0" rtlCol="0" anchor="ctr">
            <a:normAutofit/>
          </a:bodyPr>
          <a:lstStyle/>
          <a:p>
            <a:pPr algn="r" indent="0" marL="0">
              <a:buNone/>
            </a:pPr>
            <a:r>
              <a:rPr lang="en-US" sz="1000" dirty="0">
                <a:solidFill>
                  <a:srgbClr val="607483"/>
                </a:solidFill>
                <a:latin typeface="Aptos" pitchFamily="34" charset="0"/>
                <a:ea typeface="Aptos" pitchFamily="34" charset="-122"/>
                <a:cs typeface="Aptos" pitchFamily="34" charset="-120"/>
              </a:rPr>
              <a:t>03 / 16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08C95"/>
          </a:solidFill>
          <a:ln w="12700">
            <a:solidFill>
              <a:srgbClr val="008C95"/>
            </a:solidFill>
            <a:prstDash val="solid"/>
          </a:ln>
        </p:spPr>
      </p:sp>
      <p:sp>
        <p:nvSpPr>
          <p:cNvPr id="3" name="Text 1"/>
          <p:cNvSpPr/>
          <p:nvPr/>
        </p:nvSpPr>
        <p:spPr>
          <a:xfrm>
            <a:off x="640080" y="384048"/>
            <a:ext cx="10881360" cy="566928"/>
          </a:xfrm>
          <a:prstGeom prst="rect">
            <a:avLst/>
          </a:prstGeom>
          <a:noFill/>
          <a:ln/>
        </p:spPr>
        <p:txBody>
          <a:bodyPr wrap="square" lIns="0" tIns="0" rIns="0" bIns="0" rtlCol="0" anchor="ctr">
            <a:normAutofit/>
          </a:bodyPr>
          <a:lstStyle/>
          <a:p>
            <a:pPr algn="l" indent="0" marL="0">
              <a:buNone/>
            </a:pPr>
            <a:r>
              <a:rPr lang="en-US" sz="3000" b="1" dirty="0">
                <a:solidFill>
                  <a:srgbClr val="17324D"/>
                </a:solidFill>
                <a:latin typeface="Aptos" pitchFamily="34" charset="0"/>
                <a:ea typeface="Aptos" pitchFamily="34" charset="-122"/>
                <a:cs typeface="Aptos" pitchFamily="34" charset="-120"/>
              </a:rPr>
              <a:t>ADT contract and representation</a:t>
            </a:r>
            <a:endParaRPr lang="en-US" sz="3000" dirty="0"/>
          </a:p>
        </p:txBody>
      </p:sp>
      <p:sp>
        <p:nvSpPr>
          <p:cNvPr id="4" name="Text 2"/>
          <p:cNvSpPr/>
          <p:nvPr/>
        </p:nvSpPr>
        <p:spPr>
          <a:xfrm>
            <a:off x="676656" y="1024128"/>
            <a:ext cx="9875520" cy="265176"/>
          </a:xfrm>
          <a:prstGeom prst="rect">
            <a:avLst/>
          </a:prstGeom>
          <a:noFill/>
          <a:ln/>
        </p:spPr>
        <p:txBody>
          <a:bodyPr wrap="square" lIns="0" tIns="0" rIns="0" bIns="0" rtlCol="0" anchor="ctr">
            <a:normAutofit/>
          </a:bodyPr>
          <a:lstStyle/>
          <a:p>
            <a:pPr algn="l" indent="0" marL="0">
              <a:buNone/>
            </a:pPr>
            <a:r>
              <a:rPr lang="en-US" sz="1200" b="1" dirty="0">
                <a:solidFill>
                  <a:srgbClr val="008C95"/>
                </a:solidFill>
                <a:latin typeface="Aptos" pitchFamily="34" charset="0"/>
                <a:ea typeface="Aptos" pitchFamily="34" charset="-122"/>
                <a:cs typeface="Aptos" pitchFamily="34" charset="-120"/>
              </a:rPr>
              <a:t>K1, C2.</a:t>
            </a:r>
            <a:endParaRPr lang="en-US" sz="1200" dirty="0"/>
          </a:p>
        </p:txBody>
      </p:sp>
      <p:sp>
        <p:nvSpPr>
          <p:cNvPr id="5" name="Shape 3"/>
          <p:cNvSpPr/>
          <p:nvPr/>
        </p:nvSpPr>
        <p:spPr>
          <a:xfrm>
            <a:off x="676656" y="1600200"/>
            <a:ext cx="4892040" cy="914400"/>
          </a:xfrm>
          <a:prstGeom prst="roundRect">
            <a:avLst>
              <a:gd name="adj" fmla="val 12000"/>
            </a:avLst>
          </a:prstGeom>
          <a:solidFill>
            <a:srgbClr val="FFFFFF"/>
          </a:solidFill>
          <a:ln w="15240">
            <a:solidFill>
              <a:srgbClr val="BDD0D8"/>
            </a:solidFill>
            <a:prstDash val="solid"/>
          </a:ln>
        </p:spPr>
      </p:sp>
      <p:sp>
        <p:nvSpPr>
          <p:cNvPr id="6" name="Text 4"/>
          <p:cNvSpPr/>
          <p:nvPr/>
        </p:nvSpPr>
        <p:spPr>
          <a:xfrm>
            <a:off x="905256" y="1737360"/>
            <a:ext cx="4434840" cy="621792"/>
          </a:xfrm>
          <a:prstGeom prst="rect">
            <a:avLst/>
          </a:prstGeom>
          <a:noFill/>
          <a:ln/>
        </p:spPr>
        <p:txBody>
          <a:bodyPr wrap="square" lIns="0" tIns="0" rIns="0" bIns="0" rtlCol="0" anchor="ctr">
            <a:normAutofit/>
          </a:bodyPr>
          <a:lstStyle/>
          <a:p>
            <a:pPr algn="l" indent="0" marL="0">
              <a:buNone/>
            </a:pPr>
            <a:r>
              <a:rPr lang="en-US" sz="2000" dirty="0">
                <a:solidFill>
                  <a:srgbClr val="263442"/>
                </a:solidFill>
                <a:latin typeface="Aptos" pitchFamily="34" charset="0"/>
                <a:ea typeface="Aptos" pitchFamily="34" charset="-122"/>
                <a:cs typeface="Aptos" pitchFamily="34" charset="-120"/>
              </a:rPr>
              <a:t>Contract: operations and observable behaviour</a:t>
            </a:r>
            <a:endParaRPr lang="en-US" sz="2000" dirty="0"/>
          </a:p>
        </p:txBody>
      </p:sp>
      <p:sp>
        <p:nvSpPr>
          <p:cNvPr id="7" name="Shape 5"/>
          <p:cNvSpPr/>
          <p:nvPr/>
        </p:nvSpPr>
        <p:spPr>
          <a:xfrm>
            <a:off x="676656" y="2743200"/>
            <a:ext cx="4892040" cy="914400"/>
          </a:xfrm>
          <a:prstGeom prst="roundRect">
            <a:avLst>
              <a:gd name="adj" fmla="val 12000"/>
            </a:avLst>
          </a:prstGeom>
          <a:solidFill>
            <a:srgbClr val="E8F3F3"/>
          </a:solidFill>
          <a:ln w="15240">
            <a:solidFill>
              <a:srgbClr val="008C95"/>
            </a:solidFill>
            <a:prstDash val="solid"/>
          </a:ln>
        </p:spPr>
      </p:sp>
      <p:sp>
        <p:nvSpPr>
          <p:cNvPr id="8" name="Text 6"/>
          <p:cNvSpPr/>
          <p:nvPr/>
        </p:nvSpPr>
        <p:spPr>
          <a:xfrm>
            <a:off x="905256" y="2880360"/>
            <a:ext cx="4434840" cy="621792"/>
          </a:xfrm>
          <a:prstGeom prst="rect">
            <a:avLst/>
          </a:prstGeom>
          <a:noFill/>
          <a:ln/>
        </p:spPr>
        <p:txBody>
          <a:bodyPr wrap="square" lIns="0" tIns="0" rIns="0" bIns="0" rtlCol="0" anchor="ctr">
            <a:normAutofit/>
          </a:bodyPr>
          <a:lstStyle/>
          <a:p>
            <a:pPr algn="l" indent="0" marL="0">
              <a:buNone/>
            </a:pPr>
            <a:r>
              <a:rPr lang="en-US" sz="2000" b="1" dirty="0">
                <a:solidFill>
                  <a:srgbClr val="263442"/>
                </a:solidFill>
                <a:latin typeface="Aptos" pitchFamily="34" charset="0"/>
                <a:ea typeface="Aptos" pitchFamily="34" charset="-122"/>
                <a:cs typeface="Aptos" pitchFamily="34" charset="-120"/>
              </a:rPr>
              <a:t>Representation: how values are stored</a:t>
            </a:r>
            <a:endParaRPr lang="en-US" sz="2000" dirty="0"/>
          </a:p>
        </p:txBody>
      </p:sp>
      <p:sp>
        <p:nvSpPr>
          <p:cNvPr id="9" name="Shape 7"/>
          <p:cNvSpPr/>
          <p:nvPr/>
        </p:nvSpPr>
        <p:spPr>
          <a:xfrm>
            <a:off x="676656" y="3886200"/>
            <a:ext cx="4892040" cy="914400"/>
          </a:xfrm>
          <a:prstGeom prst="roundRect">
            <a:avLst>
              <a:gd name="adj" fmla="val 12000"/>
            </a:avLst>
          </a:prstGeom>
          <a:solidFill>
            <a:srgbClr val="FFFFFF"/>
          </a:solidFill>
          <a:ln w="15240">
            <a:solidFill>
              <a:srgbClr val="BDD0D8"/>
            </a:solidFill>
            <a:prstDash val="solid"/>
          </a:ln>
        </p:spPr>
      </p:sp>
      <p:sp>
        <p:nvSpPr>
          <p:cNvPr id="10" name="Text 8"/>
          <p:cNvSpPr/>
          <p:nvPr/>
        </p:nvSpPr>
        <p:spPr>
          <a:xfrm>
            <a:off x="905256" y="4023360"/>
            <a:ext cx="4434840" cy="621792"/>
          </a:xfrm>
          <a:prstGeom prst="rect">
            <a:avLst/>
          </a:prstGeom>
          <a:noFill/>
          <a:ln/>
        </p:spPr>
        <p:txBody>
          <a:bodyPr wrap="square" lIns="0" tIns="0" rIns="0" bIns="0" rtlCol="0" anchor="ctr">
            <a:normAutofit/>
          </a:bodyPr>
          <a:lstStyle/>
          <a:p>
            <a:pPr algn="l" indent="0" marL="0">
              <a:buNone/>
            </a:pPr>
            <a:r>
              <a:rPr lang="en-US" sz="2000" dirty="0">
                <a:solidFill>
                  <a:srgbClr val="263442"/>
                </a:solidFill>
                <a:latin typeface="Aptos" pitchFamily="34" charset="0"/>
                <a:ea typeface="Aptos" pitchFamily="34" charset="-122"/>
                <a:cs typeface="Aptos" pitchFamily="34" charset="-120"/>
              </a:rPr>
              <a:t>Algorithm: steps for one operation</a:t>
            </a:r>
            <a:endParaRPr lang="en-US" sz="2000" dirty="0"/>
          </a:p>
        </p:txBody>
      </p:sp>
      <p:sp>
        <p:nvSpPr>
          <p:cNvPr id="11" name="Shape 9"/>
          <p:cNvSpPr/>
          <p:nvPr/>
        </p:nvSpPr>
        <p:spPr>
          <a:xfrm>
            <a:off x="6217920" y="2377440"/>
            <a:ext cx="1417320" cy="1005840"/>
          </a:xfrm>
          <a:prstGeom prst="roundRect">
            <a:avLst>
              <a:gd name="adj" fmla="val 10909"/>
            </a:avLst>
          </a:prstGeom>
          <a:solidFill>
            <a:srgbClr val="E8F3F3"/>
          </a:solidFill>
          <a:ln w="15240">
            <a:solidFill>
              <a:srgbClr val="008C95"/>
            </a:solidFill>
            <a:prstDash val="solid"/>
          </a:ln>
        </p:spPr>
      </p:sp>
      <p:sp>
        <p:nvSpPr>
          <p:cNvPr id="12" name="Text 10"/>
          <p:cNvSpPr/>
          <p:nvPr/>
        </p:nvSpPr>
        <p:spPr>
          <a:xfrm>
            <a:off x="6327648" y="2542032"/>
            <a:ext cx="1197864" cy="640080"/>
          </a:xfrm>
          <a:prstGeom prst="rect">
            <a:avLst/>
          </a:prstGeom>
          <a:noFill/>
          <a:ln/>
        </p:spPr>
        <p:txBody>
          <a:bodyPr wrap="square" lIns="0" tIns="0" rIns="0" bIns="0" rtlCol="0" anchor="ctr">
            <a:normAutofit/>
          </a:bodyPr>
          <a:lstStyle/>
          <a:p>
            <a:pPr algn="ctr" indent="0" marL="0">
              <a:buNone/>
            </a:pPr>
            <a:r>
              <a:rPr lang="en-US" sz="1500" b="1" dirty="0">
                <a:solidFill>
                  <a:srgbClr val="263442"/>
                </a:solidFill>
                <a:latin typeface="Aptos" pitchFamily="34" charset="0"/>
                <a:ea typeface="Aptos" pitchFamily="34" charset="-122"/>
                <a:cs typeface="Aptos" pitchFamily="34" charset="-120"/>
              </a:rPr>
              <a:t>Contract</a:t>
            </a:r>
            <a:endParaRPr lang="en-US" sz="1500" dirty="0"/>
          </a:p>
        </p:txBody>
      </p:sp>
      <p:sp>
        <p:nvSpPr>
          <p:cNvPr id="13" name="Text 11"/>
          <p:cNvSpPr/>
          <p:nvPr/>
        </p:nvSpPr>
        <p:spPr>
          <a:xfrm>
            <a:off x="7635240" y="2688336"/>
            <a:ext cx="201168" cy="228600"/>
          </a:xfrm>
          <a:prstGeom prst="rect">
            <a:avLst/>
          </a:prstGeom>
          <a:noFill/>
          <a:ln/>
        </p:spPr>
        <p:txBody>
          <a:bodyPr wrap="square" lIns="0" tIns="0" rIns="0" bIns="0" rtlCol="0" anchor="ctr">
            <a:normAutofit/>
          </a:bodyPr>
          <a:lstStyle/>
          <a:p>
            <a:pPr algn="ctr" indent="0" marL="0">
              <a:buNone/>
            </a:pPr>
            <a:r>
              <a:rPr lang="en-US" sz="1800" dirty="0">
                <a:solidFill>
                  <a:srgbClr val="008C95"/>
                </a:solidFill>
                <a:latin typeface="Aptos" pitchFamily="34" charset="0"/>
                <a:ea typeface="Aptos" pitchFamily="34" charset="-122"/>
                <a:cs typeface="Aptos" pitchFamily="34" charset="-120"/>
              </a:rPr>
              <a:t>→</a:t>
            </a:r>
            <a:endParaRPr lang="en-US" sz="1800" dirty="0"/>
          </a:p>
        </p:txBody>
      </p:sp>
      <p:sp>
        <p:nvSpPr>
          <p:cNvPr id="14" name="Shape 12"/>
          <p:cNvSpPr/>
          <p:nvPr/>
        </p:nvSpPr>
        <p:spPr>
          <a:xfrm>
            <a:off x="7836408" y="2377440"/>
            <a:ext cx="1417320" cy="1005840"/>
          </a:xfrm>
          <a:prstGeom prst="roundRect">
            <a:avLst>
              <a:gd name="adj" fmla="val 10909"/>
            </a:avLst>
          </a:prstGeom>
          <a:solidFill>
            <a:srgbClr val="FFFFFF"/>
          </a:solidFill>
          <a:ln w="15240">
            <a:solidFill>
              <a:srgbClr val="BDD0D8"/>
            </a:solidFill>
            <a:prstDash val="solid"/>
          </a:ln>
        </p:spPr>
      </p:sp>
      <p:sp>
        <p:nvSpPr>
          <p:cNvPr id="15" name="Text 13"/>
          <p:cNvSpPr/>
          <p:nvPr/>
        </p:nvSpPr>
        <p:spPr>
          <a:xfrm>
            <a:off x="7946136" y="2542032"/>
            <a:ext cx="1197864" cy="640080"/>
          </a:xfrm>
          <a:prstGeom prst="rect">
            <a:avLst/>
          </a:prstGeom>
          <a:noFill/>
          <a:ln/>
        </p:spPr>
        <p:txBody>
          <a:bodyPr wrap="square" lIns="0" tIns="0" rIns="0" bIns="0" rtlCol="0" anchor="ctr">
            <a:normAutofit/>
          </a:bodyPr>
          <a:lstStyle/>
          <a:p>
            <a:pPr algn="ctr" indent="0" marL="0">
              <a:buNone/>
            </a:pPr>
            <a:r>
              <a:rPr lang="en-US" sz="1500" b="1" dirty="0">
                <a:solidFill>
                  <a:srgbClr val="263442"/>
                </a:solidFill>
                <a:latin typeface="Aptos" pitchFamily="34" charset="0"/>
                <a:ea typeface="Aptos" pitchFamily="34" charset="-122"/>
                <a:cs typeface="Aptos" pitchFamily="34" charset="-120"/>
              </a:rPr>
              <a:t>Representation</a:t>
            </a:r>
            <a:endParaRPr lang="en-US" sz="1500" dirty="0"/>
          </a:p>
        </p:txBody>
      </p:sp>
      <p:sp>
        <p:nvSpPr>
          <p:cNvPr id="16" name="Text 14"/>
          <p:cNvSpPr/>
          <p:nvPr/>
        </p:nvSpPr>
        <p:spPr>
          <a:xfrm>
            <a:off x="9253728" y="2688336"/>
            <a:ext cx="201168" cy="228600"/>
          </a:xfrm>
          <a:prstGeom prst="rect">
            <a:avLst/>
          </a:prstGeom>
          <a:noFill/>
          <a:ln/>
        </p:spPr>
        <p:txBody>
          <a:bodyPr wrap="square" lIns="0" tIns="0" rIns="0" bIns="0" rtlCol="0" anchor="ctr">
            <a:normAutofit/>
          </a:bodyPr>
          <a:lstStyle/>
          <a:p>
            <a:pPr algn="ctr" indent="0" marL="0">
              <a:buNone/>
            </a:pPr>
            <a:r>
              <a:rPr lang="en-US" sz="1800" dirty="0">
                <a:solidFill>
                  <a:srgbClr val="008C95"/>
                </a:solidFill>
                <a:latin typeface="Aptos" pitchFamily="34" charset="0"/>
                <a:ea typeface="Aptos" pitchFamily="34" charset="-122"/>
                <a:cs typeface="Aptos" pitchFamily="34" charset="-120"/>
              </a:rPr>
              <a:t>→</a:t>
            </a:r>
            <a:endParaRPr lang="en-US" sz="1800" dirty="0"/>
          </a:p>
        </p:txBody>
      </p:sp>
      <p:sp>
        <p:nvSpPr>
          <p:cNvPr id="17" name="Shape 15"/>
          <p:cNvSpPr/>
          <p:nvPr/>
        </p:nvSpPr>
        <p:spPr>
          <a:xfrm>
            <a:off x="9454896" y="2377440"/>
            <a:ext cx="1417320" cy="1005840"/>
          </a:xfrm>
          <a:prstGeom prst="roundRect">
            <a:avLst>
              <a:gd name="adj" fmla="val 10909"/>
            </a:avLst>
          </a:prstGeom>
          <a:solidFill>
            <a:srgbClr val="FFFFFF"/>
          </a:solidFill>
          <a:ln w="15240">
            <a:solidFill>
              <a:srgbClr val="BDD0D8"/>
            </a:solidFill>
            <a:prstDash val="solid"/>
          </a:ln>
        </p:spPr>
      </p:sp>
      <p:sp>
        <p:nvSpPr>
          <p:cNvPr id="18" name="Text 16"/>
          <p:cNvSpPr/>
          <p:nvPr/>
        </p:nvSpPr>
        <p:spPr>
          <a:xfrm>
            <a:off x="9564624" y="2542032"/>
            <a:ext cx="1197864" cy="640080"/>
          </a:xfrm>
          <a:prstGeom prst="rect">
            <a:avLst/>
          </a:prstGeom>
          <a:noFill/>
          <a:ln/>
        </p:spPr>
        <p:txBody>
          <a:bodyPr wrap="square" lIns="0" tIns="0" rIns="0" bIns="0" rtlCol="0" anchor="ctr">
            <a:normAutofit/>
          </a:bodyPr>
          <a:lstStyle/>
          <a:p>
            <a:pPr algn="ctr" indent="0" marL="0">
              <a:buNone/>
            </a:pPr>
            <a:r>
              <a:rPr lang="en-US" sz="1500" b="1" dirty="0">
                <a:solidFill>
                  <a:srgbClr val="263442"/>
                </a:solidFill>
                <a:latin typeface="Aptos" pitchFamily="34" charset="0"/>
                <a:ea typeface="Aptos" pitchFamily="34" charset="-122"/>
                <a:cs typeface="Aptos" pitchFamily="34" charset="-120"/>
              </a:rPr>
              <a:t>Algorithm</a:t>
            </a:r>
            <a:endParaRPr lang="en-US" sz="1500" dirty="0"/>
          </a:p>
        </p:txBody>
      </p:sp>
      <p:sp>
        <p:nvSpPr>
          <p:cNvPr id="19" name="Shape 17"/>
          <p:cNvSpPr/>
          <p:nvPr/>
        </p:nvSpPr>
        <p:spPr>
          <a:xfrm>
            <a:off x="6309360" y="3703320"/>
            <a:ext cx="1371600" cy="594360"/>
          </a:xfrm>
          <a:prstGeom prst="roundRect">
            <a:avLst>
              <a:gd name="adj" fmla="val 18462"/>
            </a:avLst>
          </a:prstGeom>
          <a:solidFill>
            <a:srgbClr val="E8F3F3"/>
          </a:solidFill>
          <a:ln w="15240">
            <a:solidFill>
              <a:srgbClr val="E8F3F3"/>
            </a:solidFill>
            <a:prstDash val="solid"/>
          </a:ln>
        </p:spPr>
      </p:sp>
      <p:sp>
        <p:nvSpPr>
          <p:cNvPr id="20" name="Text 18"/>
          <p:cNvSpPr/>
          <p:nvPr/>
        </p:nvSpPr>
        <p:spPr>
          <a:xfrm>
            <a:off x="6419088" y="3749040"/>
            <a:ext cx="1152144" cy="502920"/>
          </a:xfrm>
          <a:prstGeom prst="rect">
            <a:avLst/>
          </a:prstGeom>
          <a:noFill/>
          <a:ln/>
        </p:spPr>
        <p:txBody>
          <a:bodyPr wrap="square" lIns="0" tIns="0" rIns="0" bIns="0" rtlCol="0" anchor="ctr">
            <a:normAutofit/>
          </a:bodyPr>
          <a:lstStyle/>
          <a:p>
            <a:pPr algn="ctr" indent="0" marL="0">
              <a:buNone/>
            </a:pPr>
            <a:r>
              <a:rPr lang="en-US" sz="1500" b="1" dirty="0">
                <a:solidFill>
                  <a:srgbClr val="17324D"/>
                </a:solidFill>
                <a:latin typeface="Aptos" pitchFamily="34" charset="0"/>
                <a:ea typeface="Aptos" pitchFamily="34" charset="-122"/>
                <a:cs typeface="Aptos" pitchFamily="34" charset="-120"/>
              </a:rPr>
              <a:t>contains(x)</a:t>
            </a:r>
            <a:endParaRPr lang="en-US" sz="1500" dirty="0"/>
          </a:p>
        </p:txBody>
      </p:sp>
      <p:sp>
        <p:nvSpPr>
          <p:cNvPr id="21" name="Shape 19"/>
          <p:cNvSpPr/>
          <p:nvPr/>
        </p:nvSpPr>
        <p:spPr>
          <a:xfrm>
            <a:off x="7909560" y="3703320"/>
            <a:ext cx="2926080" cy="594360"/>
          </a:xfrm>
          <a:prstGeom prst="roundRect">
            <a:avLst>
              <a:gd name="adj" fmla="val 18462"/>
            </a:avLst>
          </a:prstGeom>
          <a:solidFill>
            <a:srgbClr val="E8F3F3"/>
          </a:solidFill>
          <a:ln w="15240">
            <a:solidFill>
              <a:srgbClr val="E8F3F3"/>
            </a:solidFill>
            <a:prstDash val="solid"/>
          </a:ln>
        </p:spPr>
      </p:sp>
      <p:sp>
        <p:nvSpPr>
          <p:cNvPr id="22" name="Text 20"/>
          <p:cNvSpPr/>
          <p:nvPr/>
        </p:nvSpPr>
        <p:spPr>
          <a:xfrm>
            <a:off x="8019288" y="3749040"/>
            <a:ext cx="2706624" cy="502920"/>
          </a:xfrm>
          <a:prstGeom prst="rect">
            <a:avLst/>
          </a:prstGeom>
          <a:noFill/>
          <a:ln/>
        </p:spPr>
        <p:txBody>
          <a:bodyPr wrap="square" lIns="0" tIns="0" rIns="0" bIns="0" rtlCol="0" anchor="ctr">
            <a:normAutofit/>
          </a:bodyPr>
          <a:lstStyle/>
          <a:p>
            <a:pPr algn="ctr" indent="0" marL="0">
              <a:buNone/>
            </a:pPr>
            <a:r>
              <a:rPr lang="en-US" sz="1500" b="1" dirty="0">
                <a:solidFill>
                  <a:srgbClr val="17324D"/>
                </a:solidFill>
                <a:latin typeface="Aptos" pitchFamily="34" charset="0"/>
                <a:ea typeface="Aptos" pitchFamily="34" charset="-122"/>
                <a:cs typeface="Aptos" pitchFamily="34" charset="-120"/>
              </a:rPr>
              <a:t>array · list · tree · hash</a:t>
            </a:r>
            <a:endParaRPr lang="en-US" sz="1500" dirty="0"/>
          </a:p>
        </p:txBody>
      </p:sp>
      <p:sp>
        <p:nvSpPr>
          <p:cNvPr id="23" name="Shape 21"/>
          <p:cNvSpPr/>
          <p:nvPr/>
        </p:nvSpPr>
        <p:spPr>
          <a:xfrm>
            <a:off x="667512" y="6208776"/>
            <a:ext cx="10844784" cy="0"/>
          </a:xfrm>
          <a:prstGeom prst="line">
            <a:avLst/>
          </a:prstGeom>
          <a:noFill/>
          <a:ln w="10160">
            <a:solidFill>
              <a:srgbClr val="BDD0D8"/>
            </a:solidFill>
            <a:prstDash val="solid"/>
          </a:ln>
        </p:spPr>
      </p:sp>
      <p:sp>
        <p:nvSpPr>
          <p:cNvPr id="24" name="Text 22"/>
          <p:cNvSpPr/>
          <p:nvPr/>
        </p:nvSpPr>
        <p:spPr>
          <a:xfrm>
            <a:off x="667512" y="6355080"/>
            <a:ext cx="1828800" cy="228600"/>
          </a:xfrm>
          <a:prstGeom prst="rect">
            <a:avLst/>
          </a:prstGeom>
          <a:noFill/>
          <a:ln/>
        </p:spPr>
        <p:txBody>
          <a:bodyPr wrap="square" lIns="0" tIns="0" rIns="0" bIns="0" rtlCol="0" anchor="ctr">
            <a:normAutofit/>
          </a:bodyPr>
          <a:lstStyle/>
          <a:p>
            <a:pPr algn="l" indent="0" marL="0">
              <a:buNone/>
            </a:pPr>
            <a:r>
              <a:rPr lang="en-US" sz="1000" dirty="0">
                <a:solidFill>
                  <a:srgbClr val="607483"/>
                </a:solidFill>
                <a:latin typeface="Aptos" pitchFamily="34" charset="0"/>
                <a:ea typeface="Aptos" pitchFamily="34" charset="-122"/>
                <a:cs typeface="Aptos" pitchFamily="34" charset="-120"/>
              </a:rPr>
              <a:t>M12 · S01</a:t>
            </a:r>
            <a:endParaRPr lang="en-US" sz="1000" dirty="0"/>
          </a:p>
        </p:txBody>
      </p:sp>
      <p:sp>
        <p:nvSpPr>
          <p:cNvPr id="25" name="Text 23"/>
          <p:cNvSpPr/>
          <p:nvPr/>
        </p:nvSpPr>
        <p:spPr>
          <a:xfrm>
            <a:off x="10607040" y="6355080"/>
            <a:ext cx="914400" cy="228600"/>
          </a:xfrm>
          <a:prstGeom prst="rect">
            <a:avLst/>
          </a:prstGeom>
          <a:noFill/>
          <a:ln/>
        </p:spPr>
        <p:txBody>
          <a:bodyPr wrap="square" lIns="0" tIns="0" rIns="0" bIns="0" rtlCol="0" anchor="ctr">
            <a:normAutofit/>
          </a:bodyPr>
          <a:lstStyle/>
          <a:p>
            <a:pPr algn="r" indent="0" marL="0">
              <a:buNone/>
            </a:pPr>
            <a:r>
              <a:rPr lang="en-US" sz="1000" dirty="0">
                <a:solidFill>
                  <a:srgbClr val="607483"/>
                </a:solidFill>
                <a:latin typeface="Aptos" pitchFamily="34" charset="0"/>
                <a:ea typeface="Aptos" pitchFamily="34" charset="-122"/>
                <a:cs typeface="Aptos" pitchFamily="34" charset="-120"/>
              </a:rPr>
              <a:t>04 / 16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08C95"/>
          </a:solidFill>
          <a:ln w="12700">
            <a:solidFill>
              <a:srgbClr val="008C95"/>
            </a:solidFill>
            <a:prstDash val="solid"/>
          </a:ln>
        </p:spPr>
      </p:sp>
      <p:sp>
        <p:nvSpPr>
          <p:cNvPr id="3" name="Text 1"/>
          <p:cNvSpPr/>
          <p:nvPr/>
        </p:nvSpPr>
        <p:spPr>
          <a:xfrm>
            <a:off x="640080" y="384048"/>
            <a:ext cx="10881360" cy="566928"/>
          </a:xfrm>
          <a:prstGeom prst="rect">
            <a:avLst/>
          </a:prstGeom>
          <a:noFill/>
          <a:ln/>
        </p:spPr>
        <p:txBody>
          <a:bodyPr wrap="square" lIns="0" tIns="0" rIns="0" bIns="0" rtlCol="0" anchor="ctr">
            <a:normAutofit/>
          </a:bodyPr>
          <a:lstStyle/>
          <a:p>
            <a:pPr algn="l" indent="0" marL="0">
              <a:buNone/>
            </a:pPr>
            <a:r>
              <a:rPr lang="en-US" sz="3000" b="1" dirty="0">
                <a:solidFill>
                  <a:srgbClr val="17324D"/>
                </a:solidFill>
                <a:latin typeface="Aptos" pitchFamily="34" charset="0"/>
                <a:ea typeface="Aptos" pitchFamily="34" charset="-122"/>
                <a:cs typeface="Aptos" pitchFamily="34" charset="-120"/>
              </a:rPr>
              <a:t>Representation depends on workload</a:t>
            </a:r>
            <a:endParaRPr lang="en-US" sz="3000" dirty="0"/>
          </a:p>
        </p:txBody>
      </p:sp>
      <p:sp>
        <p:nvSpPr>
          <p:cNvPr id="4" name="Text 2"/>
          <p:cNvSpPr/>
          <p:nvPr/>
        </p:nvSpPr>
        <p:spPr>
          <a:xfrm>
            <a:off x="676656" y="1024128"/>
            <a:ext cx="9875520" cy="265176"/>
          </a:xfrm>
          <a:prstGeom prst="rect">
            <a:avLst/>
          </a:prstGeom>
          <a:noFill/>
          <a:ln/>
        </p:spPr>
        <p:txBody>
          <a:bodyPr wrap="square" lIns="0" tIns="0" rIns="0" bIns="0" rtlCol="0" anchor="ctr">
            <a:normAutofit/>
          </a:bodyPr>
          <a:lstStyle/>
          <a:p>
            <a:pPr algn="l" indent="0" marL="0">
              <a:buNone/>
            </a:pPr>
            <a:r>
              <a:rPr lang="en-US" sz="1200" b="1" dirty="0">
                <a:solidFill>
                  <a:srgbClr val="008C95"/>
                </a:solidFill>
                <a:latin typeface="Aptos" pitchFamily="34" charset="0"/>
                <a:ea typeface="Aptos" pitchFamily="34" charset="-122"/>
                <a:cs typeface="Aptos" pitchFamily="34" charset="-120"/>
              </a:rPr>
              <a:t>C2, K1.</a:t>
            </a:r>
            <a:endParaRPr lang="en-US" sz="1200" dirty="0"/>
          </a:p>
        </p:txBody>
      </p:sp>
      <p:sp>
        <p:nvSpPr>
          <p:cNvPr id="5" name="Shape 3"/>
          <p:cNvSpPr/>
          <p:nvPr/>
        </p:nvSpPr>
        <p:spPr>
          <a:xfrm>
            <a:off x="676656" y="1600200"/>
            <a:ext cx="4892040" cy="914400"/>
          </a:xfrm>
          <a:prstGeom prst="roundRect">
            <a:avLst>
              <a:gd name="adj" fmla="val 12000"/>
            </a:avLst>
          </a:prstGeom>
          <a:solidFill>
            <a:srgbClr val="FFFFFF"/>
          </a:solidFill>
          <a:ln w="15240">
            <a:solidFill>
              <a:srgbClr val="BDD0D8"/>
            </a:solidFill>
            <a:prstDash val="solid"/>
          </a:ln>
        </p:spPr>
      </p:sp>
      <p:sp>
        <p:nvSpPr>
          <p:cNvPr id="6" name="Text 4"/>
          <p:cNvSpPr/>
          <p:nvPr/>
        </p:nvSpPr>
        <p:spPr>
          <a:xfrm>
            <a:off x="905256" y="1737360"/>
            <a:ext cx="4434840" cy="621792"/>
          </a:xfrm>
          <a:prstGeom prst="rect">
            <a:avLst/>
          </a:prstGeom>
          <a:noFill/>
          <a:ln/>
        </p:spPr>
        <p:txBody>
          <a:bodyPr wrap="square" lIns="0" tIns="0" rIns="0" bIns="0" rtlCol="0" anchor="ctr">
            <a:normAutofit/>
          </a:bodyPr>
          <a:lstStyle/>
          <a:p>
            <a:pPr algn="l" indent="0" marL="0">
              <a:buNone/>
            </a:pPr>
            <a:r>
              <a:rPr lang="en-US" sz="2000" dirty="0">
                <a:solidFill>
                  <a:srgbClr val="263442"/>
                </a:solidFill>
                <a:latin typeface="Aptos" pitchFamily="34" charset="0"/>
                <a:ea typeface="Aptos" pitchFamily="34" charset="-122"/>
                <a:cs typeface="Aptos" pitchFamily="34" charset="-120"/>
              </a:rPr>
              <a:t>One scan avoids index construction</a:t>
            </a:r>
            <a:endParaRPr lang="en-US" sz="2000" dirty="0"/>
          </a:p>
        </p:txBody>
      </p:sp>
      <p:sp>
        <p:nvSpPr>
          <p:cNvPr id="7" name="Shape 5"/>
          <p:cNvSpPr/>
          <p:nvPr/>
        </p:nvSpPr>
        <p:spPr>
          <a:xfrm>
            <a:off x="676656" y="2743200"/>
            <a:ext cx="4892040" cy="914400"/>
          </a:xfrm>
          <a:prstGeom prst="roundRect">
            <a:avLst>
              <a:gd name="adj" fmla="val 12000"/>
            </a:avLst>
          </a:prstGeom>
          <a:solidFill>
            <a:srgbClr val="E8F3F3"/>
          </a:solidFill>
          <a:ln w="15240">
            <a:solidFill>
              <a:srgbClr val="008C95"/>
            </a:solidFill>
            <a:prstDash val="solid"/>
          </a:ln>
        </p:spPr>
      </p:sp>
      <p:sp>
        <p:nvSpPr>
          <p:cNvPr id="8" name="Text 6"/>
          <p:cNvSpPr/>
          <p:nvPr/>
        </p:nvSpPr>
        <p:spPr>
          <a:xfrm>
            <a:off x="905256" y="2880360"/>
            <a:ext cx="4434840" cy="621792"/>
          </a:xfrm>
          <a:prstGeom prst="rect">
            <a:avLst/>
          </a:prstGeom>
          <a:noFill/>
          <a:ln/>
        </p:spPr>
        <p:txBody>
          <a:bodyPr wrap="square" lIns="0" tIns="0" rIns="0" bIns="0" rtlCol="0" anchor="ctr">
            <a:normAutofit/>
          </a:bodyPr>
          <a:lstStyle/>
          <a:p>
            <a:pPr algn="l" indent="0" marL="0">
              <a:buNone/>
            </a:pPr>
            <a:r>
              <a:rPr lang="en-US" sz="2000" b="1" dirty="0">
                <a:solidFill>
                  <a:srgbClr val="263442"/>
                </a:solidFill>
                <a:latin typeface="Aptos" pitchFamily="34" charset="0"/>
                <a:ea typeface="Aptos" pitchFamily="34" charset="-122"/>
                <a:cs typeface="Aptos" pitchFamily="34" charset="-120"/>
              </a:rPr>
              <a:t>Repeated queries can repay setup</a:t>
            </a:r>
            <a:endParaRPr lang="en-US" sz="2000" dirty="0"/>
          </a:p>
        </p:txBody>
      </p:sp>
      <p:sp>
        <p:nvSpPr>
          <p:cNvPr id="9" name="Shape 7"/>
          <p:cNvSpPr/>
          <p:nvPr/>
        </p:nvSpPr>
        <p:spPr>
          <a:xfrm>
            <a:off x="676656" y="3886200"/>
            <a:ext cx="4892040" cy="914400"/>
          </a:xfrm>
          <a:prstGeom prst="roundRect">
            <a:avLst>
              <a:gd name="adj" fmla="val 12000"/>
            </a:avLst>
          </a:prstGeom>
          <a:solidFill>
            <a:srgbClr val="FFFFFF"/>
          </a:solidFill>
          <a:ln w="15240">
            <a:solidFill>
              <a:srgbClr val="BDD0D8"/>
            </a:solidFill>
            <a:prstDash val="solid"/>
          </a:ln>
        </p:spPr>
      </p:sp>
      <p:sp>
        <p:nvSpPr>
          <p:cNvPr id="10" name="Text 8"/>
          <p:cNvSpPr/>
          <p:nvPr/>
        </p:nvSpPr>
        <p:spPr>
          <a:xfrm>
            <a:off x="905256" y="4023360"/>
            <a:ext cx="4434840" cy="621792"/>
          </a:xfrm>
          <a:prstGeom prst="rect">
            <a:avLst/>
          </a:prstGeom>
          <a:noFill/>
          <a:ln/>
        </p:spPr>
        <p:txBody>
          <a:bodyPr wrap="square" lIns="0" tIns="0" rIns="0" bIns="0" rtlCol="0" anchor="ctr">
            <a:normAutofit/>
          </a:bodyPr>
          <a:lstStyle/>
          <a:p>
            <a:pPr algn="l" indent="0" marL="0">
              <a:buNone/>
            </a:pPr>
            <a:r>
              <a:rPr lang="en-US" sz="2000" dirty="0">
                <a:solidFill>
                  <a:srgbClr val="263442"/>
                </a:solidFill>
                <a:latin typeface="Aptos" pitchFamily="34" charset="0"/>
                <a:ea typeface="Aptos" pitchFamily="34" charset="-122"/>
                <a:cs typeface="Aptos" pitchFamily="34" charset="-120"/>
              </a:rPr>
              <a:t>Updates and memory change the choice</a:t>
            </a:r>
            <a:endParaRPr lang="en-US" sz="2000" dirty="0"/>
          </a:p>
        </p:txBody>
      </p:sp>
      <p:sp>
        <p:nvSpPr>
          <p:cNvPr id="11" name="Shape 9"/>
          <p:cNvSpPr/>
          <p:nvPr/>
        </p:nvSpPr>
        <p:spPr>
          <a:xfrm>
            <a:off x="6172200" y="1920240"/>
            <a:ext cx="2240280" cy="2240280"/>
          </a:xfrm>
          <a:prstGeom prst="roundRect">
            <a:avLst>
              <a:gd name="adj" fmla="val 4898"/>
            </a:avLst>
          </a:prstGeom>
          <a:solidFill>
            <a:srgbClr val="FFFFFF"/>
          </a:solidFill>
          <a:ln w="15240">
            <a:solidFill>
              <a:srgbClr val="BDD0D8"/>
            </a:solidFill>
            <a:prstDash val="solid"/>
          </a:ln>
        </p:spPr>
      </p:sp>
      <p:sp>
        <p:nvSpPr>
          <p:cNvPr id="12" name="Shape 10"/>
          <p:cNvSpPr/>
          <p:nvPr/>
        </p:nvSpPr>
        <p:spPr>
          <a:xfrm>
            <a:off x="8641080" y="1920240"/>
            <a:ext cx="2240280" cy="2240280"/>
          </a:xfrm>
          <a:prstGeom prst="roundRect">
            <a:avLst>
              <a:gd name="adj" fmla="val 4898"/>
            </a:avLst>
          </a:prstGeom>
          <a:solidFill>
            <a:srgbClr val="E8F3F3"/>
          </a:solidFill>
          <a:ln w="15240">
            <a:solidFill>
              <a:srgbClr val="008C95"/>
            </a:solidFill>
            <a:prstDash val="solid"/>
          </a:ln>
        </p:spPr>
      </p:sp>
      <p:sp>
        <p:nvSpPr>
          <p:cNvPr id="13" name="Text 11"/>
          <p:cNvSpPr/>
          <p:nvPr/>
        </p:nvSpPr>
        <p:spPr>
          <a:xfrm>
            <a:off x="6355080" y="2148840"/>
            <a:ext cx="1874520" cy="438912"/>
          </a:xfrm>
          <a:prstGeom prst="rect">
            <a:avLst/>
          </a:prstGeom>
          <a:noFill/>
          <a:ln/>
        </p:spPr>
        <p:txBody>
          <a:bodyPr wrap="square" lIns="0" tIns="0" rIns="0" bIns="0" rtlCol="0" anchor="ctr">
            <a:normAutofit/>
          </a:bodyPr>
          <a:lstStyle/>
          <a:p>
            <a:pPr algn="l" indent="0" marL="0">
              <a:buNone/>
            </a:pPr>
            <a:r>
              <a:rPr lang="en-US" sz="2000" b="1" dirty="0">
                <a:solidFill>
                  <a:srgbClr val="263442"/>
                </a:solidFill>
                <a:latin typeface="Aptos" pitchFamily="34" charset="0"/>
                <a:ea typeface="Aptos" pitchFamily="34" charset="-122"/>
                <a:cs typeface="Aptos" pitchFamily="34" charset="-120"/>
              </a:rPr>
              <a:t>One query</a:t>
            </a:r>
            <a:endParaRPr lang="en-US" sz="2000" dirty="0"/>
          </a:p>
        </p:txBody>
      </p:sp>
      <p:sp>
        <p:nvSpPr>
          <p:cNvPr id="14" name="Text 12"/>
          <p:cNvSpPr/>
          <p:nvPr/>
        </p:nvSpPr>
        <p:spPr>
          <a:xfrm>
            <a:off x="6355080" y="2788920"/>
            <a:ext cx="1874520" cy="914400"/>
          </a:xfrm>
          <a:prstGeom prst="rect">
            <a:avLst/>
          </a:prstGeom>
          <a:noFill/>
          <a:ln/>
        </p:spPr>
        <p:txBody>
          <a:bodyPr wrap="square" lIns="0" tIns="0" rIns="0" bIns="0" rtlCol="0" anchor="ctr">
            <a:normAutofit/>
          </a:bodyPr>
          <a:lstStyle/>
          <a:p>
            <a:pPr algn="l" indent="0" marL="0">
              <a:buNone/>
            </a:pPr>
            <a:r>
              <a:rPr lang="en-US" sz="1800" dirty="0">
                <a:solidFill>
                  <a:srgbClr val="263442"/>
                </a:solidFill>
                <a:latin typeface="Aptos" pitchFamily="34" charset="0"/>
                <a:ea typeface="Aptos" pitchFamily="34" charset="-122"/>
                <a:cs typeface="Aptos" pitchFamily="34" charset="-120"/>
              </a:rPr>
              <a:t>No setup</a:t>
            </a:r>
            <a:endParaRPr lang="en-US" sz="1800" dirty="0"/>
          </a:p>
          <a:p>
            <a:pPr algn="l" indent="0" marL="0">
              <a:buNone/>
            </a:pPr>
            <a:r>
              <a:rPr lang="en-US" sz="1800" dirty="0">
                <a:solidFill>
                  <a:srgbClr val="263442"/>
                </a:solidFill>
                <a:latin typeface="Aptos" pitchFamily="34" charset="0"/>
                <a:ea typeface="Aptos" pitchFamily="34" charset="-122"/>
                <a:cs typeface="Aptos" pitchFamily="34" charset="-120"/>
              </a:rPr>
              <a:t>Scan once</a:t>
            </a:r>
            <a:endParaRPr lang="en-US" sz="1800" dirty="0"/>
          </a:p>
        </p:txBody>
      </p:sp>
      <p:sp>
        <p:nvSpPr>
          <p:cNvPr id="15" name="Text 13"/>
          <p:cNvSpPr/>
          <p:nvPr/>
        </p:nvSpPr>
        <p:spPr>
          <a:xfrm>
            <a:off x="8823960" y="2148840"/>
            <a:ext cx="1874520" cy="438912"/>
          </a:xfrm>
          <a:prstGeom prst="rect">
            <a:avLst/>
          </a:prstGeom>
          <a:noFill/>
          <a:ln/>
        </p:spPr>
        <p:txBody>
          <a:bodyPr wrap="square" lIns="0" tIns="0" rIns="0" bIns="0" rtlCol="0" anchor="ctr">
            <a:normAutofit/>
          </a:bodyPr>
          <a:lstStyle/>
          <a:p>
            <a:pPr algn="l" indent="0" marL="0">
              <a:buNone/>
            </a:pPr>
            <a:r>
              <a:rPr lang="en-US" sz="2000" b="1" dirty="0">
                <a:solidFill>
                  <a:srgbClr val="263442"/>
                </a:solidFill>
                <a:latin typeface="Aptos" pitchFamily="34" charset="0"/>
                <a:ea typeface="Aptos" pitchFamily="34" charset="-122"/>
                <a:cs typeface="Aptos" pitchFamily="34" charset="-120"/>
              </a:rPr>
              <a:t>Many queries</a:t>
            </a:r>
            <a:endParaRPr lang="en-US" sz="2000" dirty="0"/>
          </a:p>
        </p:txBody>
      </p:sp>
      <p:sp>
        <p:nvSpPr>
          <p:cNvPr id="16" name="Text 14"/>
          <p:cNvSpPr/>
          <p:nvPr/>
        </p:nvSpPr>
        <p:spPr>
          <a:xfrm>
            <a:off x="8823960" y="2788920"/>
            <a:ext cx="1874520" cy="914400"/>
          </a:xfrm>
          <a:prstGeom prst="rect">
            <a:avLst/>
          </a:prstGeom>
          <a:noFill/>
          <a:ln/>
        </p:spPr>
        <p:txBody>
          <a:bodyPr wrap="square" lIns="0" tIns="0" rIns="0" bIns="0" rtlCol="0" anchor="ctr">
            <a:normAutofit/>
          </a:bodyPr>
          <a:lstStyle/>
          <a:p>
            <a:pPr algn="l" indent="0" marL="0">
              <a:buNone/>
            </a:pPr>
            <a:r>
              <a:rPr lang="en-US" sz="1800" dirty="0">
                <a:solidFill>
                  <a:srgbClr val="263442"/>
                </a:solidFill>
                <a:latin typeface="Aptos" pitchFamily="34" charset="0"/>
                <a:ea typeface="Aptos" pitchFamily="34" charset="-122"/>
                <a:cs typeface="Aptos" pitchFamily="34" charset="-120"/>
              </a:rPr>
              <a:t>Setup + repeated</a:t>
            </a:r>
            <a:endParaRPr lang="en-US" sz="1800" dirty="0"/>
          </a:p>
          <a:p>
            <a:pPr algn="l" indent="0" marL="0">
              <a:buNone/>
            </a:pPr>
            <a:r>
              <a:rPr lang="en-US" sz="1800" dirty="0">
                <a:solidFill>
                  <a:srgbClr val="263442"/>
                </a:solidFill>
                <a:latin typeface="Aptos" pitchFamily="34" charset="0"/>
                <a:ea typeface="Aptos" pitchFamily="34" charset="-122"/>
                <a:cs typeface="Aptos" pitchFamily="34" charset="-120"/>
              </a:rPr>
              <a:t>query cost</a:t>
            </a:r>
            <a:endParaRPr lang="en-US" sz="1800" dirty="0"/>
          </a:p>
        </p:txBody>
      </p:sp>
      <p:sp>
        <p:nvSpPr>
          <p:cNvPr id="17" name="Shape 15"/>
          <p:cNvSpPr/>
          <p:nvPr/>
        </p:nvSpPr>
        <p:spPr>
          <a:xfrm>
            <a:off x="667512" y="6208776"/>
            <a:ext cx="10844784" cy="0"/>
          </a:xfrm>
          <a:prstGeom prst="line">
            <a:avLst/>
          </a:prstGeom>
          <a:noFill/>
          <a:ln w="10160">
            <a:solidFill>
              <a:srgbClr val="BDD0D8"/>
            </a:solidFill>
            <a:prstDash val="solid"/>
          </a:ln>
        </p:spPr>
      </p:sp>
      <p:sp>
        <p:nvSpPr>
          <p:cNvPr id="18" name="Text 16"/>
          <p:cNvSpPr/>
          <p:nvPr/>
        </p:nvSpPr>
        <p:spPr>
          <a:xfrm>
            <a:off x="667512" y="6355080"/>
            <a:ext cx="1828800" cy="228600"/>
          </a:xfrm>
          <a:prstGeom prst="rect">
            <a:avLst/>
          </a:prstGeom>
          <a:noFill/>
          <a:ln/>
        </p:spPr>
        <p:txBody>
          <a:bodyPr wrap="square" lIns="0" tIns="0" rIns="0" bIns="0" rtlCol="0" anchor="ctr">
            <a:normAutofit/>
          </a:bodyPr>
          <a:lstStyle/>
          <a:p>
            <a:pPr algn="l" indent="0" marL="0">
              <a:buNone/>
            </a:pPr>
            <a:r>
              <a:rPr lang="en-US" sz="1000" dirty="0">
                <a:solidFill>
                  <a:srgbClr val="607483"/>
                </a:solidFill>
                <a:latin typeface="Aptos" pitchFamily="34" charset="0"/>
                <a:ea typeface="Aptos" pitchFamily="34" charset="-122"/>
                <a:cs typeface="Aptos" pitchFamily="34" charset="-120"/>
              </a:rPr>
              <a:t>M12 · S01</a:t>
            </a:r>
            <a:endParaRPr lang="en-US" sz="1000" dirty="0"/>
          </a:p>
        </p:txBody>
      </p:sp>
      <p:sp>
        <p:nvSpPr>
          <p:cNvPr id="19" name="Text 17"/>
          <p:cNvSpPr/>
          <p:nvPr/>
        </p:nvSpPr>
        <p:spPr>
          <a:xfrm>
            <a:off x="10607040" y="6355080"/>
            <a:ext cx="914400" cy="228600"/>
          </a:xfrm>
          <a:prstGeom prst="rect">
            <a:avLst/>
          </a:prstGeom>
          <a:noFill/>
          <a:ln/>
        </p:spPr>
        <p:txBody>
          <a:bodyPr wrap="square" lIns="0" tIns="0" rIns="0" bIns="0" rtlCol="0" anchor="ctr">
            <a:normAutofit/>
          </a:bodyPr>
          <a:lstStyle/>
          <a:p>
            <a:pPr algn="r" indent="0" marL="0">
              <a:buNone/>
            </a:pPr>
            <a:r>
              <a:rPr lang="en-US" sz="1000" dirty="0">
                <a:solidFill>
                  <a:srgbClr val="607483"/>
                </a:solidFill>
                <a:latin typeface="Aptos" pitchFamily="34" charset="0"/>
                <a:ea typeface="Aptos" pitchFamily="34" charset="-122"/>
                <a:cs typeface="Aptos" pitchFamily="34" charset="-120"/>
              </a:rPr>
              <a:t>05 / 16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08C95"/>
          </a:solidFill>
          <a:ln w="12700">
            <a:solidFill>
              <a:srgbClr val="008C95"/>
            </a:solidFill>
            <a:prstDash val="solid"/>
          </a:ln>
        </p:spPr>
      </p:sp>
      <p:sp>
        <p:nvSpPr>
          <p:cNvPr id="3" name="Text 1"/>
          <p:cNvSpPr/>
          <p:nvPr/>
        </p:nvSpPr>
        <p:spPr>
          <a:xfrm>
            <a:off x="640080" y="384048"/>
            <a:ext cx="10881360" cy="566928"/>
          </a:xfrm>
          <a:prstGeom prst="rect">
            <a:avLst/>
          </a:prstGeom>
          <a:noFill/>
          <a:ln/>
        </p:spPr>
        <p:txBody>
          <a:bodyPr wrap="square" lIns="0" tIns="0" rIns="0" bIns="0" rtlCol="0" anchor="ctr">
            <a:normAutofit/>
          </a:bodyPr>
          <a:lstStyle/>
          <a:p>
            <a:pPr algn="l" indent="0" marL="0">
              <a:buNone/>
            </a:pPr>
            <a:r>
              <a:rPr lang="en-US" sz="3000" b="1" dirty="0">
                <a:solidFill>
                  <a:srgbClr val="17324D"/>
                </a:solidFill>
                <a:latin typeface="Aptos" pitchFamily="34" charset="0"/>
                <a:ea typeface="Aptos" pitchFamily="34" charset="-122"/>
                <a:cs typeface="Aptos" pitchFamily="34" charset="-120"/>
              </a:rPr>
              <a:t>Linear search pseudocode</a:t>
            </a:r>
            <a:endParaRPr lang="en-US" sz="3000" dirty="0"/>
          </a:p>
        </p:txBody>
      </p:sp>
      <p:sp>
        <p:nvSpPr>
          <p:cNvPr id="4" name="Text 2"/>
          <p:cNvSpPr/>
          <p:nvPr/>
        </p:nvSpPr>
        <p:spPr>
          <a:xfrm>
            <a:off x="676656" y="1024128"/>
            <a:ext cx="9875520" cy="265176"/>
          </a:xfrm>
          <a:prstGeom prst="rect">
            <a:avLst/>
          </a:prstGeom>
          <a:noFill/>
          <a:ln/>
        </p:spPr>
        <p:txBody>
          <a:bodyPr wrap="square" lIns="0" tIns="0" rIns="0" bIns="0" rtlCol="0" anchor="ctr">
            <a:normAutofit/>
          </a:bodyPr>
          <a:lstStyle/>
          <a:p>
            <a:pPr algn="l" indent="0" marL="0">
              <a:buNone/>
            </a:pPr>
            <a:r>
              <a:rPr lang="en-US" sz="1200" b="1" dirty="0">
                <a:solidFill>
                  <a:srgbClr val="008C95"/>
                </a:solidFill>
                <a:latin typeface="Aptos" pitchFamily="34" charset="0"/>
                <a:ea typeface="Aptos" pitchFamily="34" charset="-122"/>
                <a:cs typeface="Aptos" pitchFamily="34" charset="-120"/>
              </a:rPr>
              <a:t>C3, K2.</a:t>
            </a:r>
            <a:endParaRPr lang="en-US" sz="1200" dirty="0"/>
          </a:p>
        </p:txBody>
      </p:sp>
      <p:sp>
        <p:nvSpPr>
          <p:cNvPr id="5" name="Shape 3"/>
          <p:cNvSpPr/>
          <p:nvPr/>
        </p:nvSpPr>
        <p:spPr>
          <a:xfrm>
            <a:off x="676656" y="1600200"/>
            <a:ext cx="4892040" cy="914400"/>
          </a:xfrm>
          <a:prstGeom prst="roundRect">
            <a:avLst>
              <a:gd name="adj" fmla="val 12000"/>
            </a:avLst>
          </a:prstGeom>
          <a:solidFill>
            <a:srgbClr val="FFFFFF"/>
          </a:solidFill>
          <a:ln w="15240">
            <a:solidFill>
              <a:srgbClr val="BDD0D8"/>
            </a:solidFill>
            <a:prstDash val="solid"/>
          </a:ln>
        </p:spPr>
      </p:sp>
      <p:sp>
        <p:nvSpPr>
          <p:cNvPr id="6" name="Text 4"/>
          <p:cNvSpPr/>
          <p:nvPr/>
        </p:nvSpPr>
        <p:spPr>
          <a:xfrm>
            <a:off x="905256" y="1737360"/>
            <a:ext cx="4434840" cy="621792"/>
          </a:xfrm>
          <a:prstGeom prst="rect">
            <a:avLst/>
          </a:prstGeom>
          <a:noFill/>
          <a:ln/>
        </p:spPr>
        <p:txBody>
          <a:bodyPr wrap="square" lIns="0" tIns="0" rIns="0" bIns="0" rtlCol="0" anchor="ctr">
            <a:normAutofit/>
          </a:bodyPr>
          <a:lstStyle/>
          <a:p>
            <a:pPr algn="l" indent="0" marL="0">
              <a:buNone/>
            </a:pPr>
            <a:r>
              <a:rPr lang="en-US" sz="2000" dirty="0">
                <a:solidFill>
                  <a:srgbClr val="263442"/>
                </a:solidFill>
                <a:latin typeface="Aptos" pitchFamily="34" charset="0"/>
                <a:ea typeface="Aptos" pitchFamily="34" charset="-122"/>
                <a:cs typeface="Aptos" pitchFamily="34" charset="-120"/>
              </a:rPr>
              <a:t>For i from 0 to n−1</a:t>
            </a:r>
            <a:endParaRPr lang="en-US" sz="2000" dirty="0"/>
          </a:p>
        </p:txBody>
      </p:sp>
      <p:sp>
        <p:nvSpPr>
          <p:cNvPr id="7" name="Shape 5"/>
          <p:cNvSpPr/>
          <p:nvPr/>
        </p:nvSpPr>
        <p:spPr>
          <a:xfrm>
            <a:off x="676656" y="2743200"/>
            <a:ext cx="4892040" cy="914400"/>
          </a:xfrm>
          <a:prstGeom prst="roundRect">
            <a:avLst>
              <a:gd name="adj" fmla="val 12000"/>
            </a:avLst>
          </a:prstGeom>
          <a:solidFill>
            <a:srgbClr val="E8F3F3"/>
          </a:solidFill>
          <a:ln w="15240">
            <a:solidFill>
              <a:srgbClr val="008C95"/>
            </a:solidFill>
            <a:prstDash val="solid"/>
          </a:ln>
        </p:spPr>
      </p:sp>
      <p:sp>
        <p:nvSpPr>
          <p:cNvPr id="8" name="Text 6"/>
          <p:cNvSpPr/>
          <p:nvPr/>
        </p:nvSpPr>
        <p:spPr>
          <a:xfrm>
            <a:off x="905256" y="2880360"/>
            <a:ext cx="4434840" cy="621792"/>
          </a:xfrm>
          <a:prstGeom prst="rect">
            <a:avLst/>
          </a:prstGeom>
          <a:noFill/>
          <a:ln/>
        </p:spPr>
        <p:txBody>
          <a:bodyPr wrap="square" lIns="0" tIns="0" rIns="0" bIns="0" rtlCol="0" anchor="ctr">
            <a:normAutofit/>
          </a:bodyPr>
          <a:lstStyle/>
          <a:p>
            <a:pPr algn="l" indent="0" marL="0">
              <a:buNone/>
            </a:pPr>
            <a:r>
              <a:rPr lang="en-US" sz="2000" b="1" dirty="0">
                <a:solidFill>
                  <a:srgbClr val="263442"/>
                </a:solidFill>
                <a:latin typeface="Aptos" pitchFamily="34" charset="0"/>
                <a:ea typeface="Aptos" pitchFamily="34" charset="-122"/>
                <a:cs typeface="Aptos" pitchFamily="34" charset="-120"/>
              </a:rPr>
              <a:t>If A[i] equals x, return i</a:t>
            </a:r>
            <a:endParaRPr lang="en-US" sz="2000" dirty="0"/>
          </a:p>
        </p:txBody>
      </p:sp>
      <p:sp>
        <p:nvSpPr>
          <p:cNvPr id="9" name="Shape 7"/>
          <p:cNvSpPr/>
          <p:nvPr/>
        </p:nvSpPr>
        <p:spPr>
          <a:xfrm>
            <a:off x="676656" y="3886200"/>
            <a:ext cx="4892040" cy="914400"/>
          </a:xfrm>
          <a:prstGeom prst="roundRect">
            <a:avLst>
              <a:gd name="adj" fmla="val 12000"/>
            </a:avLst>
          </a:prstGeom>
          <a:solidFill>
            <a:srgbClr val="FFFFFF"/>
          </a:solidFill>
          <a:ln w="15240">
            <a:solidFill>
              <a:srgbClr val="BDD0D8"/>
            </a:solidFill>
            <a:prstDash val="solid"/>
          </a:ln>
        </p:spPr>
      </p:sp>
      <p:sp>
        <p:nvSpPr>
          <p:cNvPr id="10" name="Text 8"/>
          <p:cNvSpPr/>
          <p:nvPr/>
        </p:nvSpPr>
        <p:spPr>
          <a:xfrm>
            <a:off x="905256" y="4023360"/>
            <a:ext cx="4434840" cy="621792"/>
          </a:xfrm>
          <a:prstGeom prst="rect">
            <a:avLst/>
          </a:prstGeom>
          <a:noFill/>
          <a:ln/>
        </p:spPr>
        <p:txBody>
          <a:bodyPr wrap="square" lIns="0" tIns="0" rIns="0" bIns="0" rtlCol="0" anchor="ctr">
            <a:normAutofit/>
          </a:bodyPr>
          <a:lstStyle/>
          <a:p>
            <a:pPr algn="l" indent="0" marL="0">
              <a:buNone/>
            </a:pPr>
            <a:r>
              <a:rPr lang="en-US" sz="2000" dirty="0">
                <a:solidFill>
                  <a:srgbClr val="263442"/>
                </a:solidFill>
                <a:latin typeface="Aptos" pitchFamily="34" charset="0"/>
                <a:ea typeface="Aptos" pitchFamily="34" charset="-122"/>
                <a:cs typeface="Aptos" pitchFamily="34" charset="-120"/>
              </a:rPr>
              <a:t>After the loop, return −1</a:t>
            </a:r>
            <a:endParaRPr lang="en-US" sz="2000" dirty="0"/>
          </a:p>
        </p:txBody>
      </p:sp>
      <p:sp>
        <p:nvSpPr>
          <p:cNvPr id="11" name="Shape 9"/>
          <p:cNvSpPr/>
          <p:nvPr/>
        </p:nvSpPr>
        <p:spPr>
          <a:xfrm>
            <a:off x="6172200" y="1828800"/>
            <a:ext cx="4800600" cy="2103120"/>
          </a:xfrm>
          <a:prstGeom prst="roundRect">
            <a:avLst>
              <a:gd name="adj" fmla="val 5217"/>
            </a:avLst>
          </a:prstGeom>
          <a:solidFill>
            <a:srgbClr val="FFFFFF"/>
          </a:solidFill>
          <a:ln w="15240">
            <a:solidFill>
              <a:srgbClr val="BDD0D8"/>
            </a:solidFill>
            <a:prstDash val="solid"/>
          </a:ln>
        </p:spPr>
      </p:sp>
      <p:sp>
        <p:nvSpPr>
          <p:cNvPr id="12" name="Text 10"/>
          <p:cNvSpPr/>
          <p:nvPr/>
        </p:nvSpPr>
        <p:spPr>
          <a:xfrm>
            <a:off x="6409944" y="2075688"/>
            <a:ext cx="4389120" cy="1536192"/>
          </a:xfrm>
          <a:prstGeom prst="rect">
            <a:avLst/>
          </a:prstGeom>
          <a:noFill/>
          <a:ln/>
        </p:spPr>
        <p:txBody>
          <a:bodyPr wrap="square" lIns="0" tIns="0" rIns="0" bIns="0" rtlCol="0" anchor="ctr">
            <a:normAutofit/>
          </a:bodyPr>
          <a:lstStyle/>
          <a:p>
            <a:pPr algn="l" indent="0" marL="0">
              <a:buNone/>
            </a:pPr>
            <a:r>
              <a:rPr lang="en-US" sz="2000" dirty="0">
                <a:solidFill>
                  <a:srgbClr val="263442"/>
                </a:solidFill>
                <a:latin typeface="Consolas" pitchFamily="34" charset="0"/>
                <a:ea typeface="Consolas" pitchFamily="34" charset="-122"/>
                <a:cs typeface="Consolas" pitchFamily="34" charset="-120"/>
              </a:rPr>
              <a:t>for i = 0 … n−1</a:t>
            </a:r>
            <a:endParaRPr lang="en-US" sz="2000" dirty="0"/>
          </a:p>
          <a:p>
            <a:pPr algn="l" indent="0" marL="0">
              <a:buNone/>
            </a:pPr>
            <a:r>
              <a:rPr lang="en-US" sz="2000" dirty="0">
                <a:solidFill>
                  <a:srgbClr val="263442"/>
                </a:solidFill>
                <a:latin typeface="Consolas" pitchFamily="34" charset="0"/>
                <a:ea typeface="Consolas" pitchFamily="34" charset="-122"/>
                <a:cs typeface="Consolas" pitchFamily="34" charset="-120"/>
              </a:rPr>
              <a:t>    if A[i] == x: return i</a:t>
            </a:r>
            <a:endParaRPr lang="en-US" sz="2000" dirty="0"/>
          </a:p>
          <a:p>
            <a:pPr algn="l" indent="0" marL="0">
              <a:buNone/>
            </a:pPr>
            <a:r>
              <a:rPr lang="en-US" sz="2000" dirty="0">
                <a:solidFill>
                  <a:srgbClr val="263442"/>
                </a:solidFill>
                <a:latin typeface="Consolas" pitchFamily="34" charset="0"/>
                <a:ea typeface="Consolas" pitchFamily="34" charset="-122"/>
                <a:cs typeface="Consolas" pitchFamily="34" charset="-120"/>
              </a:rPr>
              <a:t>return −1</a:t>
            </a:r>
            <a:endParaRPr lang="en-US" sz="2000" dirty="0"/>
          </a:p>
        </p:txBody>
      </p:sp>
      <p:sp>
        <p:nvSpPr>
          <p:cNvPr id="13" name="Shape 11"/>
          <p:cNvSpPr/>
          <p:nvPr/>
        </p:nvSpPr>
        <p:spPr>
          <a:xfrm>
            <a:off x="6172200" y="4251960"/>
            <a:ext cx="1143000" cy="658368"/>
          </a:xfrm>
          <a:prstGeom prst="rect">
            <a:avLst/>
          </a:prstGeom>
          <a:solidFill>
            <a:srgbClr val="FFFFFF"/>
          </a:solidFill>
          <a:ln w="15240">
            <a:solidFill>
              <a:srgbClr val="BDD0D8"/>
            </a:solidFill>
            <a:prstDash val="solid"/>
          </a:ln>
        </p:spPr>
      </p:sp>
      <p:sp>
        <p:nvSpPr>
          <p:cNvPr id="14" name="Text 12"/>
          <p:cNvSpPr/>
          <p:nvPr/>
        </p:nvSpPr>
        <p:spPr>
          <a:xfrm>
            <a:off x="6172200" y="4352544"/>
            <a:ext cx="1143000" cy="320040"/>
          </a:xfrm>
          <a:prstGeom prst="rect">
            <a:avLst/>
          </a:prstGeom>
          <a:noFill/>
          <a:ln/>
        </p:spPr>
        <p:txBody>
          <a:bodyPr wrap="square" lIns="0" tIns="0" rIns="0" bIns="0" rtlCol="0" anchor="ctr">
            <a:normAutofit/>
          </a:bodyPr>
          <a:lstStyle/>
          <a:p>
            <a:pPr algn="ctr" indent="0" marL="0">
              <a:buNone/>
            </a:pPr>
            <a:r>
              <a:rPr lang="en-US" sz="2000" dirty="0">
                <a:solidFill>
                  <a:srgbClr val="263442"/>
                </a:solidFill>
                <a:latin typeface="Aptos" pitchFamily="34" charset="0"/>
                <a:ea typeface="Aptos" pitchFamily="34" charset="-122"/>
                <a:cs typeface="Aptos" pitchFamily="34" charset="-120"/>
              </a:rPr>
              <a:t>9</a:t>
            </a:r>
            <a:endParaRPr lang="en-US" sz="2000" dirty="0"/>
          </a:p>
        </p:txBody>
      </p:sp>
      <p:sp>
        <p:nvSpPr>
          <p:cNvPr id="15" name="Text 13"/>
          <p:cNvSpPr/>
          <p:nvPr/>
        </p:nvSpPr>
        <p:spPr>
          <a:xfrm>
            <a:off x="6172200" y="4709160"/>
            <a:ext cx="1143000" cy="155448"/>
          </a:xfrm>
          <a:prstGeom prst="rect">
            <a:avLst/>
          </a:prstGeom>
          <a:noFill/>
          <a:ln/>
        </p:spPr>
        <p:txBody>
          <a:bodyPr wrap="square" lIns="0" tIns="0" rIns="0" bIns="0" rtlCol="0" anchor="ctr">
            <a:normAutofit/>
          </a:bodyPr>
          <a:lstStyle/>
          <a:p>
            <a:pPr algn="ctr" indent="0" marL="0">
              <a:buNone/>
            </a:pPr>
            <a:r>
              <a:rPr lang="en-US" sz="1100" dirty="0">
                <a:solidFill>
                  <a:srgbClr val="607483"/>
                </a:solidFill>
                <a:latin typeface="Aptos" pitchFamily="34" charset="0"/>
                <a:ea typeface="Aptos" pitchFamily="34" charset="-122"/>
                <a:cs typeface="Aptos" pitchFamily="34" charset="-120"/>
              </a:rPr>
              <a:t>0</a:t>
            </a:r>
            <a:endParaRPr lang="en-US" sz="1100" dirty="0"/>
          </a:p>
        </p:txBody>
      </p:sp>
      <p:sp>
        <p:nvSpPr>
          <p:cNvPr id="16" name="Shape 14"/>
          <p:cNvSpPr/>
          <p:nvPr/>
        </p:nvSpPr>
        <p:spPr>
          <a:xfrm>
            <a:off x="7360920" y="4251960"/>
            <a:ext cx="1143000" cy="658368"/>
          </a:xfrm>
          <a:prstGeom prst="rect">
            <a:avLst/>
          </a:prstGeom>
          <a:solidFill>
            <a:srgbClr val="E8F3F3"/>
          </a:solidFill>
          <a:ln w="15240">
            <a:solidFill>
              <a:srgbClr val="008C95"/>
            </a:solidFill>
            <a:prstDash val="solid"/>
          </a:ln>
        </p:spPr>
      </p:sp>
      <p:sp>
        <p:nvSpPr>
          <p:cNvPr id="17" name="Text 15"/>
          <p:cNvSpPr/>
          <p:nvPr/>
        </p:nvSpPr>
        <p:spPr>
          <a:xfrm>
            <a:off x="7360920" y="4352544"/>
            <a:ext cx="1143000" cy="320040"/>
          </a:xfrm>
          <a:prstGeom prst="rect">
            <a:avLst/>
          </a:prstGeom>
          <a:noFill/>
          <a:ln/>
        </p:spPr>
        <p:txBody>
          <a:bodyPr wrap="square" lIns="0" tIns="0" rIns="0" bIns="0" rtlCol="0" anchor="ctr">
            <a:normAutofit/>
          </a:bodyPr>
          <a:lstStyle/>
          <a:p>
            <a:pPr algn="ctr" indent="0" marL="0">
              <a:buNone/>
            </a:pPr>
            <a:r>
              <a:rPr lang="en-US" sz="2000" b="1" dirty="0">
                <a:solidFill>
                  <a:srgbClr val="263442"/>
                </a:solidFill>
                <a:latin typeface="Aptos" pitchFamily="34" charset="0"/>
                <a:ea typeface="Aptos" pitchFamily="34" charset="-122"/>
                <a:cs typeface="Aptos" pitchFamily="34" charset="-120"/>
              </a:rPr>
              <a:t>4</a:t>
            </a:r>
            <a:endParaRPr lang="en-US" sz="2000" dirty="0"/>
          </a:p>
        </p:txBody>
      </p:sp>
      <p:sp>
        <p:nvSpPr>
          <p:cNvPr id="18" name="Text 16"/>
          <p:cNvSpPr/>
          <p:nvPr/>
        </p:nvSpPr>
        <p:spPr>
          <a:xfrm>
            <a:off x="7360920" y="4709160"/>
            <a:ext cx="1143000" cy="155448"/>
          </a:xfrm>
          <a:prstGeom prst="rect">
            <a:avLst/>
          </a:prstGeom>
          <a:noFill/>
          <a:ln/>
        </p:spPr>
        <p:txBody>
          <a:bodyPr wrap="square" lIns="0" tIns="0" rIns="0" bIns="0" rtlCol="0" anchor="ctr">
            <a:normAutofit/>
          </a:bodyPr>
          <a:lstStyle/>
          <a:p>
            <a:pPr algn="ctr" indent="0" marL="0">
              <a:buNone/>
            </a:pPr>
            <a:r>
              <a:rPr lang="en-US" sz="1100" dirty="0">
                <a:solidFill>
                  <a:srgbClr val="607483"/>
                </a:solidFill>
                <a:latin typeface="Aptos" pitchFamily="34" charset="0"/>
                <a:ea typeface="Aptos" pitchFamily="34" charset="-122"/>
                <a:cs typeface="Aptos" pitchFamily="34" charset="-120"/>
              </a:rPr>
              <a:t>1</a:t>
            </a:r>
            <a:endParaRPr lang="en-US" sz="1100" dirty="0"/>
          </a:p>
        </p:txBody>
      </p:sp>
      <p:sp>
        <p:nvSpPr>
          <p:cNvPr id="19" name="Shape 17"/>
          <p:cNvSpPr/>
          <p:nvPr/>
        </p:nvSpPr>
        <p:spPr>
          <a:xfrm>
            <a:off x="8549640" y="4251960"/>
            <a:ext cx="1143000" cy="658368"/>
          </a:xfrm>
          <a:prstGeom prst="rect">
            <a:avLst/>
          </a:prstGeom>
          <a:solidFill>
            <a:srgbClr val="FFFFFF"/>
          </a:solidFill>
          <a:ln w="15240">
            <a:solidFill>
              <a:srgbClr val="BDD0D8"/>
            </a:solidFill>
            <a:prstDash val="solid"/>
          </a:ln>
        </p:spPr>
      </p:sp>
      <p:sp>
        <p:nvSpPr>
          <p:cNvPr id="20" name="Text 18"/>
          <p:cNvSpPr/>
          <p:nvPr/>
        </p:nvSpPr>
        <p:spPr>
          <a:xfrm>
            <a:off x="8549640" y="4352544"/>
            <a:ext cx="1143000" cy="320040"/>
          </a:xfrm>
          <a:prstGeom prst="rect">
            <a:avLst/>
          </a:prstGeom>
          <a:noFill/>
          <a:ln/>
        </p:spPr>
        <p:txBody>
          <a:bodyPr wrap="square" lIns="0" tIns="0" rIns="0" bIns="0" rtlCol="0" anchor="ctr">
            <a:normAutofit/>
          </a:bodyPr>
          <a:lstStyle/>
          <a:p>
            <a:pPr algn="ctr" indent="0" marL="0">
              <a:buNone/>
            </a:pPr>
            <a:r>
              <a:rPr lang="en-US" sz="2000" dirty="0">
                <a:solidFill>
                  <a:srgbClr val="263442"/>
                </a:solidFill>
                <a:latin typeface="Aptos" pitchFamily="34" charset="0"/>
                <a:ea typeface="Aptos" pitchFamily="34" charset="-122"/>
                <a:cs typeface="Aptos" pitchFamily="34" charset="-120"/>
              </a:rPr>
              <a:t>4</a:t>
            </a:r>
            <a:endParaRPr lang="en-US" sz="2000" dirty="0"/>
          </a:p>
        </p:txBody>
      </p:sp>
      <p:sp>
        <p:nvSpPr>
          <p:cNvPr id="21" name="Text 19"/>
          <p:cNvSpPr/>
          <p:nvPr/>
        </p:nvSpPr>
        <p:spPr>
          <a:xfrm>
            <a:off x="8549640" y="4709160"/>
            <a:ext cx="1143000" cy="155448"/>
          </a:xfrm>
          <a:prstGeom prst="rect">
            <a:avLst/>
          </a:prstGeom>
          <a:noFill/>
          <a:ln/>
        </p:spPr>
        <p:txBody>
          <a:bodyPr wrap="square" lIns="0" tIns="0" rIns="0" bIns="0" rtlCol="0" anchor="ctr">
            <a:normAutofit/>
          </a:bodyPr>
          <a:lstStyle/>
          <a:p>
            <a:pPr algn="ctr" indent="0" marL="0">
              <a:buNone/>
            </a:pPr>
            <a:r>
              <a:rPr lang="en-US" sz="1100" dirty="0">
                <a:solidFill>
                  <a:srgbClr val="607483"/>
                </a:solidFill>
                <a:latin typeface="Aptos" pitchFamily="34" charset="0"/>
                <a:ea typeface="Aptos" pitchFamily="34" charset="-122"/>
                <a:cs typeface="Aptos" pitchFamily="34" charset="-120"/>
              </a:rPr>
              <a:t>2</a:t>
            </a:r>
            <a:endParaRPr lang="en-US" sz="1100" dirty="0"/>
          </a:p>
        </p:txBody>
      </p:sp>
      <p:sp>
        <p:nvSpPr>
          <p:cNvPr id="22" name="Shape 20"/>
          <p:cNvSpPr/>
          <p:nvPr/>
        </p:nvSpPr>
        <p:spPr>
          <a:xfrm>
            <a:off x="9738360" y="4251960"/>
            <a:ext cx="1143000" cy="658368"/>
          </a:xfrm>
          <a:prstGeom prst="rect">
            <a:avLst/>
          </a:prstGeom>
          <a:solidFill>
            <a:srgbClr val="FFFFFF"/>
          </a:solidFill>
          <a:ln w="15240">
            <a:solidFill>
              <a:srgbClr val="BDD0D8"/>
            </a:solidFill>
            <a:prstDash val="solid"/>
          </a:ln>
        </p:spPr>
      </p:sp>
      <p:sp>
        <p:nvSpPr>
          <p:cNvPr id="23" name="Text 21"/>
          <p:cNvSpPr/>
          <p:nvPr/>
        </p:nvSpPr>
        <p:spPr>
          <a:xfrm>
            <a:off x="9738360" y="4352544"/>
            <a:ext cx="1143000" cy="320040"/>
          </a:xfrm>
          <a:prstGeom prst="rect">
            <a:avLst/>
          </a:prstGeom>
          <a:noFill/>
          <a:ln/>
        </p:spPr>
        <p:txBody>
          <a:bodyPr wrap="square" lIns="0" tIns="0" rIns="0" bIns="0" rtlCol="0" anchor="ctr">
            <a:normAutofit/>
          </a:bodyPr>
          <a:lstStyle/>
          <a:p>
            <a:pPr algn="ctr" indent="0" marL="0">
              <a:buNone/>
            </a:pPr>
            <a:r>
              <a:rPr lang="en-US" sz="2000" dirty="0">
                <a:solidFill>
                  <a:srgbClr val="263442"/>
                </a:solidFill>
                <a:latin typeface="Aptos" pitchFamily="34" charset="0"/>
                <a:ea typeface="Aptos" pitchFamily="34" charset="-122"/>
                <a:cs typeface="Aptos" pitchFamily="34" charset="-120"/>
              </a:rPr>
              <a:t>1</a:t>
            </a:r>
            <a:endParaRPr lang="en-US" sz="2000" dirty="0"/>
          </a:p>
        </p:txBody>
      </p:sp>
      <p:sp>
        <p:nvSpPr>
          <p:cNvPr id="24" name="Text 22"/>
          <p:cNvSpPr/>
          <p:nvPr/>
        </p:nvSpPr>
        <p:spPr>
          <a:xfrm>
            <a:off x="9738360" y="4709160"/>
            <a:ext cx="1143000" cy="155448"/>
          </a:xfrm>
          <a:prstGeom prst="rect">
            <a:avLst/>
          </a:prstGeom>
          <a:noFill/>
          <a:ln/>
        </p:spPr>
        <p:txBody>
          <a:bodyPr wrap="square" lIns="0" tIns="0" rIns="0" bIns="0" rtlCol="0" anchor="ctr">
            <a:normAutofit/>
          </a:bodyPr>
          <a:lstStyle/>
          <a:p>
            <a:pPr algn="ctr" indent="0" marL="0">
              <a:buNone/>
            </a:pPr>
            <a:r>
              <a:rPr lang="en-US" sz="1100" dirty="0">
                <a:solidFill>
                  <a:srgbClr val="607483"/>
                </a:solidFill>
                <a:latin typeface="Aptos" pitchFamily="34" charset="0"/>
                <a:ea typeface="Aptos" pitchFamily="34" charset="-122"/>
                <a:cs typeface="Aptos" pitchFamily="34" charset="-120"/>
              </a:rPr>
              <a:t>3</a:t>
            </a:r>
            <a:endParaRPr lang="en-US" sz="1100" dirty="0"/>
          </a:p>
        </p:txBody>
      </p:sp>
      <p:sp>
        <p:nvSpPr>
          <p:cNvPr id="25" name="Shape 23"/>
          <p:cNvSpPr/>
          <p:nvPr/>
        </p:nvSpPr>
        <p:spPr>
          <a:xfrm>
            <a:off x="667512" y="6208776"/>
            <a:ext cx="10844784" cy="0"/>
          </a:xfrm>
          <a:prstGeom prst="line">
            <a:avLst/>
          </a:prstGeom>
          <a:noFill/>
          <a:ln w="10160">
            <a:solidFill>
              <a:srgbClr val="BDD0D8"/>
            </a:solidFill>
            <a:prstDash val="solid"/>
          </a:ln>
        </p:spPr>
      </p:sp>
      <p:sp>
        <p:nvSpPr>
          <p:cNvPr id="26" name="Text 24"/>
          <p:cNvSpPr/>
          <p:nvPr/>
        </p:nvSpPr>
        <p:spPr>
          <a:xfrm>
            <a:off x="667512" y="6355080"/>
            <a:ext cx="1828800" cy="228600"/>
          </a:xfrm>
          <a:prstGeom prst="rect">
            <a:avLst/>
          </a:prstGeom>
          <a:noFill/>
          <a:ln/>
        </p:spPr>
        <p:txBody>
          <a:bodyPr wrap="square" lIns="0" tIns="0" rIns="0" bIns="0" rtlCol="0" anchor="ctr">
            <a:normAutofit/>
          </a:bodyPr>
          <a:lstStyle/>
          <a:p>
            <a:pPr algn="l" indent="0" marL="0">
              <a:buNone/>
            </a:pPr>
            <a:r>
              <a:rPr lang="en-US" sz="1000" dirty="0">
                <a:solidFill>
                  <a:srgbClr val="607483"/>
                </a:solidFill>
                <a:latin typeface="Aptos" pitchFamily="34" charset="0"/>
                <a:ea typeface="Aptos" pitchFamily="34" charset="-122"/>
                <a:cs typeface="Aptos" pitchFamily="34" charset="-120"/>
              </a:rPr>
              <a:t>M12 · S01</a:t>
            </a:r>
            <a:endParaRPr lang="en-US" sz="1000" dirty="0"/>
          </a:p>
        </p:txBody>
      </p:sp>
      <p:sp>
        <p:nvSpPr>
          <p:cNvPr id="27" name="Text 25"/>
          <p:cNvSpPr/>
          <p:nvPr/>
        </p:nvSpPr>
        <p:spPr>
          <a:xfrm>
            <a:off x="10607040" y="6355080"/>
            <a:ext cx="914400" cy="228600"/>
          </a:xfrm>
          <a:prstGeom prst="rect">
            <a:avLst/>
          </a:prstGeom>
          <a:noFill/>
          <a:ln/>
        </p:spPr>
        <p:txBody>
          <a:bodyPr wrap="square" lIns="0" tIns="0" rIns="0" bIns="0" rtlCol="0" anchor="ctr">
            <a:normAutofit/>
          </a:bodyPr>
          <a:lstStyle/>
          <a:p>
            <a:pPr algn="r" indent="0" marL="0">
              <a:buNone/>
            </a:pPr>
            <a:r>
              <a:rPr lang="en-US" sz="1000" dirty="0">
                <a:solidFill>
                  <a:srgbClr val="607483"/>
                </a:solidFill>
                <a:latin typeface="Aptos" pitchFamily="34" charset="0"/>
                <a:ea typeface="Aptos" pitchFamily="34" charset="-122"/>
                <a:cs typeface="Aptos" pitchFamily="34" charset="-120"/>
              </a:rPr>
              <a:t>06 / 16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08C95"/>
          </a:solidFill>
          <a:ln w="12700">
            <a:solidFill>
              <a:srgbClr val="008C95"/>
            </a:solidFill>
            <a:prstDash val="solid"/>
          </a:ln>
        </p:spPr>
      </p:sp>
      <p:sp>
        <p:nvSpPr>
          <p:cNvPr id="3" name="Text 1"/>
          <p:cNvSpPr/>
          <p:nvPr/>
        </p:nvSpPr>
        <p:spPr>
          <a:xfrm>
            <a:off x="640080" y="384048"/>
            <a:ext cx="10881360" cy="566928"/>
          </a:xfrm>
          <a:prstGeom prst="rect">
            <a:avLst/>
          </a:prstGeom>
          <a:noFill/>
          <a:ln/>
        </p:spPr>
        <p:txBody>
          <a:bodyPr wrap="square" lIns="0" tIns="0" rIns="0" bIns="0" rtlCol="0" anchor="ctr">
            <a:normAutofit/>
          </a:bodyPr>
          <a:lstStyle/>
          <a:p>
            <a:pPr algn="l" indent="0" marL="0">
              <a:buNone/>
            </a:pPr>
            <a:r>
              <a:rPr lang="en-US" sz="3000" b="1" dirty="0">
                <a:solidFill>
                  <a:srgbClr val="17324D"/>
                </a:solidFill>
                <a:latin typeface="Aptos" pitchFamily="34" charset="0"/>
                <a:ea typeface="Aptos" pitchFamily="34" charset="-122"/>
                <a:cs typeface="Aptos" pitchFamily="34" charset="-120"/>
              </a:rPr>
              <a:t>Search invariant</a:t>
            </a:r>
            <a:endParaRPr lang="en-US" sz="3000" dirty="0"/>
          </a:p>
        </p:txBody>
      </p:sp>
      <p:sp>
        <p:nvSpPr>
          <p:cNvPr id="4" name="Text 2"/>
          <p:cNvSpPr/>
          <p:nvPr/>
        </p:nvSpPr>
        <p:spPr>
          <a:xfrm>
            <a:off x="676656" y="1024128"/>
            <a:ext cx="9875520" cy="265176"/>
          </a:xfrm>
          <a:prstGeom prst="rect">
            <a:avLst/>
          </a:prstGeom>
          <a:noFill/>
          <a:ln/>
        </p:spPr>
        <p:txBody>
          <a:bodyPr wrap="square" lIns="0" tIns="0" rIns="0" bIns="0" rtlCol="0" anchor="ctr">
            <a:normAutofit/>
          </a:bodyPr>
          <a:lstStyle/>
          <a:p>
            <a:pPr algn="l" indent="0" marL="0">
              <a:buNone/>
            </a:pPr>
            <a:r>
              <a:rPr lang="en-US" sz="1200" b="1" dirty="0">
                <a:solidFill>
                  <a:srgbClr val="008C95"/>
                </a:solidFill>
                <a:latin typeface="Aptos" pitchFamily="34" charset="0"/>
                <a:ea typeface="Aptos" pitchFamily="34" charset="-122"/>
                <a:cs typeface="Aptos" pitchFamily="34" charset="-120"/>
              </a:rPr>
              <a:t>C3.</a:t>
            </a:r>
            <a:endParaRPr lang="en-US" sz="1200" dirty="0"/>
          </a:p>
        </p:txBody>
      </p:sp>
      <p:sp>
        <p:nvSpPr>
          <p:cNvPr id="5" name="Shape 3"/>
          <p:cNvSpPr/>
          <p:nvPr/>
        </p:nvSpPr>
        <p:spPr>
          <a:xfrm>
            <a:off x="676656" y="1600200"/>
            <a:ext cx="4892040" cy="914400"/>
          </a:xfrm>
          <a:prstGeom prst="roundRect">
            <a:avLst>
              <a:gd name="adj" fmla="val 12000"/>
            </a:avLst>
          </a:prstGeom>
          <a:solidFill>
            <a:srgbClr val="FFFFFF"/>
          </a:solidFill>
          <a:ln w="15240">
            <a:solidFill>
              <a:srgbClr val="BDD0D8"/>
            </a:solidFill>
            <a:prstDash val="solid"/>
          </a:ln>
        </p:spPr>
      </p:sp>
      <p:sp>
        <p:nvSpPr>
          <p:cNvPr id="6" name="Text 4"/>
          <p:cNvSpPr/>
          <p:nvPr/>
        </p:nvSpPr>
        <p:spPr>
          <a:xfrm>
            <a:off x="905256" y="1737360"/>
            <a:ext cx="4434840" cy="621792"/>
          </a:xfrm>
          <a:prstGeom prst="rect">
            <a:avLst/>
          </a:prstGeom>
          <a:noFill/>
          <a:ln/>
        </p:spPr>
        <p:txBody>
          <a:bodyPr wrap="square" lIns="0" tIns="0" rIns="0" bIns="0" rtlCol="0" anchor="ctr">
            <a:normAutofit/>
          </a:bodyPr>
          <a:lstStyle/>
          <a:p>
            <a:pPr algn="l" indent="0" marL="0">
              <a:buNone/>
            </a:pPr>
            <a:r>
              <a:rPr lang="en-US" sz="2000" dirty="0">
                <a:solidFill>
                  <a:srgbClr val="263442"/>
                </a:solidFill>
                <a:latin typeface="Aptos" pitchFamily="34" charset="0"/>
                <a:ea typeface="Aptos" pitchFamily="34" charset="-122"/>
                <a:cs typeface="Aptos" pitchFamily="34" charset="-120"/>
              </a:rPr>
              <a:t>Before index i: no earlier index matches x</a:t>
            </a:r>
            <a:endParaRPr lang="en-US" sz="2000" dirty="0"/>
          </a:p>
        </p:txBody>
      </p:sp>
      <p:sp>
        <p:nvSpPr>
          <p:cNvPr id="7" name="Shape 5"/>
          <p:cNvSpPr/>
          <p:nvPr/>
        </p:nvSpPr>
        <p:spPr>
          <a:xfrm>
            <a:off x="676656" y="2743200"/>
            <a:ext cx="4892040" cy="914400"/>
          </a:xfrm>
          <a:prstGeom prst="roundRect">
            <a:avLst>
              <a:gd name="adj" fmla="val 12000"/>
            </a:avLst>
          </a:prstGeom>
          <a:solidFill>
            <a:srgbClr val="E8F3F3"/>
          </a:solidFill>
          <a:ln w="15240">
            <a:solidFill>
              <a:srgbClr val="008C95"/>
            </a:solidFill>
            <a:prstDash val="solid"/>
          </a:ln>
        </p:spPr>
      </p:sp>
      <p:sp>
        <p:nvSpPr>
          <p:cNvPr id="8" name="Text 6"/>
          <p:cNvSpPr/>
          <p:nvPr/>
        </p:nvSpPr>
        <p:spPr>
          <a:xfrm>
            <a:off x="905256" y="2880360"/>
            <a:ext cx="4434840" cy="621792"/>
          </a:xfrm>
          <a:prstGeom prst="rect">
            <a:avLst/>
          </a:prstGeom>
          <a:noFill/>
          <a:ln/>
        </p:spPr>
        <p:txBody>
          <a:bodyPr wrap="square" lIns="0" tIns="0" rIns="0" bIns="0" rtlCol="0" anchor="ctr">
            <a:normAutofit/>
          </a:bodyPr>
          <a:lstStyle/>
          <a:p>
            <a:pPr algn="l" indent="0" marL="0">
              <a:buNone/>
            </a:pPr>
            <a:r>
              <a:rPr lang="en-US" sz="2000" b="1" dirty="0">
                <a:solidFill>
                  <a:srgbClr val="263442"/>
                </a:solidFill>
                <a:latin typeface="Aptos" pitchFamily="34" charset="0"/>
                <a:ea typeface="Aptos" pitchFamily="34" charset="-122"/>
                <a:cs typeface="Aptos" pitchFamily="34" charset="-120"/>
              </a:rPr>
              <a:t>Failed comparison extends the checked prefix</a:t>
            </a:r>
            <a:endParaRPr lang="en-US" sz="2000" dirty="0"/>
          </a:p>
        </p:txBody>
      </p:sp>
      <p:sp>
        <p:nvSpPr>
          <p:cNvPr id="9" name="Shape 7"/>
          <p:cNvSpPr/>
          <p:nvPr/>
        </p:nvSpPr>
        <p:spPr>
          <a:xfrm>
            <a:off x="676656" y="3886200"/>
            <a:ext cx="4892040" cy="914400"/>
          </a:xfrm>
          <a:prstGeom prst="roundRect">
            <a:avLst>
              <a:gd name="adj" fmla="val 12000"/>
            </a:avLst>
          </a:prstGeom>
          <a:solidFill>
            <a:srgbClr val="FFFFFF"/>
          </a:solidFill>
          <a:ln w="15240">
            <a:solidFill>
              <a:srgbClr val="BDD0D8"/>
            </a:solidFill>
            <a:prstDash val="solid"/>
          </a:ln>
        </p:spPr>
      </p:sp>
      <p:sp>
        <p:nvSpPr>
          <p:cNvPr id="10" name="Text 8"/>
          <p:cNvSpPr/>
          <p:nvPr/>
        </p:nvSpPr>
        <p:spPr>
          <a:xfrm>
            <a:off x="905256" y="4023360"/>
            <a:ext cx="4434840" cy="621792"/>
          </a:xfrm>
          <a:prstGeom prst="rect">
            <a:avLst/>
          </a:prstGeom>
          <a:noFill/>
          <a:ln/>
        </p:spPr>
        <p:txBody>
          <a:bodyPr wrap="square" lIns="0" tIns="0" rIns="0" bIns="0" rtlCol="0" anchor="ctr">
            <a:normAutofit/>
          </a:bodyPr>
          <a:lstStyle/>
          <a:p>
            <a:pPr algn="l" indent="0" marL="0">
              <a:buNone/>
            </a:pPr>
            <a:r>
              <a:rPr lang="en-US" sz="2000" dirty="0">
                <a:solidFill>
                  <a:srgbClr val="263442"/>
                </a:solidFill>
                <a:latin typeface="Aptos" pitchFamily="34" charset="0"/>
                <a:ea typeface="Aptos" pitchFamily="34" charset="-122"/>
                <a:cs typeface="Aptos" pitchFamily="34" charset="-120"/>
              </a:rPr>
              <a:t>Match or exhaustion establishes the result</a:t>
            </a:r>
            <a:endParaRPr lang="en-US" sz="2000" dirty="0"/>
          </a:p>
        </p:txBody>
      </p:sp>
      <p:sp>
        <p:nvSpPr>
          <p:cNvPr id="11" name="Shape 9"/>
          <p:cNvSpPr/>
          <p:nvPr/>
        </p:nvSpPr>
        <p:spPr>
          <a:xfrm>
            <a:off x="6172200" y="2148840"/>
            <a:ext cx="1143000" cy="658368"/>
          </a:xfrm>
          <a:prstGeom prst="rect">
            <a:avLst/>
          </a:prstGeom>
          <a:solidFill>
            <a:srgbClr val="FFFFFF"/>
          </a:solidFill>
          <a:ln w="15240">
            <a:solidFill>
              <a:srgbClr val="BDD0D8"/>
            </a:solidFill>
            <a:prstDash val="solid"/>
          </a:ln>
        </p:spPr>
      </p:sp>
      <p:sp>
        <p:nvSpPr>
          <p:cNvPr id="12" name="Text 10"/>
          <p:cNvSpPr/>
          <p:nvPr/>
        </p:nvSpPr>
        <p:spPr>
          <a:xfrm>
            <a:off x="6172200" y="2249424"/>
            <a:ext cx="1143000" cy="320040"/>
          </a:xfrm>
          <a:prstGeom prst="rect">
            <a:avLst/>
          </a:prstGeom>
          <a:noFill/>
          <a:ln/>
        </p:spPr>
        <p:txBody>
          <a:bodyPr wrap="square" lIns="0" tIns="0" rIns="0" bIns="0" rtlCol="0" anchor="ctr">
            <a:normAutofit/>
          </a:bodyPr>
          <a:lstStyle/>
          <a:p>
            <a:pPr algn="ctr" indent="0" marL="0">
              <a:buNone/>
            </a:pPr>
            <a:r>
              <a:rPr lang="en-US" sz="2000" dirty="0">
                <a:solidFill>
                  <a:srgbClr val="263442"/>
                </a:solidFill>
                <a:latin typeface="Aptos" pitchFamily="34" charset="0"/>
                <a:ea typeface="Aptos" pitchFamily="34" charset="-122"/>
                <a:cs typeface="Aptos" pitchFamily="34" charset="-120"/>
              </a:rPr>
              <a:t>9</a:t>
            </a:r>
            <a:endParaRPr lang="en-US" sz="2000" dirty="0"/>
          </a:p>
        </p:txBody>
      </p:sp>
      <p:sp>
        <p:nvSpPr>
          <p:cNvPr id="13" name="Text 11"/>
          <p:cNvSpPr/>
          <p:nvPr/>
        </p:nvSpPr>
        <p:spPr>
          <a:xfrm>
            <a:off x="6172200" y="2606040"/>
            <a:ext cx="1143000" cy="155448"/>
          </a:xfrm>
          <a:prstGeom prst="rect">
            <a:avLst/>
          </a:prstGeom>
          <a:noFill/>
          <a:ln/>
        </p:spPr>
        <p:txBody>
          <a:bodyPr wrap="square" lIns="0" tIns="0" rIns="0" bIns="0" rtlCol="0" anchor="ctr">
            <a:normAutofit/>
          </a:bodyPr>
          <a:lstStyle/>
          <a:p>
            <a:pPr algn="ctr" indent="0" marL="0">
              <a:buNone/>
            </a:pPr>
            <a:r>
              <a:rPr lang="en-US" sz="1100" dirty="0">
                <a:solidFill>
                  <a:srgbClr val="607483"/>
                </a:solidFill>
                <a:latin typeface="Aptos" pitchFamily="34" charset="0"/>
                <a:ea typeface="Aptos" pitchFamily="34" charset="-122"/>
                <a:cs typeface="Aptos" pitchFamily="34" charset="-120"/>
              </a:rPr>
              <a:t>0</a:t>
            </a:r>
            <a:endParaRPr lang="en-US" sz="1100" dirty="0"/>
          </a:p>
        </p:txBody>
      </p:sp>
      <p:sp>
        <p:nvSpPr>
          <p:cNvPr id="14" name="Shape 12"/>
          <p:cNvSpPr/>
          <p:nvPr/>
        </p:nvSpPr>
        <p:spPr>
          <a:xfrm>
            <a:off x="7360920" y="2148840"/>
            <a:ext cx="1143000" cy="658368"/>
          </a:xfrm>
          <a:prstGeom prst="rect">
            <a:avLst/>
          </a:prstGeom>
          <a:solidFill>
            <a:srgbClr val="E8F3F3"/>
          </a:solidFill>
          <a:ln w="15240">
            <a:solidFill>
              <a:srgbClr val="008C95"/>
            </a:solidFill>
            <a:prstDash val="solid"/>
          </a:ln>
        </p:spPr>
      </p:sp>
      <p:sp>
        <p:nvSpPr>
          <p:cNvPr id="15" name="Text 13"/>
          <p:cNvSpPr/>
          <p:nvPr/>
        </p:nvSpPr>
        <p:spPr>
          <a:xfrm>
            <a:off x="7360920" y="2249424"/>
            <a:ext cx="1143000" cy="320040"/>
          </a:xfrm>
          <a:prstGeom prst="rect">
            <a:avLst/>
          </a:prstGeom>
          <a:noFill/>
          <a:ln/>
        </p:spPr>
        <p:txBody>
          <a:bodyPr wrap="square" lIns="0" tIns="0" rIns="0" bIns="0" rtlCol="0" anchor="ctr">
            <a:normAutofit/>
          </a:bodyPr>
          <a:lstStyle/>
          <a:p>
            <a:pPr algn="ctr" indent="0" marL="0">
              <a:buNone/>
            </a:pPr>
            <a:r>
              <a:rPr lang="en-US" sz="2000" b="1" dirty="0">
                <a:solidFill>
                  <a:srgbClr val="263442"/>
                </a:solidFill>
                <a:latin typeface="Aptos" pitchFamily="34" charset="0"/>
                <a:ea typeface="Aptos" pitchFamily="34" charset="-122"/>
                <a:cs typeface="Aptos" pitchFamily="34" charset="-120"/>
              </a:rPr>
              <a:t>4</a:t>
            </a:r>
            <a:endParaRPr lang="en-US" sz="2000" dirty="0"/>
          </a:p>
        </p:txBody>
      </p:sp>
      <p:sp>
        <p:nvSpPr>
          <p:cNvPr id="16" name="Text 14"/>
          <p:cNvSpPr/>
          <p:nvPr/>
        </p:nvSpPr>
        <p:spPr>
          <a:xfrm>
            <a:off x="7360920" y="2606040"/>
            <a:ext cx="1143000" cy="155448"/>
          </a:xfrm>
          <a:prstGeom prst="rect">
            <a:avLst/>
          </a:prstGeom>
          <a:noFill/>
          <a:ln/>
        </p:spPr>
        <p:txBody>
          <a:bodyPr wrap="square" lIns="0" tIns="0" rIns="0" bIns="0" rtlCol="0" anchor="ctr">
            <a:normAutofit/>
          </a:bodyPr>
          <a:lstStyle/>
          <a:p>
            <a:pPr algn="ctr" indent="0" marL="0">
              <a:buNone/>
            </a:pPr>
            <a:r>
              <a:rPr lang="en-US" sz="1100" dirty="0">
                <a:solidFill>
                  <a:srgbClr val="607483"/>
                </a:solidFill>
                <a:latin typeface="Aptos" pitchFamily="34" charset="0"/>
                <a:ea typeface="Aptos" pitchFamily="34" charset="-122"/>
                <a:cs typeface="Aptos" pitchFamily="34" charset="-120"/>
              </a:rPr>
              <a:t>1</a:t>
            </a:r>
            <a:endParaRPr lang="en-US" sz="1100" dirty="0"/>
          </a:p>
        </p:txBody>
      </p:sp>
      <p:sp>
        <p:nvSpPr>
          <p:cNvPr id="17" name="Shape 15"/>
          <p:cNvSpPr/>
          <p:nvPr/>
        </p:nvSpPr>
        <p:spPr>
          <a:xfrm>
            <a:off x="8549640" y="2148840"/>
            <a:ext cx="1143000" cy="658368"/>
          </a:xfrm>
          <a:prstGeom prst="rect">
            <a:avLst/>
          </a:prstGeom>
          <a:solidFill>
            <a:srgbClr val="FFFFFF"/>
          </a:solidFill>
          <a:ln w="15240">
            <a:solidFill>
              <a:srgbClr val="BDD0D8"/>
            </a:solidFill>
            <a:prstDash val="solid"/>
          </a:ln>
        </p:spPr>
      </p:sp>
      <p:sp>
        <p:nvSpPr>
          <p:cNvPr id="18" name="Text 16"/>
          <p:cNvSpPr/>
          <p:nvPr/>
        </p:nvSpPr>
        <p:spPr>
          <a:xfrm>
            <a:off x="8549640" y="2249424"/>
            <a:ext cx="1143000" cy="320040"/>
          </a:xfrm>
          <a:prstGeom prst="rect">
            <a:avLst/>
          </a:prstGeom>
          <a:noFill/>
          <a:ln/>
        </p:spPr>
        <p:txBody>
          <a:bodyPr wrap="square" lIns="0" tIns="0" rIns="0" bIns="0" rtlCol="0" anchor="ctr">
            <a:normAutofit/>
          </a:bodyPr>
          <a:lstStyle/>
          <a:p>
            <a:pPr algn="ctr" indent="0" marL="0">
              <a:buNone/>
            </a:pPr>
            <a:r>
              <a:rPr lang="en-US" sz="2000" dirty="0">
                <a:solidFill>
                  <a:srgbClr val="263442"/>
                </a:solidFill>
                <a:latin typeface="Aptos" pitchFamily="34" charset="0"/>
                <a:ea typeface="Aptos" pitchFamily="34" charset="-122"/>
                <a:cs typeface="Aptos" pitchFamily="34" charset="-120"/>
              </a:rPr>
              <a:t>4</a:t>
            </a:r>
            <a:endParaRPr lang="en-US" sz="2000" dirty="0"/>
          </a:p>
        </p:txBody>
      </p:sp>
      <p:sp>
        <p:nvSpPr>
          <p:cNvPr id="19" name="Text 17"/>
          <p:cNvSpPr/>
          <p:nvPr/>
        </p:nvSpPr>
        <p:spPr>
          <a:xfrm>
            <a:off x="8549640" y="2606040"/>
            <a:ext cx="1143000" cy="155448"/>
          </a:xfrm>
          <a:prstGeom prst="rect">
            <a:avLst/>
          </a:prstGeom>
          <a:noFill/>
          <a:ln/>
        </p:spPr>
        <p:txBody>
          <a:bodyPr wrap="square" lIns="0" tIns="0" rIns="0" bIns="0" rtlCol="0" anchor="ctr">
            <a:normAutofit/>
          </a:bodyPr>
          <a:lstStyle/>
          <a:p>
            <a:pPr algn="ctr" indent="0" marL="0">
              <a:buNone/>
            </a:pPr>
            <a:r>
              <a:rPr lang="en-US" sz="1100" dirty="0">
                <a:solidFill>
                  <a:srgbClr val="607483"/>
                </a:solidFill>
                <a:latin typeface="Aptos" pitchFamily="34" charset="0"/>
                <a:ea typeface="Aptos" pitchFamily="34" charset="-122"/>
                <a:cs typeface="Aptos" pitchFamily="34" charset="-120"/>
              </a:rPr>
              <a:t>2</a:t>
            </a:r>
            <a:endParaRPr lang="en-US" sz="1100" dirty="0"/>
          </a:p>
        </p:txBody>
      </p:sp>
      <p:sp>
        <p:nvSpPr>
          <p:cNvPr id="20" name="Shape 18"/>
          <p:cNvSpPr/>
          <p:nvPr/>
        </p:nvSpPr>
        <p:spPr>
          <a:xfrm>
            <a:off x="9738360" y="2148840"/>
            <a:ext cx="1143000" cy="658368"/>
          </a:xfrm>
          <a:prstGeom prst="rect">
            <a:avLst/>
          </a:prstGeom>
          <a:solidFill>
            <a:srgbClr val="FFFFFF"/>
          </a:solidFill>
          <a:ln w="15240">
            <a:solidFill>
              <a:srgbClr val="BDD0D8"/>
            </a:solidFill>
            <a:prstDash val="solid"/>
          </a:ln>
        </p:spPr>
      </p:sp>
      <p:sp>
        <p:nvSpPr>
          <p:cNvPr id="21" name="Text 19"/>
          <p:cNvSpPr/>
          <p:nvPr/>
        </p:nvSpPr>
        <p:spPr>
          <a:xfrm>
            <a:off x="9738360" y="2249424"/>
            <a:ext cx="1143000" cy="320040"/>
          </a:xfrm>
          <a:prstGeom prst="rect">
            <a:avLst/>
          </a:prstGeom>
          <a:noFill/>
          <a:ln/>
        </p:spPr>
        <p:txBody>
          <a:bodyPr wrap="square" lIns="0" tIns="0" rIns="0" bIns="0" rtlCol="0" anchor="ctr">
            <a:normAutofit/>
          </a:bodyPr>
          <a:lstStyle/>
          <a:p>
            <a:pPr algn="ctr" indent="0" marL="0">
              <a:buNone/>
            </a:pPr>
            <a:r>
              <a:rPr lang="en-US" sz="2000" dirty="0">
                <a:solidFill>
                  <a:srgbClr val="263442"/>
                </a:solidFill>
                <a:latin typeface="Aptos" pitchFamily="34" charset="0"/>
                <a:ea typeface="Aptos" pitchFamily="34" charset="-122"/>
                <a:cs typeface="Aptos" pitchFamily="34" charset="-120"/>
              </a:rPr>
              <a:t>1</a:t>
            </a:r>
            <a:endParaRPr lang="en-US" sz="2000" dirty="0"/>
          </a:p>
        </p:txBody>
      </p:sp>
      <p:sp>
        <p:nvSpPr>
          <p:cNvPr id="22" name="Text 20"/>
          <p:cNvSpPr/>
          <p:nvPr/>
        </p:nvSpPr>
        <p:spPr>
          <a:xfrm>
            <a:off x="9738360" y="2606040"/>
            <a:ext cx="1143000" cy="155448"/>
          </a:xfrm>
          <a:prstGeom prst="rect">
            <a:avLst/>
          </a:prstGeom>
          <a:noFill/>
          <a:ln/>
        </p:spPr>
        <p:txBody>
          <a:bodyPr wrap="square" lIns="0" tIns="0" rIns="0" bIns="0" rtlCol="0" anchor="ctr">
            <a:normAutofit/>
          </a:bodyPr>
          <a:lstStyle/>
          <a:p>
            <a:pPr algn="ctr" indent="0" marL="0">
              <a:buNone/>
            </a:pPr>
            <a:r>
              <a:rPr lang="en-US" sz="1100" dirty="0">
                <a:solidFill>
                  <a:srgbClr val="607483"/>
                </a:solidFill>
                <a:latin typeface="Aptos" pitchFamily="34" charset="0"/>
                <a:ea typeface="Aptos" pitchFamily="34" charset="-122"/>
                <a:cs typeface="Aptos" pitchFamily="34" charset="-120"/>
              </a:rPr>
              <a:t>3</a:t>
            </a:r>
            <a:endParaRPr lang="en-US" sz="1100" dirty="0"/>
          </a:p>
        </p:txBody>
      </p:sp>
      <p:sp>
        <p:nvSpPr>
          <p:cNvPr id="23" name="Shape 21"/>
          <p:cNvSpPr/>
          <p:nvPr/>
        </p:nvSpPr>
        <p:spPr>
          <a:xfrm>
            <a:off x="6172200" y="3310128"/>
            <a:ext cx="2148840" cy="658368"/>
          </a:xfrm>
          <a:prstGeom prst="roundRect">
            <a:avLst>
              <a:gd name="adj" fmla="val 16667"/>
            </a:avLst>
          </a:prstGeom>
          <a:solidFill>
            <a:srgbClr val="E8F3F3"/>
          </a:solidFill>
          <a:ln w="15240">
            <a:solidFill>
              <a:srgbClr val="E8F3F3"/>
            </a:solidFill>
            <a:prstDash val="solid"/>
          </a:ln>
        </p:spPr>
      </p:sp>
      <p:sp>
        <p:nvSpPr>
          <p:cNvPr id="24" name="Text 22"/>
          <p:cNvSpPr/>
          <p:nvPr/>
        </p:nvSpPr>
        <p:spPr>
          <a:xfrm>
            <a:off x="6281928" y="3355848"/>
            <a:ext cx="1929384" cy="566928"/>
          </a:xfrm>
          <a:prstGeom prst="rect">
            <a:avLst/>
          </a:prstGeom>
          <a:noFill/>
          <a:ln/>
        </p:spPr>
        <p:txBody>
          <a:bodyPr wrap="square" lIns="0" tIns="0" rIns="0" bIns="0" rtlCol="0" anchor="ctr">
            <a:normAutofit/>
          </a:bodyPr>
          <a:lstStyle/>
          <a:p>
            <a:pPr algn="ctr" indent="0" marL="0">
              <a:buNone/>
            </a:pPr>
            <a:r>
              <a:rPr lang="en-US" sz="1500" b="1" dirty="0">
                <a:solidFill>
                  <a:srgbClr val="17324D"/>
                </a:solidFill>
                <a:latin typeface="Aptos" pitchFamily="34" charset="0"/>
                <a:ea typeface="Aptos" pitchFamily="34" charset="-122"/>
                <a:cs typeface="Aptos" pitchFamily="34" charset="-120"/>
              </a:rPr>
              <a:t>checked prefix</a:t>
            </a:r>
            <a:endParaRPr lang="en-US" sz="1500" dirty="0"/>
          </a:p>
        </p:txBody>
      </p:sp>
      <p:sp>
        <p:nvSpPr>
          <p:cNvPr id="25" name="Shape 23"/>
          <p:cNvSpPr/>
          <p:nvPr/>
        </p:nvSpPr>
        <p:spPr>
          <a:xfrm>
            <a:off x="8586216" y="3310128"/>
            <a:ext cx="2286000" cy="658368"/>
          </a:xfrm>
          <a:prstGeom prst="roundRect">
            <a:avLst>
              <a:gd name="adj" fmla="val 16667"/>
            </a:avLst>
          </a:prstGeom>
          <a:solidFill>
            <a:srgbClr val="FFFFFF"/>
          </a:solidFill>
          <a:ln w="15240">
            <a:solidFill>
              <a:srgbClr val="FFFFFF"/>
            </a:solidFill>
            <a:prstDash val="solid"/>
          </a:ln>
        </p:spPr>
      </p:sp>
      <p:sp>
        <p:nvSpPr>
          <p:cNvPr id="26" name="Text 24"/>
          <p:cNvSpPr/>
          <p:nvPr/>
        </p:nvSpPr>
        <p:spPr>
          <a:xfrm>
            <a:off x="8695944" y="3355848"/>
            <a:ext cx="2066544" cy="566928"/>
          </a:xfrm>
          <a:prstGeom prst="rect">
            <a:avLst/>
          </a:prstGeom>
          <a:noFill/>
          <a:ln/>
        </p:spPr>
        <p:txBody>
          <a:bodyPr wrap="square" lIns="0" tIns="0" rIns="0" bIns="0" rtlCol="0" anchor="ctr">
            <a:normAutofit/>
          </a:bodyPr>
          <a:lstStyle/>
          <a:p>
            <a:pPr algn="ctr" indent="0" marL="0">
              <a:buNone/>
            </a:pPr>
            <a:r>
              <a:rPr lang="en-US" sz="1500" b="1" dirty="0">
                <a:solidFill>
                  <a:srgbClr val="17324D"/>
                </a:solidFill>
                <a:latin typeface="Aptos" pitchFamily="34" charset="0"/>
                <a:ea typeface="Aptos" pitchFamily="34" charset="-122"/>
                <a:cs typeface="Aptos" pitchFamily="34" charset="-120"/>
              </a:rPr>
              <a:t>untested suffix</a:t>
            </a:r>
            <a:endParaRPr lang="en-US" sz="1500" dirty="0"/>
          </a:p>
        </p:txBody>
      </p:sp>
      <p:sp>
        <p:nvSpPr>
          <p:cNvPr id="27" name="Text 25"/>
          <p:cNvSpPr/>
          <p:nvPr/>
        </p:nvSpPr>
        <p:spPr>
          <a:xfrm>
            <a:off x="6172200" y="4160520"/>
            <a:ext cx="4754880" cy="502920"/>
          </a:xfrm>
          <a:prstGeom prst="rect">
            <a:avLst/>
          </a:prstGeom>
          <a:noFill/>
          <a:ln/>
        </p:spPr>
        <p:txBody>
          <a:bodyPr wrap="square" lIns="0" tIns="0" rIns="0" bIns="0" rtlCol="0" anchor="ctr">
            <a:normAutofit/>
          </a:bodyPr>
          <a:lstStyle/>
          <a:p>
            <a:pPr algn="ctr" indent="0" marL="0">
              <a:buNone/>
            </a:pPr>
            <a:r>
              <a:rPr lang="en-US" sz="1700" dirty="0">
                <a:solidFill>
                  <a:srgbClr val="263442"/>
                </a:solidFill>
                <a:latin typeface="Aptos" pitchFamily="34" charset="0"/>
                <a:ea typeface="Aptos" pitchFamily="34" charset="-122"/>
                <a:cs typeface="Aptos" pitchFamily="34" charset="-120"/>
              </a:rPr>
              <a:t>i moves right until match or exhaustion</a:t>
            </a:r>
            <a:endParaRPr lang="en-US" sz="1700" dirty="0"/>
          </a:p>
        </p:txBody>
      </p:sp>
      <p:sp>
        <p:nvSpPr>
          <p:cNvPr id="28" name="Shape 26"/>
          <p:cNvSpPr/>
          <p:nvPr/>
        </p:nvSpPr>
        <p:spPr>
          <a:xfrm>
            <a:off x="667512" y="6208776"/>
            <a:ext cx="10844784" cy="0"/>
          </a:xfrm>
          <a:prstGeom prst="line">
            <a:avLst/>
          </a:prstGeom>
          <a:noFill/>
          <a:ln w="10160">
            <a:solidFill>
              <a:srgbClr val="BDD0D8"/>
            </a:solidFill>
            <a:prstDash val="solid"/>
          </a:ln>
        </p:spPr>
      </p:sp>
      <p:sp>
        <p:nvSpPr>
          <p:cNvPr id="29" name="Text 27"/>
          <p:cNvSpPr/>
          <p:nvPr/>
        </p:nvSpPr>
        <p:spPr>
          <a:xfrm>
            <a:off x="667512" y="6355080"/>
            <a:ext cx="1828800" cy="228600"/>
          </a:xfrm>
          <a:prstGeom prst="rect">
            <a:avLst/>
          </a:prstGeom>
          <a:noFill/>
          <a:ln/>
        </p:spPr>
        <p:txBody>
          <a:bodyPr wrap="square" lIns="0" tIns="0" rIns="0" bIns="0" rtlCol="0" anchor="ctr">
            <a:normAutofit/>
          </a:bodyPr>
          <a:lstStyle/>
          <a:p>
            <a:pPr algn="l" indent="0" marL="0">
              <a:buNone/>
            </a:pPr>
            <a:r>
              <a:rPr lang="en-US" sz="1000" dirty="0">
                <a:solidFill>
                  <a:srgbClr val="607483"/>
                </a:solidFill>
                <a:latin typeface="Aptos" pitchFamily="34" charset="0"/>
                <a:ea typeface="Aptos" pitchFamily="34" charset="-122"/>
                <a:cs typeface="Aptos" pitchFamily="34" charset="-120"/>
              </a:rPr>
              <a:t>M12 · S01</a:t>
            </a:r>
            <a:endParaRPr lang="en-US" sz="1000" dirty="0"/>
          </a:p>
        </p:txBody>
      </p:sp>
      <p:sp>
        <p:nvSpPr>
          <p:cNvPr id="30" name="Text 28"/>
          <p:cNvSpPr/>
          <p:nvPr/>
        </p:nvSpPr>
        <p:spPr>
          <a:xfrm>
            <a:off x="10607040" y="6355080"/>
            <a:ext cx="914400" cy="228600"/>
          </a:xfrm>
          <a:prstGeom prst="rect">
            <a:avLst/>
          </a:prstGeom>
          <a:noFill/>
          <a:ln/>
        </p:spPr>
        <p:txBody>
          <a:bodyPr wrap="square" lIns="0" tIns="0" rIns="0" bIns="0" rtlCol="0" anchor="ctr">
            <a:normAutofit/>
          </a:bodyPr>
          <a:lstStyle/>
          <a:p>
            <a:pPr algn="r" indent="0" marL="0">
              <a:buNone/>
            </a:pPr>
            <a:r>
              <a:rPr lang="en-US" sz="1000" dirty="0">
                <a:solidFill>
                  <a:srgbClr val="607483"/>
                </a:solidFill>
                <a:latin typeface="Aptos" pitchFamily="34" charset="0"/>
                <a:ea typeface="Aptos" pitchFamily="34" charset="-122"/>
                <a:cs typeface="Aptos" pitchFamily="34" charset="-120"/>
              </a:rPr>
              <a:t>07 / 16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08C95"/>
          </a:solidFill>
          <a:ln w="12700">
            <a:solidFill>
              <a:srgbClr val="008C95"/>
            </a:solidFill>
            <a:prstDash val="solid"/>
          </a:ln>
        </p:spPr>
      </p:sp>
      <p:sp>
        <p:nvSpPr>
          <p:cNvPr id="3" name="Text 1"/>
          <p:cNvSpPr/>
          <p:nvPr/>
        </p:nvSpPr>
        <p:spPr>
          <a:xfrm>
            <a:off x="640080" y="384048"/>
            <a:ext cx="10881360" cy="566928"/>
          </a:xfrm>
          <a:prstGeom prst="rect">
            <a:avLst/>
          </a:prstGeom>
          <a:noFill/>
          <a:ln/>
        </p:spPr>
        <p:txBody>
          <a:bodyPr wrap="square" lIns="0" tIns="0" rIns="0" bIns="0" rtlCol="0" anchor="ctr">
            <a:normAutofit/>
          </a:bodyPr>
          <a:lstStyle/>
          <a:p>
            <a:pPr algn="l" indent="0" marL="0">
              <a:buNone/>
            </a:pPr>
            <a:r>
              <a:rPr lang="en-US" sz="3000" b="1" dirty="0">
                <a:solidFill>
                  <a:srgbClr val="17324D"/>
                </a:solidFill>
                <a:latin typeface="Aptos" pitchFamily="34" charset="0"/>
                <a:ea typeface="Aptos" pitchFamily="34" charset="-122"/>
                <a:cs typeface="Aptos" pitchFamily="34" charset="-120"/>
              </a:rPr>
              <a:t>Search traces and edge cases</a:t>
            </a:r>
            <a:endParaRPr lang="en-US" sz="3000" dirty="0"/>
          </a:p>
        </p:txBody>
      </p:sp>
      <p:sp>
        <p:nvSpPr>
          <p:cNvPr id="4" name="Text 2"/>
          <p:cNvSpPr/>
          <p:nvPr/>
        </p:nvSpPr>
        <p:spPr>
          <a:xfrm>
            <a:off x="676656" y="1024128"/>
            <a:ext cx="9875520" cy="265176"/>
          </a:xfrm>
          <a:prstGeom prst="rect">
            <a:avLst/>
          </a:prstGeom>
          <a:noFill/>
          <a:ln/>
        </p:spPr>
        <p:txBody>
          <a:bodyPr wrap="square" lIns="0" tIns="0" rIns="0" bIns="0" rtlCol="0" anchor="ctr">
            <a:normAutofit/>
          </a:bodyPr>
          <a:lstStyle/>
          <a:p>
            <a:pPr algn="l" indent="0" marL="0">
              <a:buNone/>
            </a:pPr>
            <a:r>
              <a:rPr lang="en-US" sz="1200" b="1" dirty="0">
                <a:solidFill>
                  <a:srgbClr val="008C95"/>
                </a:solidFill>
                <a:latin typeface="Aptos" pitchFamily="34" charset="0"/>
                <a:ea typeface="Aptos" pitchFamily="34" charset="-122"/>
                <a:cs typeface="Aptos" pitchFamily="34" charset="-120"/>
              </a:rPr>
              <a:t>C3, K2.</a:t>
            </a:r>
            <a:endParaRPr lang="en-US" sz="1200" dirty="0"/>
          </a:p>
        </p:txBody>
      </p:sp>
      <p:sp>
        <p:nvSpPr>
          <p:cNvPr id="5" name="Shape 3"/>
          <p:cNvSpPr/>
          <p:nvPr/>
        </p:nvSpPr>
        <p:spPr>
          <a:xfrm>
            <a:off x="676656" y="1600200"/>
            <a:ext cx="4892040" cy="914400"/>
          </a:xfrm>
          <a:prstGeom prst="roundRect">
            <a:avLst>
              <a:gd name="adj" fmla="val 12000"/>
            </a:avLst>
          </a:prstGeom>
          <a:solidFill>
            <a:srgbClr val="FFFFFF"/>
          </a:solidFill>
          <a:ln w="15240">
            <a:solidFill>
              <a:srgbClr val="BDD0D8"/>
            </a:solidFill>
            <a:prstDash val="solid"/>
          </a:ln>
        </p:spPr>
      </p:sp>
      <p:sp>
        <p:nvSpPr>
          <p:cNvPr id="6" name="Text 4"/>
          <p:cNvSpPr/>
          <p:nvPr/>
        </p:nvSpPr>
        <p:spPr>
          <a:xfrm>
            <a:off x="905256" y="1737360"/>
            <a:ext cx="4434840" cy="621792"/>
          </a:xfrm>
          <a:prstGeom prst="rect">
            <a:avLst/>
          </a:prstGeom>
          <a:noFill/>
          <a:ln/>
        </p:spPr>
        <p:txBody>
          <a:bodyPr wrap="square" lIns="0" tIns="0" rIns="0" bIns="0" rtlCol="0" anchor="ctr">
            <a:normAutofit/>
          </a:bodyPr>
          <a:lstStyle/>
          <a:p>
            <a:pPr algn="l" indent="0" marL="0">
              <a:buNone/>
            </a:pPr>
            <a:r>
              <a:rPr lang="en-US" sz="2000" dirty="0">
                <a:solidFill>
                  <a:srgbClr val="263442"/>
                </a:solidFill>
                <a:latin typeface="Aptos" pitchFamily="34" charset="0"/>
                <a:ea typeface="Aptos" pitchFamily="34" charset="-122"/>
                <a:cs typeface="Aptos" pitchFamily="34" charset="-120"/>
              </a:rPr>
              <a:t>Empty: no comparisons</a:t>
            </a:r>
            <a:endParaRPr lang="en-US" sz="2000" dirty="0"/>
          </a:p>
        </p:txBody>
      </p:sp>
      <p:sp>
        <p:nvSpPr>
          <p:cNvPr id="7" name="Shape 5"/>
          <p:cNvSpPr/>
          <p:nvPr/>
        </p:nvSpPr>
        <p:spPr>
          <a:xfrm>
            <a:off x="676656" y="2743200"/>
            <a:ext cx="4892040" cy="914400"/>
          </a:xfrm>
          <a:prstGeom prst="roundRect">
            <a:avLst>
              <a:gd name="adj" fmla="val 12000"/>
            </a:avLst>
          </a:prstGeom>
          <a:solidFill>
            <a:srgbClr val="E8F3F3"/>
          </a:solidFill>
          <a:ln w="15240">
            <a:solidFill>
              <a:srgbClr val="008C95"/>
            </a:solidFill>
            <a:prstDash val="solid"/>
          </a:ln>
        </p:spPr>
      </p:sp>
      <p:sp>
        <p:nvSpPr>
          <p:cNvPr id="8" name="Text 6"/>
          <p:cNvSpPr/>
          <p:nvPr/>
        </p:nvSpPr>
        <p:spPr>
          <a:xfrm>
            <a:off x="905256" y="2880360"/>
            <a:ext cx="4434840" cy="621792"/>
          </a:xfrm>
          <a:prstGeom prst="rect">
            <a:avLst/>
          </a:prstGeom>
          <a:noFill/>
          <a:ln/>
        </p:spPr>
        <p:txBody>
          <a:bodyPr wrap="square" lIns="0" tIns="0" rIns="0" bIns="0" rtlCol="0" anchor="ctr">
            <a:normAutofit/>
          </a:bodyPr>
          <a:lstStyle/>
          <a:p>
            <a:pPr algn="l" indent="0" marL="0">
              <a:buNone/>
            </a:pPr>
            <a:r>
              <a:rPr lang="en-US" sz="2000" b="1" dirty="0">
                <a:solidFill>
                  <a:srgbClr val="263442"/>
                </a:solidFill>
                <a:latin typeface="Aptos" pitchFamily="34" charset="0"/>
                <a:ea typeface="Aptos" pitchFamily="34" charset="-122"/>
                <a:cs typeface="Aptos" pitchFamily="34" charset="-120"/>
              </a:rPr>
              <a:t>First match at j: j+1 comparisons</a:t>
            </a:r>
            <a:endParaRPr lang="en-US" sz="2000" dirty="0"/>
          </a:p>
        </p:txBody>
      </p:sp>
      <p:sp>
        <p:nvSpPr>
          <p:cNvPr id="9" name="Shape 7"/>
          <p:cNvSpPr/>
          <p:nvPr/>
        </p:nvSpPr>
        <p:spPr>
          <a:xfrm>
            <a:off x="676656" y="3886200"/>
            <a:ext cx="4892040" cy="914400"/>
          </a:xfrm>
          <a:prstGeom prst="roundRect">
            <a:avLst>
              <a:gd name="adj" fmla="val 12000"/>
            </a:avLst>
          </a:prstGeom>
          <a:solidFill>
            <a:srgbClr val="FFFFFF"/>
          </a:solidFill>
          <a:ln w="15240">
            <a:solidFill>
              <a:srgbClr val="BDD0D8"/>
            </a:solidFill>
            <a:prstDash val="solid"/>
          </a:ln>
        </p:spPr>
      </p:sp>
      <p:sp>
        <p:nvSpPr>
          <p:cNvPr id="10" name="Text 8"/>
          <p:cNvSpPr/>
          <p:nvPr/>
        </p:nvSpPr>
        <p:spPr>
          <a:xfrm>
            <a:off x="905256" y="4023360"/>
            <a:ext cx="4434840" cy="621792"/>
          </a:xfrm>
          <a:prstGeom prst="rect">
            <a:avLst/>
          </a:prstGeom>
          <a:noFill/>
          <a:ln/>
        </p:spPr>
        <p:txBody>
          <a:bodyPr wrap="square" lIns="0" tIns="0" rIns="0" bIns="0" rtlCol="0" anchor="ctr">
            <a:normAutofit/>
          </a:bodyPr>
          <a:lstStyle/>
          <a:p>
            <a:pPr algn="l" indent="0" marL="0">
              <a:buNone/>
            </a:pPr>
            <a:r>
              <a:rPr lang="en-US" sz="2000" dirty="0">
                <a:solidFill>
                  <a:srgbClr val="263442"/>
                </a:solidFill>
                <a:latin typeface="Aptos" pitchFamily="34" charset="0"/>
                <a:ea typeface="Aptos" pitchFamily="34" charset="-122"/>
                <a:cs typeface="Aptos" pitchFamily="34" charset="-120"/>
              </a:rPr>
              <a:t>Absent: n comparisons</a:t>
            </a:r>
            <a:endParaRPr lang="en-US" sz="2000" dirty="0"/>
          </a:p>
        </p:txBody>
      </p:sp>
      <p:sp>
        <p:nvSpPr>
          <p:cNvPr id="11" name="Shape 9"/>
          <p:cNvSpPr/>
          <p:nvPr/>
        </p:nvSpPr>
        <p:spPr>
          <a:xfrm>
            <a:off x="6172200" y="1828800"/>
            <a:ext cx="4773168" cy="713232"/>
          </a:xfrm>
          <a:prstGeom prst="roundRect">
            <a:avLst>
              <a:gd name="adj" fmla="val 15385"/>
            </a:avLst>
          </a:prstGeom>
          <a:solidFill>
            <a:srgbClr val="FFFFFF"/>
          </a:solidFill>
          <a:ln w="15240">
            <a:solidFill>
              <a:srgbClr val="BDD0D8"/>
            </a:solidFill>
            <a:prstDash val="solid"/>
          </a:ln>
        </p:spPr>
      </p:sp>
      <p:sp>
        <p:nvSpPr>
          <p:cNvPr id="12" name="Text 10"/>
          <p:cNvSpPr/>
          <p:nvPr/>
        </p:nvSpPr>
        <p:spPr>
          <a:xfrm>
            <a:off x="6336792" y="1938528"/>
            <a:ext cx="2468880" cy="457200"/>
          </a:xfrm>
          <a:prstGeom prst="rect">
            <a:avLst/>
          </a:prstGeom>
          <a:noFill/>
          <a:ln/>
        </p:spPr>
        <p:txBody>
          <a:bodyPr wrap="square" lIns="0" tIns="0" rIns="0" bIns="0" rtlCol="0" anchor="ctr">
            <a:normAutofit/>
          </a:bodyPr>
          <a:lstStyle/>
          <a:p>
            <a:pPr algn="l" indent="0" marL="0">
              <a:buNone/>
            </a:pPr>
            <a:r>
              <a:rPr lang="en-US" sz="1700" b="1" dirty="0">
                <a:solidFill>
                  <a:srgbClr val="263442"/>
                </a:solidFill>
                <a:latin typeface="Aptos" pitchFamily="34" charset="0"/>
                <a:ea typeface="Aptos" pitchFamily="34" charset="-122"/>
                <a:cs typeface="Aptos" pitchFamily="34" charset="-120"/>
              </a:rPr>
              <a:t>Empty</a:t>
            </a:r>
            <a:endParaRPr lang="en-US" sz="1700" dirty="0"/>
          </a:p>
        </p:txBody>
      </p:sp>
      <p:sp>
        <p:nvSpPr>
          <p:cNvPr id="13" name="Text 11"/>
          <p:cNvSpPr/>
          <p:nvPr/>
        </p:nvSpPr>
        <p:spPr>
          <a:xfrm>
            <a:off x="8961120" y="1938528"/>
            <a:ext cx="1755648" cy="457200"/>
          </a:xfrm>
          <a:prstGeom prst="rect">
            <a:avLst/>
          </a:prstGeom>
          <a:noFill/>
          <a:ln/>
        </p:spPr>
        <p:txBody>
          <a:bodyPr wrap="square" lIns="0" tIns="0" rIns="0" bIns="0" rtlCol="0" anchor="ctr">
            <a:normAutofit/>
          </a:bodyPr>
          <a:lstStyle/>
          <a:p>
            <a:pPr algn="r" indent="0" marL="0">
              <a:buNone/>
            </a:pPr>
            <a:r>
              <a:rPr lang="en-US" sz="1700" dirty="0">
                <a:solidFill>
                  <a:srgbClr val="008C95"/>
                </a:solidFill>
                <a:latin typeface="Aptos" pitchFamily="34" charset="0"/>
                <a:ea typeface="Aptos" pitchFamily="34" charset="-122"/>
                <a:cs typeface="Aptos" pitchFamily="34" charset="-120"/>
              </a:rPr>
              <a:t>0 checks</a:t>
            </a:r>
            <a:endParaRPr lang="en-US" sz="1700" dirty="0"/>
          </a:p>
        </p:txBody>
      </p:sp>
      <p:sp>
        <p:nvSpPr>
          <p:cNvPr id="14" name="Shape 12"/>
          <p:cNvSpPr/>
          <p:nvPr/>
        </p:nvSpPr>
        <p:spPr>
          <a:xfrm>
            <a:off x="6172200" y="2715768"/>
            <a:ext cx="4773168" cy="713232"/>
          </a:xfrm>
          <a:prstGeom prst="roundRect">
            <a:avLst>
              <a:gd name="adj" fmla="val 15385"/>
            </a:avLst>
          </a:prstGeom>
          <a:solidFill>
            <a:srgbClr val="E8F3F3"/>
          </a:solidFill>
          <a:ln w="15240">
            <a:solidFill>
              <a:srgbClr val="008C95"/>
            </a:solidFill>
            <a:prstDash val="solid"/>
          </a:ln>
        </p:spPr>
      </p:sp>
      <p:sp>
        <p:nvSpPr>
          <p:cNvPr id="15" name="Text 13"/>
          <p:cNvSpPr/>
          <p:nvPr/>
        </p:nvSpPr>
        <p:spPr>
          <a:xfrm>
            <a:off x="6336792" y="2825496"/>
            <a:ext cx="2468880" cy="457200"/>
          </a:xfrm>
          <a:prstGeom prst="rect">
            <a:avLst/>
          </a:prstGeom>
          <a:noFill/>
          <a:ln/>
        </p:spPr>
        <p:txBody>
          <a:bodyPr wrap="square" lIns="0" tIns="0" rIns="0" bIns="0" rtlCol="0" anchor="ctr">
            <a:normAutofit/>
          </a:bodyPr>
          <a:lstStyle/>
          <a:p>
            <a:pPr algn="l" indent="0" marL="0">
              <a:buNone/>
            </a:pPr>
            <a:r>
              <a:rPr lang="en-US" sz="1700" b="1" dirty="0">
                <a:solidFill>
                  <a:srgbClr val="263442"/>
                </a:solidFill>
                <a:latin typeface="Aptos" pitchFamily="34" charset="0"/>
                <a:ea typeface="Aptos" pitchFamily="34" charset="-122"/>
                <a:cs typeface="Aptos" pitchFamily="34" charset="-120"/>
              </a:rPr>
              <a:t>First match at j</a:t>
            </a:r>
            <a:endParaRPr lang="en-US" sz="1700" dirty="0"/>
          </a:p>
        </p:txBody>
      </p:sp>
      <p:sp>
        <p:nvSpPr>
          <p:cNvPr id="16" name="Text 14"/>
          <p:cNvSpPr/>
          <p:nvPr/>
        </p:nvSpPr>
        <p:spPr>
          <a:xfrm>
            <a:off x="8961120" y="2825496"/>
            <a:ext cx="1755648" cy="457200"/>
          </a:xfrm>
          <a:prstGeom prst="rect">
            <a:avLst/>
          </a:prstGeom>
          <a:noFill/>
          <a:ln/>
        </p:spPr>
        <p:txBody>
          <a:bodyPr wrap="square" lIns="0" tIns="0" rIns="0" bIns="0" rtlCol="0" anchor="ctr">
            <a:normAutofit/>
          </a:bodyPr>
          <a:lstStyle/>
          <a:p>
            <a:pPr algn="r" indent="0" marL="0">
              <a:buNone/>
            </a:pPr>
            <a:r>
              <a:rPr lang="en-US" sz="1700" dirty="0">
                <a:solidFill>
                  <a:srgbClr val="008C95"/>
                </a:solidFill>
                <a:latin typeface="Aptos" pitchFamily="34" charset="0"/>
                <a:ea typeface="Aptos" pitchFamily="34" charset="-122"/>
                <a:cs typeface="Aptos" pitchFamily="34" charset="-120"/>
              </a:rPr>
              <a:t>j + 1 checks</a:t>
            </a:r>
            <a:endParaRPr lang="en-US" sz="1700" dirty="0"/>
          </a:p>
        </p:txBody>
      </p:sp>
      <p:sp>
        <p:nvSpPr>
          <p:cNvPr id="17" name="Shape 15"/>
          <p:cNvSpPr/>
          <p:nvPr/>
        </p:nvSpPr>
        <p:spPr>
          <a:xfrm>
            <a:off x="6172200" y="3602736"/>
            <a:ext cx="4773168" cy="713232"/>
          </a:xfrm>
          <a:prstGeom prst="roundRect">
            <a:avLst>
              <a:gd name="adj" fmla="val 15385"/>
            </a:avLst>
          </a:prstGeom>
          <a:solidFill>
            <a:srgbClr val="FFFFFF"/>
          </a:solidFill>
          <a:ln w="15240">
            <a:solidFill>
              <a:srgbClr val="BDD0D8"/>
            </a:solidFill>
            <a:prstDash val="solid"/>
          </a:ln>
        </p:spPr>
      </p:sp>
      <p:sp>
        <p:nvSpPr>
          <p:cNvPr id="18" name="Text 16"/>
          <p:cNvSpPr/>
          <p:nvPr/>
        </p:nvSpPr>
        <p:spPr>
          <a:xfrm>
            <a:off x="6336792" y="3712464"/>
            <a:ext cx="2468880" cy="457200"/>
          </a:xfrm>
          <a:prstGeom prst="rect">
            <a:avLst/>
          </a:prstGeom>
          <a:noFill/>
          <a:ln/>
        </p:spPr>
        <p:txBody>
          <a:bodyPr wrap="square" lIns="0" tIns="0" rIns="0" bIns="0" rtlCol="0" anchor="ctr">
            <a:normAutofit/>
          </a:bodyPr>
          <a:lstStyle/>
          <a:p>
            <a:pPr algn="l" indent="0" marL="0">
              <a:buNone/>
            </a:pPr>
            <a:r>
              <a:rPr lang="en-US" sz="1700" b="1" dirty="0">
                <a:solidFill>
                  <a:srgbClr val="263442"/>
                </a:solidFill>
                <a:latin typeface="Aptos" pitchFamily="34" charset="0"/>
                <a:ea typeface="Aptos" pitchFamily="34" charset="-122"/>
                <a:cs typeface="Aptos" pitchFamily="34" charset="-120"/>
              </a:rPr>
              <a:t>Absent</a:t>
            </a:r>
            <a:endParaRPr lang="en-US" sz="1700" dirty="0"/>
          </a:p>
        </p:txBody>
      </p:sp>
      <p:sp>
        <p:nvSpPr>
          <p:cNvPr id="19" name="Text 17"/>
          <p:cNvSpPr/>
          <p:nvPr/>
        </p:nvSpPr>
        <p:spPr>
          <a:xfrm>
            <a:off x="8961120" y="3712464"/>
            <a:ext cx="1755648" cy="457200"/>
          </a:xfrm>
          <a:prstGeom prst="rect">
            <a:avLst/>
          </a:prstGeom>
          <a:noFill/>
          <a:ln/>
        </p:spPr>
        <p:txBody>
          <a:bodyPr wrap="square" lIns="0" tIns="0" rIns="0" bIns="0" rtlCol="0" anchor="ctr">
            <a:normAutofit/>
          </a:bodyPr>
          <a:lstStyle/>
          <a:p>
            <a:pPr algn="r" indent="0" marL="0">
              <a:buNone/>
            </a:pPr>
            <a:r>
              <a:rPr lang="en-US" sz="1700" dirty="0">
                <a:solidFill>
                  <a:srgbClr val="008C95"/>
                </a:solidFill>
                <a:latin typeface="Aptos" pitchFamily="34" charset="0"/>
                <a:ea typeface="Aptos" pitchFamily="34" charset="-122"/>
                <a:cs typeface="Aptos" pitchFamily="34" charset="-120"/>
              </a:rPr>
              <a:t>n checks</a:t>
            </a:r>
            <a:endParaRPr lang="en-US" sz="1700" dirty="0"/>
          </a:p>
        </p:txBody>
      </p:sp>
      <p:sp>
        <p:nvSpPr>
          <p:cNvPr id="20" name="Shape 18"/>
          <p:cNvSpPr/>
          <p:nvPr/>
        </p:nvSpPr>
        <p:spPr>
          <a:xfrm>
            <a:off x="667512" y="6208776"/>
            <a:ext cx="10844784" cy="0"/>
          </a:xfrm>
          <a:prstGeom prst="line">
            <a:avLst/>
          </a:prstGeom>
          <a:noFill/>
          <a:ln w="10160">
            <a:solidFill>
              <a:srgbClr val="BDD0D8"/>
            </a:solidFill>
            <a:prstDash val="solid"/>
          </a:ln>
        </p:spPr>
      </p:sp>
      <p:sp>
        <p:nvSpPr>
          <p:cNvPr id="21" name="Text 19"/>
          <p:cNvSpPr/>
          <p:nvPr/>
        </p:nvSpPr>
        <p:spPr>
          <a:xfrm>
            <a:off x="667512" y="6355080"/>
            <a:ext cx="1828800" cy="228600"/>
          </a:xfrm>
          <a:prstGeom prst="rect">
            <a:avLst/>
          </a:prstGeom>
          <a:noFill/>
          <a:ln/>
        </p:spPr>
        <p:txBody>
          <a:bodyPr wrap="square" lIns="0" tIns="0" rIns="0" bIns="0" rtlCol="0" anchor="ctr">
            <a:normAutofit/>
          </a:bodyPr>
          <a:lstStyle/>
          <a:p>
            <a:pPr algn="l" indent="0" marL="0">
              <a:buNone/>
            </a:pPr>
            <a:r>
              <a:rPr lang="en-US" sz="1000" dirty="0">
                <a:solidFill>
                  <a:srgbClr val="607483"/>
                </a:solidFill>
                <a:latin typeface="Aptos" pitchFamily="34" charset="0"/>
                <a:ea typeface="Aptos" pitchFamily="34" charset="-122"/>
                <a:cs typeface="Aptos" pitchFamily="34" charset="-120"/>
              </a:rPr>
              <a:t>M12 · S01</a:t>
            </a:r>
            <a:endParaRPr lang="en-US" sz="1000" dirty="0"/>
          </a:p>
        </p:txBody>
      </p:sp>
      <p:sp>
        <p:nvSpPr>
          <p:cNvPr id="22" name="Text 20"/>
          <p:cNvSpPr/>
          <p:nvPr/>
        </p:nvSpPr>
        <p:spPr>
          <a:xfrm>
            <a:off x="10607040" y="6355080"/>
            <a:ext cx="914400" cy="228600"/>
          </a:xfrm>
          <a:prstGeom prst="rect">
            <a:avLst/>
          </a:prstGeom>
          <a:noFill/>
          <a:ln/>
        </p:spPr>
        <p:txBody>
          <a:bodyPr wrap="square" lIns="0" tIns="0" rIns="0" bIns="0" rtlCol="0" anchor="ctr">
            <a:normAutofit/>
          </a:bodyPr>
          <a:lstStyle/>
          <a:p>
            <a:pPr algn="r" indent="0" marL="0">
              <a:buNone/>
            </a:pPr>
            <a:r>
              <a:rPr lang="en-US" sz="1000" dirty="0">
                <a:solidFill>
                  <a:srgbClr val="607483"/>
                </a:solidFill>
                <a:latin typeface="Aptos" pitchFamily="34" charset="0"/>
                <a:ea typeface="Aptos" pitchFamily="34" charset="-122"/>
                <a:cs typeface="Aptos" pitchFamily="34" charset="-120"/>
              </a:rPr>
              <a:t>08 / 16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08C95"/>
          </a:solidFill>
          <a:ln w="12700">
            <a:solidFill>
              <a:srgbClr val="008C95"/>
            </a:solidFill>
            <a:prstDash val="solid"/>
          </a:ln>
        </p:spPr>
      </p:sp>
      <p:sp>
        <p:nvSpPr>
          <p:cNvPr id="3" name="Text 1"/>
          <p:cNvSpPr/>
          <p:nvPr/>
        </p:nvSpPr>
        <p:spPr>
          <a:xfrm>
            <a:off x="640080" y="384048"/>
            <a:ext cx="10881360" cy="566928"/>
          </a:xfrm>
          <a:prstGeom prst="rect">
            <a:avLst/>
          </a:prstGeom>
          <a:noFill/>
          <a:ln/>
        </p:spPr>
        <p:txBody>
          <a:bodyPr wrap="square" lIns="0" tIns="0" rIns="0" bIns="0" rtlCol="0" anchor="ctr">
            <a:normAutofit/>
          </a:bodyPr>
          <a:lstStyle/>
          <a:p>
            <a:pPr algn="l" indent="0" marL="0">
              <a:buNone/>
            </a:pPr>
            <a:r>
              <a:rPr lang="en-US" sz="3000" b="1" dirty="0">
                <a:solidFill>
                  <a:srgbClr val="17324D"/>
                </a:solidFill>
                <a:latin typeface="Aptos" pitchFamily="34" charset="0"/>
                <a:ea typeface="Aptos" pitchFamily="34" charset="-122"/>
                <a:cs typeface="Aptos" pitchFamily="34" charset="-120"/>
              </a:rPr>
              <a:t>Pairwise duplicate detection</a:t>
            </a:r>
            <a:endParaRPr lang="en-US" sz="3000" dirty="0"/>
          </a:p>
        </p:txBody>
      </p:sp>
      <p:sp>
        <p:nvSpPr>
          <p:cNvPr id="4" name="Text 2"/>
          <p:cNvSpPr/>
          <p:nvPr/>
        </p:nvSpPr>
        <p:spPr>
          <a:xfrm>
            <a:off x="676656" y="1024128"/>
            <a:ext cx="9875520" cy="265176"/>
          </a:xfrm>
          <a:prstGeom prst="rect">
            <a:avLst/>
          </a:prstGeom>
          <a:noFill/>
          <a:ln/>
        </p:spPr>
        <p:txBody>
          <a:bodyPr wrap="square" lIns="0" tIns="0" rIns="0" bIns="0" rtlCol="0" anchor="ctr">
            <a:normAutofit/>
          </a:bodyPr>
          <a:lstStyle/>
          <a:p>
            <a:pPr algn="l" indent="0" marL="0">
              <a:buNone/>
            </a:pPr>
            <a:r>
              <a:rPr lang="en-US" sz="1200" b="1" dirty="0">
                <a:solidFill>
                  <a:srgbClr val="008C95"/>
                </a:solidFill>
                <a:latin typeface="Aptos" pitchFamily="34" charset="0"/>
                <a:ea typeface="Aptos" pitchFamily="34" charset="-122"/>
                <a:cs typeface="Aptos" pitchFamily="34" charset="-120"/>
              </a:rPr>
              <a:t>C2, C3, K2.</a:t>
            </a:r>
            <a:endParaRPr lang="en-US" sz="1200" dirty="0"/>
          </a:p>
        </p:txBody>
      </p:sp>
      <p:sp>
        <p:nvSpPr>
          <p:cNvPr id="5" name="Shape 3"/>
          <p:cNvSpPr/>
          <p:nvPr/>
        </p:nvSpPr>
        <p:spPr>
          <a:xfrm>
            <a:off x="676656" y="1600200"/>
            <a:ext cx="4892040" cy="914400"/>
          </a:xfrm>
          <a:prstGeom prst="roundRect">
            <a:avLst>
              <a:gd name="adj" fmla="val 12000"/>
            </a:avLst>
          </a:prstGeom>
          <a:solidFill>
            <a:srgbClr val="FFFFFF"/>
          </a:solidFill>
          <a:ln w="15240">
            <a:solidFill>
              <a:srgbClr val="BDD0D8"/>
            </a:solidFill>
            <a:prstDash val="solid"/>
          </a:ln>
        </p:spPr>
      </p:sp>
      <p:sp>
        <p:nvSpPr>
          <p:cNvPr id="6" name="Text 4"/>
          <p:cNvSpPr/>
          <p:nvPr/>
        </p:nvSpPr>
        <p:spPr>
          <a:xfrm>
            <a:off x="905256" y="1737360"/>
            <a:ext cx="4434840" cy="621792"/>
          </a:xfrm>
          <a:prstGeom prst="rect">
            <a:avLst/>
          </a:prstGeom>
          <a:noFill/>
          <a:ln/>
        </p:spPr>
        <p:txBody>
          <a:bodyPr wrap="square" lIns="0" tIns="0" rIns="0" bIns="0" rtlCol="0" anchor="ctr">
            <a:normAutofit/>
          </a:bodyPr>
          <a:lstStyle/>
          <a:p>
            <a:pPr algn="l" indent="0" marL="0">
              <a:buNone/>
            </a:pPr>
            <a:r>
              <a:rPr lang="en-US" sz="2000" dirty="0">
                <a:solidFill>
                  <a:srgbClr val="263442"/>
                </a:solidFill>
                <a:latin typeface="Aptos" pitchFamily="34" charset="0"/>
                <a:ea typeface="Aptos" pitchFamily="34" charset="-122"/>
                <a:cs typeface="Aptos" pitchFamily="34" charset="-120"/>
              </a:rPr>
              <a:t>Compare each A[i] with later A[j]</a:t>
            </a:r>
            <a:endParaRPr lang="en-US" sz="2000" dirty="0"/>
          </a:p>
        </p:txBody>
      </p:sp>
      <p:sp>
        <p:nvSpPr>
          <p:cNvPr id="7" name="Shape 5"/>
          <p:cNvSpPr/>
          <p:nvPr/>
        </p:nvSpPr>
        <p:spPr>
          <a:xfrm>
            <a:off x="676656" y="2743200"/>
            <a:ext cx="4892040" cy="914400"/>
          </a:xfrm>
          <a:prstGeom prst="roundRect">
            <a:avLst>
              <a:gd name="adj" fmla="val 12000"/>
            </a:avLst>
          </a:prstGeom>
          <a:solidFill>
            <a:srgbClr val="E8F3F3"/>
          </a:solidFill>
          <a:ln w="15240">
            <a:solidFill>
              <a:srgbClr val="008C95"/>
            </a:solidFill>
            <a:prstDash val="solid"/>
          </a:ln>
        </p:spPr>
      </p:sp>
      <p:sp>
        <p:nvSpPr>
          <p:cNvPr id="8" name="Text 6"/>
          <p:cNvSpPr/>
          <p:nvPr/>
        </p:nvSpPr>
        <p:spPr>
          <a:xfrm>
            <a:off x="905256" y="2880360"/>
            <a:ext cx="4434840" cy="621792"/>
          </a:xfrm>
          <a:prstGeom prst="rect">
            <a:avLst/>
          </a:prstGeom>
          <a:noFill/>
          <a:ln/>
        </p:spPr>
        <p:txBody>
          <a:bodyPr wrap="square" lIns="0" tIns="0" rIns="0" bIns="0" rtlCol="0" anchor="ctr">
            <a:normAutofit/>
          </a:bodyPr>
          <a:lstStyle/>
          <a:p>
            <a:pPr algn="l" indent="0" marL="0">
              <a:buNone/>
            </a:pPr>
            <a:r>
              <a:rPr lang="en-US" sz="2000" b="1" dirty="0">
                <a:solidFill>
                  <a:srgbClr val="263442"/>
                </a:solidFill>
                <a:latin typeface="Aptos" pitchFamily="34" charset="0"/>
                <a:ea typeface="Aptos" pitchFamily="34" charset="-122"/>
                <a:cs typeface="Aptos" pitchFamily="34" charset="-120"/>
              </a:rPr>
              <a:t>Return true on a match</a:t>
            </a:r>
            <a:endParaRPr lang="en-US" sz="2000" dirty="0"/>
          </a:p>
        </p:txBody>
      </p:sp>
      <p:sp>
        <p:nvSpPr>
          <p:cNvPr id="9" name="Shape 7"/>
          <p:cNvSpPr/>
          <p:nvPr/>
        </p:nvSpPr>
        <p:spPr>
          <a:xfrm>
            <a:off x="676656" y="3886200"/>
            <a:ext cx="4892040" cy="914400"/>
          </a:xfrm>
          <a:prstGeom prst="roundRect">
            <a:avLst>
              <a:gd name="adj" fmla="val 12000"/>
            </a:avLst>
          </a:prstGeom>
          <a:solidFill>
            <a:srgbClr val="FFFFFF"/>
          </a:solidFill>
          <a:ln w="15240">
            <a:solidFill>
              <a:srgbClr val="BDD0D8"/>
            </a:solidFill>
            <a:prstDash val="solid"/>
          </a:ln>
        </p:spPr>
      </p:sp>
      <p:sp>
        <p:nvSpPr>
          <p:cNvPr id="10" name="Text 8"/>
          <p:cNvSpPr/>
          <p:nvPr/>
        </p:nvSpPr>
        <p:spPr>
          <a:xfrm>
            <a:off x="905256" y="4023360"/>
            <a:ext cx="4434840" cy="621792"/>
          </a:xfrm>
          <a:prstGeom prst="rect">
            <a:avLst/>
          </a:prstGeom>
          <a:noFill/>
          <a:ln/>
        </p:spPr>
        <p:txBody>
          <a:bodyPr wrap="square" lIns="0" tIns="0" rIns="0" bIns="0" rtlCol="0" anchor="ctr">
            <a:normAutofit/>
          </a:bodyPr>
          <a:lstStyle/>
          <a:p>
            <a:pPr algn="l" indent="0" marL="0">
              <a:buNone/>
            </a:pPr>
            <a:r>
              <a:rPr lang="en-US" sz="2000" dirty="0">
                <a:solidFill>
                  <a:srgbClr val="263442"/>
                </a:solidFill>
                <a:latin typeface="Aptos" pitchFamily="34" charset="0"/>
                <a:ea typeface="Aptos" pitchFamily="34" charset="-122"/>
                <a:cs typeface="Aptos" pitchFamily="34" charset="-120"/>
              </a:rPr>
              <a:t>Return false after every pair is checked</a:t>
            </a:r>
            <a:endParaRPr lang="en-US" sz="2000" dirty="0"/>
          </a:p>
        </p:txBody>
      </p:sp>
      <p:sp>
        <p:nvSpPr>
          <p:cNvPr id="11" name="Shape 9"/>
          <p:cNvSpPr/>
          <p:nvPr/>
        </p:nvSpPr>
        <p:spPr>
          <a:xfrm>
            <a:off x="6172200" y="2011680"/>
            <a:ext cx="1417320" cy="621792"/>
          </a:xfrm>
          <a:prstGeom prst="roundRect">
            <a:avLst>
              <a:gd name="adj" fmla="val 17647"/>
            </a:avLst>
          </a:prstGeom>
          <a:solidFill>
            <a:srgbClr val="FFFFFF"/>
          </a:solidFill>
          <a:ln w="15240">
            <a:solidFill>
              <a:srgbClr val="FFFFFF"/>
            </a:solidFill>
            <a:prstDash val="solid"/>
          </a:ln>
        </p:spPr>
      </p:sp>
      <p:sp>
        <p:nvSpPr>
          <p:cNvPr id="12" name="Text 10"/>
          <p:cNvSpPr/>
          <p:nvPr/>
        </p:nvSpPr>
        <p:spPr>
          <a:xfrm>
            <a:off x="6281928" y="2057400"/>
            <a:ext cx="1197864" cy="530352"/>
          </a:xfrm>
          <a:prstGeom prst="rect">
            <a:avLst/>
          </a:prstGeom>
          <a:noFill/>
          <a:ln/>
        </p:spPr>
        <p:txBody>
          <a:bodyPr wrap="square" lIns="0" tIns="0" rIns="0" bIns="0" rtlCol="0" anchor="ctr">
            <a:normAutofit/>
          </a:bodyPr>
          <a:lstStyle/>
          <a:p>
            <a:pPr algn="ctr" indent="0" marL="0">
              <a:buNone/>
            </a:pPr>
            <a:r>
              <a:rPr lang="en-US" sz="1500" b="1" dirty="0">
                <a:solidFill>
                  <a:srgbClr val="17324D"/>
                </a:solidFill>
                <a:latin typeface="Aptos" pitchFamily="34" charset="0"/>
                <a:ea typeface="Aptos" pitchFamily="34" charset="-122"/>
                <a:cs typeface="Aptos" pitchFamily="34" charset="-120"/>
              </a:rPr>
              <a:t>(0,1)</a:t>
            </a:r>
            <a:endParaRPr lang="en-US" sz="1500" dirty="0"/>
          </a:p>
        </p:txBody>
      </p:sp>
      <p:sp>
        <p:nvSpPr>
          <p:cNvPr id="13" name="Shape 11"/>
          <p:cNvSpPr/>
          <p:nvPr/>
        </p:nvSpPr>
        <p:spPr>
          <a:xfrm>
            <a:off x="7772400" y="2011680"/>
            <a:ext cx="1417320" cy="621792"/>
          </a:xfrm>
          <a:prstGeom prst="roundRect">
            <a:avLst>
              <a:gd name="adj" fmla="val 17647"/>
            </a:avLst>
          </a:prstGeom>
          <a:solidFill>
            <a:srgbClr val="FFFFFF"/>
          </a:solidFill>
          <a:ln w="15240">
            <a:solidFill>
              <a:srgbClr val="FFFFFF"/>
            </a:solidFill>
            <a:prstDash val="solid"/>
          </a:ln>
        </p:spPr>
      </p:sp>
      <p:sp>
        <p:nvSpPr>
          <p:cNvPr id="14" name="Text 12"/>
          <p:cNvSpPr/>
          <p:nvPr/>
        </p:nvSpPr>
        <p:spPr>
          <a:xfrm>
            <a:off x="7882128" y="2057400"/>
            <a:ext cx="1197864" cy="530352"/>
          </a:xfrm>
          <a:prstGeom prst="rect">
            <a:avLst/>
          </a:prstGeom>
          <a:noFill/>
          <a:ln/>
        </p:spPr>
        <p:txBody>
          <a:bodyPr wrap="square" lIns="0" tIns="0" rIns="0" bIns="0" rtlCol="0" anchor="ctr">
            <a:normAutofit/>
          </a:bodyPr>
          <a:lstStyle/>
          <a:p>
            <a:pPr algn="ctr" indent="0" marL="0">
              <a:buNone/>
            </a:pPr>
            <a:r>
              <a:rPr lang="en-US" sz="1500" b="1" dirty="0">
                <a:solidFill>
                  <a:srgbClr val="17324D"/>
                </a:solidFill>
                <a:latin typeface="Aptos" pitchFamily="34" charset="0"/>
                <a:ea typeface="Aptos" pitchFamily="34" charset="-122"/>
                <a:cs typeface="Aptos" pitchFamily="34" charset="-120"/>
              </a:rPr>
              <a:t>(0,2)</a:t>
            </a:r>
            <a:endParaRPr lang="en-US" sz="1500" dirty="0"/>
          </a:p>
        </p:txBody>
      </p:sp>
      <p:sp>
        <p:nvSpPr>
          <p:cNvPr id="15" name="Shape 13"/>
          <p:cNvSpPr/>
          <p:nvPr/>
        </p:nvSpPr>
        <p:spPr>
          <a:xfrm>
            <a:off x="9372600" y="2011680"/>
            <a:ext cx="1417320" cy="621792"/>
          </a:xfrm>
          <a:prstGeom prst="roundRect">
            <a:avLst>
              <a:gd name="adj" fmla="val 17647"/>
            </a:avLst>
          </a:prstGeom>
          <a:solidFill>
            <a:srgbClr val="FFFFFF"/>
          </a:solidFill>
          <a:ln w="15240">
            <a:solidFill>
              <a:srgbClr val="FFFFFF"/>
            </a:solidFill>
            <a:prstDash val="solid"/>
          </a:ln>
        </p:spPr>
      </p:sp>
      <p:sp>
        <p:nvSpPr>
          <p:cNvPr id="16" name="Text 14"/>
          <p:cNvSpPr/>
          <p:nvPr/>
        </p:nvSpPr>
        <p:spPr>
          <a:xfrm>
            <a:off x="9482328" y="2057400"/>
            <a:ext cx="1197864" cy="530352"/>
          </a:xfrm>
          <a:prstGeom prst="rect">
            <a:avLst/>
          </a:prstGeom>
          <a:noFill/>
          <a:ln/>
        </p:spPr>
        <p:txBody>
          <a:bodyPr wrap="square" lIns="0" tIns="0" rIns="0" bIns="0" rtlCol="0" anchor="ctr">
            <a:normAutofit/>
          </a:bodyPr>
          <a:lstStyle/>
          <a:p>
            <a:pPr algn="ctr" indent="0" marL="0">
              <a:buNone/>
            </a:pPr>
            <a:r>
              <a:rPr lang="en-US" sz="1500" b="1" dirty="0">
                <a:solidFill>
                  <a:srgbClr val="17324D"/>
                </a:solidFill>
                <a:latin typeface="Aptos" pitchFamily="34" charset="0"/>
                <a:ea typeface="Aptos" pitchFamily="34" charset="-122"/>
                <a:cs typeface="Aptos" pitchFamily="34" charset="-120"/>
              </a:rPr>
              <a:t>(0,3)</a:t>
            </a:r>
            <a:endParaRPr lang="en-US" sz="1500" dirty="0"/>
          </a:p>
        </p:txBody>
      </p:sp>
      <p:sp>
        <p:nvSpPr>
          <p:cNvPr id="17" name="Shape 15"/>
          <p:cNvSpPr/>
          <p:nvPr/>
        </p:nvSpPr>
        <p:spPr>
          <a:xfrm>
            <a:off x="6172200" y="2926080"/>
            <a:ext cx="1417320" cy="621792"/>
          </a:xfrm>
          <a:prstGeom prst="roundRect">
            <a:avLst>
              <a:gd name="adj" fmla="val 17647"/>
            </a:avLst>
          </a:prstGeom>
          <a:solidFill>
            <a:srgbClr val="FFFFFF"/>
          </a:solidFill>
          <a:ln w="15240">
            <a:solidFill>
              <a:srgbClr val="FFFFFF"/>
            </a:solidFill>
            <a:prstDash val="solid"/>
          </a:ln>
        </p:spPr>
      </p:sp>
      <p:sp>
        <p:nvSpPr>
          <p:cNvPr id="18" name="Text 16"/>
          <p:cNvSpPr/>
          <p:nvPr/>
        </p:nvSpPr>
        <p:spPr>
          <a:xfrm>
            <a:off x="6281928" y="2971800"/>
            <a:ext cx="1197864" cy="530352"/>
          </a:xfrm>
          <a:prstGeom prst="rect">
            <a:avLst/>
          </a:prstGeom>
          <a:noFill/>
          <a:ln/>
        </p:spPr>
        <p:txBody>
          <a:bodyPr wrap="square" lIns="0" tIns="0" rIns="0" bIns="0" rtlCol="0" anchor="ctr">
            <a:normAutofit/>
          </a:bodyPr>
          <a:lstStyle/>
          <a:p>
            <a:pPr algn="ctr" indent="0" marL="0">
              <a:buNone/>
            </a:pPr>
            <a:r>
              <a:rPr lang="en-US" sz="1500" b="1" dirty="0">
                <a:solidFill>
                  <a:srgbClr val="17324D"/>
                </a:solidFill>
                <a:latin typeface="Aptos" pitchFamily="34" charset="0"/>
                <a:ea typeface="Aptos" pitchFamily="34" charset="-122"/>
                <a:cs typeface="Aptos" pitchFamily="34" charset="-120"/>
              </a:rPr>
              <a:t>(1,2)</a:t>
            </a:r>
            <a:endParaRPr lang="en-US" sz="1500" dirty="0"/>
          </a:p>
        </p:txBody>
      </p:sp>
      <p:sp>
        <p:nvSpPr>
          <p:cNvPr id="19" name="Shape 17"/>
          <p:cNvSpPr/>
          <p:nvPr/>
        </p:nvSpPr>
        <p:spPr>
          <a:xfrm>
            <a:off x="7772400" y="2926080"/>
            <a:ext cx="1417320" cy="621792"/>
          </a:xfrm>
          <a:prstGeom prst="roundRect">
            <a:avLst>
              <a:gd name="adj" fmla="val 17647"/>
            </a:avLst>
          </a:prstGeom>
          <a:solidFill>
            <a:srgbClr val="E8F3F3"/>
          </a:solidFill>
          <a:ln w="15240">
            <a:solidFill>
              <a:srgbClr val="E8F3F3"/>
            </a:solidFill>
            <a:prstDash val="solid"/>
          </a:ln>
        </p:spPr>
      </p:sp>
      <p:sp>
        <p:nvSpPr>
          <p:cNvPr id="20" name="Text 18"/>
          <p:cNvSpPr/>
          <p:nvPr/>
        </p:nvSpPr>
        <p:spPr>
          <a:xfrm>
            <a:off x="7882128" y="2971800"/>
            <a:ext cx="1197864" cy="530352"/>
          </a:xfrm>
          <a:prstGeom prst="rect">
            <a:avLst/>
          </a:prstGeom>
          <a:noFill/>
          <a:ln/>
        </p:spPr>
        <p:txBody>
          <a:bodyPr wrap="square" lIns="0" tIns="0" rIns="0" bIns="0" rtlCol="0" anchor="ctr">
            <a:normAutofit/>
          </a:bodyPr>
          <a:lstStyle/>
          <a:p>
            <a:pPr algn="ctr" indent="0" marL="0">
              <a:buNone/>
            </a:pPr>
            <a:r>
              <a:rPr lang="en-US" sz="1500" b="1" dirty="0">
                <a:solidFill>
                  <a:srgbClr val="17324D"/>
                </a:solidFill>
                <a:latin typeface="Aptos" pitchFamily="34" charset="0"/>
                <a:ea typeface="Aptos" pitchFamily="34" charset="-122"/>
                <a:cs typeface="Aptos" pitchFamily="34" charset="-120"/>
              </a:rPr>
              <a:t>(1,3)</a:t>
            </a:r>
            <a:endParaRPr lang="en-US" sz="1500" dirty="0"/>
          </a:p>
        </p:txBody>
      </p:sp>
      <p:sp>
        <p:nvSpPr>
          <p:cNvPr id="21" name="Shape 19"/>
          <p:cNvSpPr/>
          <p:nvPr/>
        </p:nvSpPr>
        <p:spPr>
          <a:xfrm>
            <a:off x="9372600" y="2926080"/>
            <a:ext cx="1417320" cy="621792"/>
          </a:xfrm>
          <a:prstGeom prst="roundRect">
            <a:avLst>
              <a:gd name="adj" fmla="val 17647"/>
            </a:avLst>
          </a:prstGeom>
          <a:solidFill>
            <a:srgbClr val="FFFFFF"/>
          </a:solidFill>
          <a:ln w="15240">
            <a:solidFill>
              <a:srgbClr val="FFFFFF"/>
            </a:solidFill>
            <a:prstDash val="solid"/>
          </a:ln>
        </p:spPr>
      </p:sp>
      <p:sp>
        <p:nvSpPr>
          <p:cNvPr id="22" name="Text 20"/>
          <p:cNvSpPr/>
          <p:nvPr/>
        </p:nvSpPr>
        <p:spPr>
          <a:xfrm>
            <a:off x="9482328" y="2971800"/>
            <a:ext cx="1197864" cy="530352"/>
          </a:xfrm>
          <a:prstGeom prst="rect">
            <a:avLst/>
          </a:prstGeom>
          <a:noFill/>
          <a:ln/>
        </p:spPr>
        <p:txBody>
          <a:bodyPr wrap="square" lIns="0" tIns="0" rIns="0" bIns="0" rtlCol="0" anchor="ctr">
            <a:normAutofit/>
          </a:bodyPr>
          <a:lstStyle/>
          <a:p>
            <a:pPr algn="ctr" indent="0" marL="0">
              <a:buNone/>
            </a:pPr>
            <a:r>
              <a:rPr lang="en-US" sz="1500" b="1" dirty="0">
                <a:solidFill>
                  <a:srgbClr val="17324D"/>
                </a:solidFill>
                <a:latin typeface="Aptos" pitchFamily="34" charset="0"/>
                <a:ea typeface="Aptos" pitchFamily="34" charset="-122"/>
                <a:cs typeface="Aptos" pitchFamily="34" charset="-120"/>
              </a:rPr>
              <a:t>(2,3)</a:t>
            </a:r>
            <a:endParaRPr lang="en-US" sz="1500" dirty="0"/>
          </a:p>
        </p:txBody>
      </p:sp>
      <p:sp>
        <p:nvSpPr>
          <p:cNvPr id="23" name="Text 21"/>
          <p:cNvSpPr/>
          <p:nvPr/>
        </p:nvSpPr>
        <p:spPr>
          <a:xfrm>
            <a:off x="6172200" y="4224528"/>
            <a:ext cx="4800600" cy="457200"/>
          </a:xfrm>
          <a:prstGeom prst="rect">
            <a:avLst/>
          </a:prstGeom>
          <a:noFill/>
          <a:ln/>
        </p:spPr>
        <p:txBody>
          <a:bodyPr wrap="square" lIns="0" tIns="0" rIns="0" bIns="0" rtlCol="0" anchor="ctr">
            <a:normAutofit/>
          </a:bodyPr>
          <a:lstStyle/>
          <a:p>
            <a:pPr algn="ctr" indent="0" marL="0">
              <a:buNone/>
            </a:pPr>
            <a:r>
              <a:rPr lang="en-US" sz="1600" b="1" dirty="0">
                <a:solidFill>
                  <a:srgbClr val="263442"/>
                </a:solidFill>
                <a:latin typeface="Aptos" pitchFamily="34" charset="0"/>
                <a:ea typeface="Aptos" pitchFamily="34" charset="-122"/>
                <a:cs typeface="Aptos" pitchFamily="34" charset="-120"/>
              </a:rPr>
              <a:t>[3, 8, 5, 8]   match at (1,3)</a:t>
            </a:r>
            <a:endParaRPr lang="en-US" sz="1600" dirty="0"/>
          </a:p>
        </p:txBody>
      </p:sp>
      <p:sp>
        <p:nvSpPr>
          <p:cNvPr id="24" name="Shape 22"/>
          <p:cNvSpPr/>
          <p:nvPr/>
        </p:nvSpPr>
        <p:spPr>
          <a:xfrm>
            <a:off x="667512" y="6208776"/>
            <a:ext cx="10844784" cy="0"/>
          </a:xfrm>
          <a:prstGeom prst="line">
            <a:avLst/>
          </a:prstGeom>
          <a:noFill/>
          <a:ln w="10160">
            <a:solidFill>
              <a:srgbClr val="BDD0D8"/>
            </a:solidFill>
            <a:prstDash val="solid"/>
          </a:ln>
        </p:spPr>
      </p:sp>
      <p:sp>
        <p:nvSpPr>
          <p:cNvPr id="25" name="Text 23"/>
          <p:cNvSpPr/>
          <p:nvPr/>
        </p:nvSpPr>
        <p:spPr>
          <a:xfrm>
            <a:off x="667512" y="6355080"/>
            <a:ext cx="1828800" cy="228600"/>
          </a:xfrm>
          <a:prstGeom prst="rect">
            <a:avLst/>
          </a:prstGeom>
          <a:noFill/>
          <a:ln/>
        </p:spPr>
        <p:txBody>
          <a:bodyPr wrap="square" lIns="0" tIns="0" rIns="0" bIns="0" rtlCol="0" anchor="ctr">
            <a:normAutofit/>
          </a:bodyPr>
          <a:lstStyle/>
          <a:p>
            <a:pPr algn="l" indent="0" marL="0">
              <a:buNone/>
            </a:pPr>
            <a:r>
              <a:rPr lang="en-US" sz="1000" dirty="0">
                <a:solidFill>
                  <a:srgbClr val="607483"/>
                </a:solidFill>
                <a:latin typeface="Aptos" pitchFamily="34" charset="0"/>
                <a:ea typeface="Aptos" pitchFamily="34" charset="-122"/>
                <a:cs typeface="Aptos" pitchFamily="34" charset="-120"/>
              </a:rPr>
              <a:t>M12 · S01</a:t>
            </a:r>
            <a:endParaRPr lang="en-US" sz="1000" dirty="0"/>
          </a:p>
        </p:txBody>
      </p:sp>
      <p:sp>
        <p:nvSpPr>
          <p:cNvPr id="26" name="Text 24"/>
          <p:cNvSpPr/>
          <p:nvPr/>
        </p:nvSpPr>
        <p:spPr>
          <a:xfrm>
            <a:off x="10607040" y="6355080"/>
            <a:ext cx="914400" cy="228600"/>
          </a:xfrm>
          <a:prstGeom prst="rect">
            <a:avLst/>
          </a:prstGeom>
          <a:noFill/>
          <a:ln/>
        </p:spPr>
        <p:txBody>
          <a:bodyPr wrap="square" lIns="0" tIns="0" rIns="0" bIns="0" rtlCol="0" anchor="ctr">
            <a:normAutofit/>
          </a:bodyPr>
          <a:lstStyle/>
          <a:p>
            <a:pPr algn="r" indent="0" marL="0">
              <a:buNone/>
            </a:pPr>
            <a:r>
              <a:rPr lang="en-US" sz="1000" dirty="0">
                <a:solidFill>
                  <a:srgbClr val="607483"/>
                </a:solidFill>
                <a:latin typeface="Aptos" pitchFamily="34" charset="0"/>
                <a:ea typeface="Aptos" pitchFamily="34" charset="-122"/>
                <a:cs typeface="Aptos" pitchFamily="34" charset="-120"/>
              </a:rPr>
              <a:t>09 / 16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08C95"/>
          </a:solidFill>
          <a:ln w="12700">
            <a:solidFill>
              <a:srgbClr val="008C95"/>
            </a:solidFill>
            <a:prstDash val="solid"/>
          </a:ln>
        </p:spPr>
      </p:sp>
      <p:sp>
        <p:nvSpPr>
          <p:cNvPr id="3" name="Text 1"/>
          <p:cNvSpPr/>
          <p:nvPr/>
        </p:nvSpPr>
        <p:spPr>
          <a:xfrm>
            <a:off x="640080" y="384048"/>
            <a:ext cx="10881360" cy="566928"/>
          </a:xfrm>
          <a:prstGeom prst="rect">
            <a:avLst/>
          </a:prstGeom>
          <a:noFill/>
          <a:ln/>
        </p:spPr>
        <p:txBody>
          <a:bodyPr wrap="square" lIns="0" tIns="0" rIns="0" bIns="0" rtlCol="0" anchor="ctr">
            <a:normAutofit/>
          </a:bodyPr>
          <a:lstStyle/>
          <a:p>
            <a:pPr algn="l" indent="0" marL="0">
              <a:buNone/>
            </a:pPr>
            <a:r>
              <a:rPr lang="en-US" sz="3000" b="1" dirty="0">
                <a:solidFill>
                  <a:srgbClr val="17324D"/>
                </a:solidFill>
                <a:latin typeface="Aptos" pitchFamily="34" charset="0"/>
                <a:ea typeface="Aptos" pitchFamily="34" charset="-122"/>
                <a:cs typeface="Aptos" pitchFamily="34" charset="-120"/>
              </a:rPr>
              <a:t>Best, average and worst cases</a:t>
            </a:r>
            <a:endParaRPr lang="en-US" sz="3000" dirty="0"/>
          </a:p>
        </p:txBody>
      </p:sp>
      <p:sp>
        <p:nvSpPr>
          <p:cNvPr id="4" name="Text 2"/>
          <p:cNvSpPr/>
          <p:nvPr/>
        </p:nvSpPr>
        <p:spPr>
          <a:xfrm>
            <a:off x="676656" y="1024128"/>
            <a:ext cx="9875520" cy="265176"/>
          </a:xfrm>
          <a:prstGeom prst="rect">
            <a:avLst/>
          </a:prstGeom>
          <a:noFill/>
          <a:ln/>
        </p:spPr>
        <p:txBody>
          <a:bodyPr wrap="square" lIns="0" tIns="0" rIns="0" bIns="0" rtlCol="0" anchor="ctr">
            <a:normAutofit/>
          </a:bodyPr>
          <a:lstStyle/>
          <a:p>
            <a:pPr algn="l" indent="0" marL="0">
              <a:buNone/>
            </a:pPr>
            <a:r>
              <a:rPr lang="en-US" sz="1200" b="1" dirty="0">
                <a:solidFill>
                  <a:srgbClr val="008C95"/>
                </a:solidFill>
                <a:latin typeface="Aptos" pitchFamily="34" charset="0"/>
                <a:ea typeface="Aptos" pitchFamily="34" charset="-122"/>
                <a:cs typeface="Aptos" pitchFamily="34" charset="-120"/>
              </a:rPr>
              <a:t>K2, C2.</a:t>
            </a:r>
            <a:endParaRPr lang="en-US" sz="1200" dirty="0"/>
          </a:p>
        </p:txBody>
      </p:sp>
      <p:sp>
        <p:nvSpPr>
          <p:cNvPr id="5" name="Shape 3"/>
          <p:cNvSpPr/>
          <p:nvPr/>
        </p:nvSpPr>
        <p:spPr>
          <a:xfrm>
            <a:off x="676656" y="1600200"/>
            <a:ext cx="4892040" cy="914400"/>
          </a:xfrm>
          <a:prstGeom prst="roundRect">
            <a:avLst>
              <a:gd name="adj" fmla="val 12000"/>
            </a:avLst>
          </a:prstGeom>
          <a:solidFill>
            <a:srgbClr val="FFFFFF"/>
          </a:solidFill>
          <a:ln w="15240">
            <a:solidFill>
              <a:srgbClr val="BDD0D8"/>
            </a:solidFill>
            <a:prstDash val="solid"/>
          </a:ln>
        </p:spPr>
      </p:sp>
      <p:sp>
        <p:nvSpPr>
          <p:cNvPr id="6" name="Text 4"/>
          <p:cNvSpPr/>
          <p:nvPr/>
        </p:nvSpPr>
        <p:spPr>
          <a:xfrm>
            <a:off x="905256" y="1737360"/>
            <a:ext cx="4434840" cy="621792"/>
          </a:xfrm>
          <a:prstGeom prst="rect">
            <a:avLst/>
          </a:prstGeom>
          <a:noFill/>
          <a:ln/>
        </p:spPr>
        <p:txBody>
          <a:bodyPr wrap="square" lIns="0" tIns="0" rIns="0" bIns="0" rtlCol="0" anchor="ctr">
            <a:normAutofit/>
          </a:bodyPr>
          <a:lstStyle/>
          <a:p>
            <a:pPr algn="l" indent="0" marL="0">
              <a:buNone/>
            </a:pPr>
            <a:r>
              <a:rPr lang="en-US" sz="2000" dirty="0">
                <a:solidFill>
                  <a:srgbClr val="263442"/>
                </a:solidFill>
                <a:latin typeface="Aptos" pitchFamily="34" charset="0"/>
                <a:ea typeface="Aptos" pitchFamily="34" charset="-122"/>
                <a:cs typeface="Aptos" pitchFamily="34" charset="-120"/>
              </a:rPr>
              <a:t>Search: first, distributed first position, absent</a:t>
            </a:r>
            <a:endParaRPr lang="en-US" sz="2000" dirty="0"/>
          </a:p>
        </p:txBody>
      </p:sp>
      <p:sp>
        <p:nvSpPr>
          <p:cNvPr id="7" name="Shape 5"/>
          <p:cNvSpPr/>
          <p:nvPr/>
        </p:nvSpPr>
        <p:spPr>
          <a:xfrm>
            <a:off x="676656" y="2743200"/>
            <a:ext cx="4892040" cy="914400"/>
          </a:xfrm>
          <a:prstGeom prst="roundRect">
            <a:avLst>
              <a:gd name="adj" fmla="val 12000"/>
            </a:avLst>
          </a:prstGeom>
          <a:solidFill>
            <a:srgbClr val="E8F3F3"/>
          </a:solidFill>
          <a:ln w="15240">
            <a:solidFill>
              <a:srgbClr val="008C95"/>
            </a:solidFill>
            <a:prstDash val="solid"/>
          </a:ln>
        </p:spPr>
      </p:sp>
      <p:sp>
        <p:nvSpPr>
          <p:cNvPr id="8" name="Text 6"/>
          <p:cNvSpPr/>
          <p:nvPr/>
        </p:nvSpPr>
        <p:spPr>
          <a:xfrm>
            <a:off x="905256" y="2880360"/>
            <a:ext cx="4434840" cy="621792"/>
          </a:xfrm>
          <a:prstGeom prst="rect">
            <a:avLst/>
          </a:prstGeom>
          <a:noFill/>
          <a:ln/>
        </p:spPr>
        <p:txBody>
          <a:bodyPr wrap="square" lIns="0" tIns="0" rIns="0" bIns="0" rtlCol="0" anchor="ctr">
            <a:normAutofit/>
          </a:bodyPr>
          <a:lstStyle/>
          <a:p>
            <a:pPr algn="l" indent="0" marL="0">
              <a:buNone/>
            </a:pPr>
            <a:r>
              <a:rPr lang="en-US" sz="2000" b="1" dirty="0">
                <a:solidFill>
                  <a:srgbClr val="263442"/>
                </a:solidFill>
                <a:latin typeface="Aptos" pitchFamily="34" charset="0"/>
                <a:ea typeface="Aptos" pitchFamily="34" charset="-122"/>
                <a:cs typeface="Aptos" pitchFamily="34" charset="-120"/>
              </a:rPr>
              <a:t>Duplicate check: early match or all pairs</a:t>
            </a:r>
            <a:endParaRPr lang="en-US" sz="2000" dirty="0"/>
          </a:p>
        </p:txBody>
      </p:sp>
      <p:sp>
        <p:nvSpPr>
          <p:cNvPr id="9" name="Shape 7"/>
          <p:cNvSpPr/>
          <p:nvPr/>
        </p:nvSpPr>
        <p:spPr>
          <a:xfrm>
            <a:off x="676656" y="3886200"/>
            <a:ext cx="4892040" cy="914400"/>
          </a:xfrm>
          <a:prstGeom prst="roundRect">
            <a:avLst>
              <a:gd name="adj" fmla="val 12000"/>
            </a:avLst>
          </a:prstGeom>
          <a:solidFill>
            <a:srgbClr val="FFFFFF"/>
          </a:solidFill>
          <a:ln w="15240">
            <a:solidFill>
              <a:srgbClr val="BDD0D8"/>
            </a:solidFill>
            <a:prstDash val="solid"/>
          </a:ln>
        </p:spPr>
      </p:sp>
      <p:sp>
        <p:nvSpPr>
          <p:cNvPr id="10" name="Text 8"/>
          <p:cNvSpPr/>
          <p:nvPr/>
        </p:nvSpPr>
        <p:spPr>
          <a:xfrm>
            <a:off x="905256" y="4023360"/>
            <a:ext cx="4434840" cy="621792"/>
          </a:xfrm>
          <a:prstGeom prst="rect">
            <a:avLst/>
          </a:prstGeom>
          <a:noFill/>
          <a:ln/>
        </p:spPr>
        <p:txBody>
          <a:bodyPr wrap="square" lIns="0" tIns="0" rIns="0" bIns="0" rtlCol="0" anchor="ctr">
            <a:normAutofit/>
          </a:bodyPr>
          <a:lstStyle/>
          <a:p>
            <a:pPr algn="l" indent="0" marL="0">
              <a:buNone/>
            </a:pPr>
            <a:r>
              <a:rPr lang="en-US" sz="2000" dirty="0">
                <a:solidFill>
                  <a:srgbClr val="263442"/>
                </a:solidFill>
                <a:latin typeface="Aptos" pitchFamily="34" charset="0"/>
                <a:ea typeface="Aptos" pitchFamily="34" charset="-122"/>
                <a:cs typeface="Aptos" pitchFamily="34" charset="-120"/>
              </a:rPr>
              <a:t>Average needs a stated distribution</a:t>
            </a:r>
            <a:endParaRPr lang="en-US" sz="2000" dirty="0"/>
          </a:p>
        </p:txBody>
      </p:sp>
      <p:sp>
        <p:nvSpPr>
          <p:cNvPr id="11" name="Shape 9"/>
          <p:cNvSpPr/>
          <p:nvPr/>
        </p:nvSpPr>
        <p:spPr>
          <a:xfrm>
            <a:off x="6217920" y="1874520"/>
            <a:ext cx="1417320" cy="1005840"/>
          </a:xfrm>
          <a:prstGeom prst="roundRect">
            <a:avLst>
              <a:gd name="adj" fmla="val 10909"/>
            </a:avLst>
          </a:prstGeom>
          <a:solidFill>
            <a:srgbClr val="E8F3F3"/>
          </a:solidFill>
          <a:ln w="15240">
            <a:solidFill>
              <a:srgbClr val="008C95"/>
            </a:solidFill>
            <a:prstDash val="solid"/>
          </a:ln>
        </p:spPr>
      </p:sp>
      <p:sp>
        <p:nvSpPr>
          <p:cNvPr id="12" name="Text 10"/>
          <p:cNvSpPr/>
          <p:nvPr/>
        </p:nvSpPr>
        <p:spPr>
          <a:xfrm>
            <a:off x="6327648" y="2039112"/>
            <a:ext cx="1197864" cy="640080"/>
          </a:xfrm>
          <a:prstGeom prst="rect">
            <a:avLst/>
          </a:prstGeom>
          <a:noFill/>
          <a:ln/>
        </p:spPr>
        <p:txBody>
          <a:bodyPr wrap="square" lIns="0" tIns="0" rIns="0" bIns="0" rtlCol="0" anchor="ctr">
            <a:normAutofit/>
          </a:bodyPr>
          <a:lstStyle/>
          <a:p>
            <a:pPr algn="ctr" indent="0" marL="0">
              <a:buNone/>
            </a:pPr>
            <a:r>
              <a:rPr lang="en-US" sz="1500" b="1" dirty="0">
                <a:solidFill>
                  <a:srgbClr val="263442"/>
                </a:solidFill>
                <a:latin typeface="Aptos" pitchFamily="34" charset="0"/>
                <a:ea typeface="Aptos" pitchFamily="34" charset="-122"/>
                <a:cs typeface="Aptos" pitchFamily="34" charset="-120"/>
              </a:rPr>
              <a:t>Best</a:t>
            </a:r>
            <a:endParaRPr lang="en-US" sz="1500" dirty="0"/>
          </a:p>
        </p:txBody>
      </p:sp>
      <p:sp>
        <p:nvSpPr>
          <p:cNvPr id="13" name="Text 11"/>
          <p:cNvSpPr/>
          <p:nvPr/>
        </p:nvSpPr>
        <p:spPr>
          <a:xfrm>
            <a:off x="7635240" y="2185416"/>
            <a:ext cx="201168" cy="228600"/>
          </a:xfrm>
          <a:prstGeom prst="rect">
            <a:avLst/>
          </a:prstGeom>
          <a:noFill/>
          <a:ln/>
        </p:spPr>
        <p:txBody>
          <a:bodyPr wrap="square" lIns="0" tIns="0" rIns="0" bIns="0" rtlCol="0" anchor="ctr">
            <a:normAutofit/>
          </a:bodyPr>
          <a:lstStyle/>
          <a:p>
            <a:pPr algn="ctr" indent="0" marL="0">
              <a:buNone/>
            </a:pPr>
            <a:r>
              <a:rPr lang="en-US" sz="1800" dirty="0">
                <a:solidFill>
                  <a:srgbClr val="008C95"/>
                </a:solidFill>
                <a:latin typeface="Aptos" pitchFamily="34" charset="0"/>
                <a:ea typeface="Aptos" pitchFamily="34" charset="-122"/>
                <a:cs typeface="Aptos" pitchFamily="34" charset="-120"/>
              </a:rPr>
              <a:t>→</a:t>
            </a:r>
            <a:endParaRPr lang="en-US" sz="1800" dirty="0"/>
          </a:p>
        </p:txBody>
      </p:sp>
      <p:sp>
        <p:nvSpPr>
          <p:cNvPr id="14" name="Shape 12"/>
          <p:cNvSpPr/>
          <p:nvPr/>
        </p:nvSpPr>
        <p:spPr>
          <a:xfrm>
            <a:off x="7836408" y="1874520"/>
            <a:ext cx="1417320" cy="1005840"/>
          </a:xfrm>
          <a:prstGeom prst="roundRect">
            <a:avLst>
              <a:gd name="adj" fmla="val 10909"/>
            </a:avLst>
          </a:prstGeom>
          <a:solidFill>
            <a:srgbClr val="FFFFFF"/>
          </a:solidFill>
          <a:ln w="15240">
            <a:solidFill>
              <a:srgbClr val="BDD0D8"/>
            </a:solidFill>
            <a:prstDash val="solid"/>
          </a:ln>
        </p:spPr>
      </p:sp>
      <p:sp>
        <p:nvSpPr>
          <p:cNvPr id="15" name="Text 13"/>
          <p:cNvSpPr/>
          <p:nvPr/>
        </p:nvSpPr>
        <p:spPr>
          <a:xfrm>
            <a:off x="7946136" y="2039112"/>
            <a:ext cx="1197864" cy="640080"/>
          </a:xfrm>
          <a:prstGeom prst="rect">
            <a:avLst/>
          </a:prstGeom>
          <a:noFill/>
          <a:ln/>
        </p:spPr>
        <p:txBody>
          <a:bodyPr wrap="square" lIns="0" tIns="0" rIns="0" bIns="0" rtlCol="0" anchor="ctr">
            <a:normAutofit/>
          </a:bodyPr>
          <a:lstStyle/>
          <a:p>
            <a:pPr algn="ctr" indent="0" marL="0">
              <a:buNone/>
            </a:pPr>
            <a:r>
              <a:rPr lang="en-US" sz="1500" b="1" dirty="0">
                <a:solidFill>
                  <a:srgbClr val="263442"/>
                </a:solidFill>
                <a:latin typeface="Aptos" pitchFamily="34" charset="0"/>
                <a:ea typeface="Aptos" pitchFamily="34" charset="-122"/>
                <a:cs typeface="Aptos" pitchFamily="34" charset="-120"/>
              </a:rPr>
              <a:t>Average model</a:t>
            </a:r>
            <a:endParaRPr lang="en-US" sz="1500" dirty="0"/>
          </a:p>
        </p:txBody>
      </p:sp>
      <p:sp>
        <p:nvSpPr>
          <p:cNvPr id="16" name="Text 14"/>
          <p:cNvSpPr/>
          <p:nvPr/>
        </p:nvSpPr>
        <p:spPr>
          <a:xfrm>
            <a:off x="9253728" y="2185416"/>
            <a:ext cx="201168" cy="228600"/>
          </a:xfrm>
          <a:prstGeom prst="rect">
            <a:avLst/>
          </a:prstGeom>
          <a:noFill/>
          <a:ln/>
        </p:spPr>
        <p:txBody>
          <a:bodyPr wrap="square" lIns="0" tIns="0" rIns="0" bIns="0" rtlCol="0" anchor="ctr">
            <a:normAutofit/>
          </a:bodyPr>
          <a:lstStyle/>
          <a:p>
            <a:pPr algn="ctr" indent="0" marL="0">
              <a:buNone/>
            </a:pPr>
            <a:r>
              <a:rPr lang="en-US" sz="1800" dirty="0">
                <a:solidFill>
                  <a:srgbClr val="008C95"/>
                </a:solidFill>
                <a:latin typeface="Aptos" pitchFamily="34" charset="0"/>
                <a:ea typeface="Aptos" pitchFamily="34" charset="-122"/>
                <a:cs typeface="Aptos" pitchFamily="34" charset="-120"/>
              </a:rPr>
              <a:t>→</a:t>
            </a:r>
            <a:endParaRPr lang="en-US" sz="1800" dirty="0"/>
          </a:p>
        </p:txBody>
      </p:sp>
      <p:sp>
        <p:nvSpPr>
          <p:cNvPr id="17" name="Shape 15"/>
          <p:cNvSpPr/>
          <p:nvPr/>
        </p:nvSpPr>
        <p:spPr>
          <a:xfrm>
            <a:off x="9454896" y="1874520"/>
            <a:ext cx="1417320" cy="1005840"/>
          </a:xfrm>
          <a:prstGeom prst="roundRect">
            <a:avLst>
              <a:gd name="adj" fmla="val 10909"/>
            </a:avLst>
          </a:prstGeom>
          <a:solidFill>
            <a:srgbClr val="FFFFFF"/>
          </a:solidFill>
          <a:ln w="15240">
            <a:solidFill>
              <a:srgbClr val="BDD0D8"/>
            </a:solidFill>
            <a:prstDash val="solid"/>
          </a:ln>
        </p:spPr>
      </p:sp>
      <p:sp>
        <p:nvSpPr>
          <p:cNvPr id="18" name="Text 16"/>
          <p:cNvSpPr/>
          <p:nvPr/>
        </p:nvSpPr>
        <p:spPr>
          <a:xfrm>
            <a:off x="9564624" y="2039112"/>
            <a:ext cx="1197864" cy="640080"/>
          </a:xfrm>
          <a:prstGeom prst="rect">
            <a:avLst/>
          </a:prstGeom>
          <a:noFill/>
          <a:ln/>
        </p:spPr>
        <p:txBody>
          <a:bodyPr wrap="square" lIns="0" tIns="0" rIns="0" bIns="0" rtlCol="0" anchor="ctr">
            <a:normAutofit/>
          </a:bodyPr>
          <a:lstStyle/>
          <a:p>
            <a:pPr algn="ctr" indent="0" marL="0">
              <a:buNone/>
            </a:pPr>
            <a:r>
              <a:rPr lang="en-US" sz="1500" b="1" dirty="0">
                <a:solidFill>
                  <a:srgbClr val="263442"/>
                </a:solidFill>
                <a:latin typeface="Aptos" pitchFamily="34" charset="0"/>
                <a:ea typeface="Aptos" pitchFamily="34" charset="-122"/>
                <a:cs typeface="Aptos" pitchFamily="34" charset="-120"/>
              </a:rPr>
              <a:t>Worst</a:t>
            </a:r>
            <a:endParaRPr lang="en-US" sz="1500" dirty="0"/>
          </a:p>
        </p:txBody>
      </p:sp>
      <p:sp>
        <p:nvSpPr>
          <p:cNvPr id="19" name="Text 17"/>
          <p:cNvSpPr/>
          <p:nvPr/>
        </p:nvSpPr>
        <p:spPr>
          <a:xfrm>
            <a:off x="6172200" y="3337560"/>
            <a:ext cx="4846320" cy="502920"/>
          </a:xfrm>
          <a:prstGeom prst="rect">
            <a:avLst/>
          </a:prstGeom>
          <a:noFill/>
          <a:ln/>
        </p:spPr>
        <p:txBody>
          <a:bodyPr wrap="square" lIns="0" tIns="0" rIns="0" bIns="0" rtlCol="0" anchor="ctr">
            <a:normAutofit/>
          </a:bodyPr>
          <a:lstStyle/>
          <a:p>
            <a:pPr algn="ctr" indent="0" marL="0">
              <a:buNone/>
            </a:pPr>
            <a:r>
              <a:rPr lang="en-US" sz="1900" b="1" dirty="0">
                <a:solidFill>
                  <a:srgbClr val="263442"/>
                </a:solidFill>
                <a:latin typeface="Aptos" pitchFamily="34" charset="0"/>
                <a:ea typeface="Aptos" pitchFamily="34" charset="-122"/>
                <a:cs typeface="Aptos" pitchFamily="34" charset="-120"/>
              </a:rPr>
              <a:t>Search:  1   |   (n+1)/2   |   n</a:t>
            </a:r>
            <a:endParaRPr lang="en-US" sz="1900" dirty="0"/>
          </a:p>
        </p:txBody>
      </p:sp>
      <p:sp>
        <p:nvSpPr>
          <p:cNvPr id="20" name="Text 18"/>
          <p:cNvSpPr/>
          <p:nvPr/>
        </p:nvSpPr>
        <p:spPr>
          <a:xfrm>
            <a:off x="6172200" y="4096512"/>
            <a:ext cx="4846320" cy="548640"/>
          </a:xfrm>
          <a:prstGeom prst="rect">
            <a:avLst/>
          </a:prstGeom>
          <a:noFill/>
          <a:ln/>
        </p:spPr>
        <p:txBody>
          <a:bodyPr wrap="square" lIns="0" tIns="0" rIns="0" bIns="0" rtlCol="0" anchor="ctr">
            <a:normAutofit/>
          </a:bodyPr>
          <a:lstStyle/>
          <a:p>
            <a:pPr algn="ctr" indent="0" marL="0">
              <a:buNone/>
            </a:pPr>
            <a:r>
              <a:rPr lang="en-US" sz="1700" dirty="0">
                <a:solidFill>
                  <a:srgbClr val="008C95"/>
                </a:solidFill>
                <a:latin typeface="Aptos" pitchFamily="34" charset="0"/>
                <a:ea typeface="Aptos" pitchFamily="34" charset="-122"/>
                <a:cs typeface="Aptos" pitchFamily="34" charset="-120"/>
              </a:rPr>
              <a:t>Averages require a probability model</a:t>
            </a:r>
            <a:endParaRPr lang="en-US" sz="1700" dirty="0"/>
          </a:p>
        </p:txBody>
      </p:sp>
      <p:sp>
        <p:nvSpPr>
          <p:cNvPr id="21" name="Shape 19"/>
          <p:cNvSpPr/>
          <p:nvPr/>
        </p:nvSpPr>
        <p:spPr>
          <a:xfrm>
            <a:off x="667512" y="6208776"/>
            <a:ext cx="10844784" cy="0"/>
          </a:xfrm>
          <a:prstGeom prst="line">
            <a:avLst/>
          </a:prstGeom>
          <a:noFill/>
          <a:ln w="10160">
            <a:solidFill>
              <a:srgbClr val="BDD0D8"/>
            </a:solidFill>
            <a:prstDash val="solid"/>
          </a:ln>
        </p:spPr>
      </p:sp>
      <p:sp>
        <p:nvSpPr>
          <p:cNvPr id="22" name="Text 20"/>
          <p:cNvSpPr/>
          <p:nvPr/>
        </p:nvSpPr>
        <p:spPr>
          <a:xfrm>
            <a:off x="667512" y="6355080"/>
            <a:ext cx="1828800" cy="228600"/>
          </a:xfrm>
          <a:prstGeom prst="rect">
            <a:avLst/>
          </a:prstGeom>
          <a:noFill/>
          <a:ln/>
        </p:spPr>
        <p:txBody>
          <a:bodyPr wrap="square" lIns="0" tIns="0" rIns="0" bIns="0" rtlCol="0" anchor="ctr">
            <a:normAutofit/>
          </a:bodyPr>
          <a:lstStyle/>
          <a:p>
            <a:pPr algn="l" indent="0" marL="0">
              <a:buNone/>
            </a:pPr>
            <a:r>
              <a:rPr lang="en-US" sz="1000" dirty="0">
                <a:solidFill>
                  <a:srgbClr val="607483"/>
                </a:solidFill>
                <a:latin typeface="Aptos" pitchFamily="34" charset="0"/>
                <a:ea typeface="Aptos" pitchFamily="34" charset="-122"/>
                <a:cs typeface="Aptos" pitchFamily="34" charset="-120"/>
              </a:rPr>
              <a:t>M12 · S01</a:t>
            </a:r>
            <a:endParaRPr lang="en-US" sz="1000" dirty="0"/>
          </a:p>
        </p:txBody>
      </p:sp>
      <p:sp>
        <p:nvSpPr>
          <p:cNvPr id="23" name="Text 21"/>
          <p:cNvSpPr/>
          <p:nvPr/>
        </p:nvSpPr>
        <p:spPr>
          <a:xfrm>
            <a:off x="10607040" y="6355080"/>
            <a:ext cx="914400" cy="228600"/>
          </a:xfrm>
          <a:prstGeom prst="rect">
            <a:avLst/>
          </a:prstGeom>
          <a:noFill/>
          <a:ln/>
        </p:spPr>
        <p:txBody>
          <a:bodyPr wrap="square" lIns="0" tIns="0" rIns="0" bIns="0" rtlCol="0" anchor="ctr">
            <a:normAutofit/>
          </a:bodyPr>
          <a:lstStyle/>
          <a:p>
            <a:pPr algn="r" indent="0" marL="0">
              <a:buNone/>
            </a:pPr>
            <a:r>
              <a:rPr lang="en-US" sz="1000" dirty="0">
                <a:solidFill>
                  <a:srgbClr val="607483"/>
                </a:solidFill>
                <a:latin typeface="Aptos" pitchFamily="34" charset="0"/>
                <a:ea typeface="Aptos" pitchFamily="34" charset="-122"/>
                <a:cs typeface="Aptos" pitchFamily="34" charset="-120"/>
              </a:rPr>
              <a:t>10 / 16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08C95"/>
          </a:solidFill>
          <a:ln w="12700">
            <a:solidFill>
              <a:srgbClr val="008C95"/>
            </a:solidFill>
            <a:prstDash val="solid"/>
          </a:ln>
        </p:spPr>
      </p:sp>
      <p:sp>
        <p:nvSpPr>
          <p:cNvPr id="3" name="Text 1"/>
          <p:cNvSpPr/>
          <p:nvPr/>
        </p:nvSpPr>
        <p:spPr>
          <a:xfrm>
            <a:off x="640080" y="384048"/>
            <a:ext cx="10881360" cy="566928"/>
          </a:xfrm>
          <a:prstGeom prst="rect">
            <a:avLst/>
          </a:prstGeom>
          <a:noFill/>
          <a:ln/>
        </p:spPr>
        <p:txBody>
          <a:bodyPr wrap="square" lIns="0" tIns="0" rIns="0" bIns="0" rtlCol="0" anchor="ctr">
            <a:normAutofit/>
          </a:bodyPr>
          <a:lstStyle/>
          <a:p>
            <a:pPr algn="l" indent="0" marL="0">
              <a:buNone/>
            </a:pPr>
            <a:r>
              <a:rPr lang="en-US" sz="3000" b="1" dirty="0">
                <a:solidFill>
                  <a:srgbClr val="17324D"/>
                </a:solidFill>
                <a:latin typeface="Aptos" pitchFamily="34" charset="0"/>
                <a:ea typeface="Aptos" pitchFamily="34" charset="-122"/>
                <a:cs typeface="Aptos" pitchFamily="34" charset="-120"/>
              </a:rPr>
              <a:t>Three asymptotic bounds</a:t>
            </a:r>
            <a:endParaRPr lang="en-US" sz="3000" dirty="0"/>
          </a:p>
        </p:txBody>
      </p:sp>
      <p:sp>
        <p:nvSpPr>
          <p:cNvPr id="4" name="Text 2"/>
          <p:cNvSpPr/>
          <p:nvPr/>
        </p:nvSpPr>
        <p:spPr>
          <a:xfrm>
            <a:off x="676656" y="1024128"/>
            <a:ext cx="9875520" cy="265176"/>
          </a:xfrm>
          <a:prstGeom prst="rect">
            <a:avLst/>
          </a:prstGeom>
          <a:noFill/>
          <a:ln/>
        </p:spPr>
        <p:txBody>
          <a:bodyPr wrap="square" lIns="0" tIns="0" rIns="0" bIns="0" rtlCol="0" anchor="ctr">
            <a:normAutofit/>
          </a:bodyPr>
          <a:lstStyle/>
          <a:p>
            <a:pPr algn="l" indent="0" marL="0">
              <a:buNone/>
            </a:pPr>
            <a:r>
              <a:rPr lang="en-US" sz="1200" b="1" dirty="0">
                <a:solidFill>
                  <a:srgbClr val="008C95"/>
                </a:solidFill>
                <a:latin typeface="Aptos" pitchFamily="34" charset="0"/>
                <a:ea typeface="Aptos" pitchFamily="34" charset="-122"/>
                <a:cs typeface="Aptos" pitchFamily="34" charset="-120"/>
              </a:rPr>
              <a:t>K2.</a:t>
            </a:r>
            <a:endParaRPr lang="en-US" sz="1200" dirty="0"/>
          </a:p>
        </p:txBody>
      </p:sp>
      <p:sp>
        <p:nvSpPr>
          <p:cNvPr id="5" name="Shape 3"/>
          <p:cNvSpPr/>
          <p:nvPr/>
        </p:nvSpPr>
        <p:spPr>
          <a:xfrm>
            <a:off x="676656" y="1600200"/>
            <a:ext cx="4892040" cy="914400"/>
          </a:xfrm>
          <a:prstGeom prst="roundRect">
            <a:avLst>
              <a:gd name="adj" fmla="val 12000"/>
            </a:avLst>
          </a:prstGeom>
          <a:solidFill>
            <a:srgbClr val="FFFFFF"/>
          </a:solidFill>
          <a:ln w="15240">
            <a:solidFill>
              <a:srgbClr val="BDD0D8"/>
            </a:solidFill>
            <a:prstDash val="solid"/>
          </a:ln>
        </p:spPr>
      </p:sp>
      <p:sp>
        <p:nvSpPr>
          <p:cNvPr id="6" name="Text 4"/>
          <p:cNvSpPr/>
          <p:nvPr/>
        </p:nvSpPr>
        <p:spPr>
          <a:xfrm>
            <a:off x="905256" y="1737360"/>
            <a:ext cx="4434840" cy="621792"/>
          </a:xfrm>
          <a:prstGeom prst="rect">
            <a:avLst/>
          </a:prstGeom>
          <a:noFill/>
          <a:ln/>
        </p:spPr>
        <p:txBody>
          <a:bodyPr wrap="square" lIns="0" tIns="0" rIns="0" bIns="0" rtlCol="0" anchor="ctr">
            <a:normAutofit/>
          </a:bodyPr>
          <a:lstStyle/>
          <a:p>
            <a:pPr algn="l" indent="0" marL="0">
              <a:buNone/>
            </a:pPr>
            <a:r>
              <a:rPr lang="en-US" sz="2000" dirty="0">
                <a:solidFill>
                  <a:srgbClr val="263442"/>
                </a:solidFill>
                <a:latin typeface="Aptos" pitchFamily="34" charset="0"/>
                <a:ea typeface="Aptos" pitchFamily="34" charset="-122"/>
                <a:cs typeface="Aptos" pitchFamily="34" charset="-120"/>
              </a:rPr>
              <a:t>O(g): eventual upper bound</a:t>
            </a:r>
            <a:endParaRPr lang="en-US" sz="2000" dirty="0"/>
          </a:p>
        </p:txBody>
      </p:sp>
      <p:sp>
        <p:nvSpPr>
          <p:cNvPr id="7" name="Shape 5"/>
          <p:cNvSpPr/>
          <p:nvPr/>
        </p:nvSpPr>
        <p:spPr>
          <a:xfrm>
            <a:off x="676656" y="2743200"/>
            <a:ext cx="4892040" cy="914400"/>
          </a:xfrm>
          <a:prstGeom prst="roundRect">
            <a:avLst>
              <a:gd name="adj" fmla="val 12000"/>
            </a:avLst>
          </a:prstGeom>
          <a:solidFill>
            <a:srgbClr val="E8F3F3"/>
          </a:solidFill>
          <a:ln w="15240">
            <a:solidFill>
              <a:srgbClr val="008C95"/>
            </a:solidFill>
            <a:prstDash val="solid"/>
          </a:ln>
        </p:spPr>
      </p:sp>
      <p:sp>
        <p:nvSpPr>
          <p:cNvPr id="8" name="Text 6"/>
          <p:cNvSpPr/>
          <p:nvPr/>
        </p:nvSpPr>
        <p:spPr>
          <a:xfrm>
            <a:off x="905256" y="2880360"/>
            <a:ext cx="4434840" cy="621792"/>
          </a:xfrm>
          <a:prstGeom prst="rect">
            <a:avLst/>
          </a:prstGeom>
          <a:noFill/>
          <a:ln/>
        </p:spPr>
        <p:txBody>
          <a:bodyPr wrap="square" lIns="0" tIns="0" rIns="0" bIns="0" rtlCol="0" anchor="ctr">
            <a:normAutofit/>
          </a:bodyPr>
          <a:lstStyle/>
          <a:p>
            <a:pPr algn="l" indent="0" marL="0">
              <a:buNone/>
            </a:pPr>
            <a:r>
              <a:rPr lang="en-US" sz="2000" b="1" dirty="0">
                <a:solidFill>
                  <a:srgbClr val="263442"/>
                </a:solidFill>
                <a:latin typeface="Aptos" pitchFamily="34" charset="0"/>
                <a:ea typeface="Aptos" pitchFamily="34" charset="-122"/>
                <a:cs typeface="Aptos" pitchFamily="34" charset="-120"/>
              </a:rPr>
              <a:t>Ω(g): eventual lower bound</a:t>
            </a:r>
            <a:endParaRPr lang="en-US" sz="2000" dirty="0"/>
          </a:p>
        </p:txBody>
      </p:sp>
      <p:sp>
        <p:nvSpPr>
          <p:cNvPr id="9" name="Shape 7"/>
          <p:cNvSpPr/>
          <p:nvPr/>
        </p:nvSpPr>
        <p:spPr>
          <a:xfrm>
            <a:off x="676656" y="3886200"/>
            <a:ext cx="4892040" cy="914400"/>
          </a:xfrm>
          <a:prstGeom prst="roundRect">
            <a:avLst>
              <a:gd name="adj" fmla="val 12000"/>
            </a:avLst>
          </a:prstGeom>
          <a:solidFill>
            <a:srgbClr val="FFFFFF"/>
          </a:solidFill>
          <a:ln w="15240">
            <a:solidFill>
              <a:srgbClr val="BDD0D8"/>
            </a:solidFill>
            <a:prstDash val="solid"/>
          </a:ln>
        </p:spPr>
      </p:sp>
      <p:sp>
        <p:nvSpPr>
          <p:cNvPr id="10" name="Text 8"/>
          <p:cNvSpPr/>
          <p:nvPr/>
        </p:nvSpPr>
        <p:spPr>
          <a:xfrm>
            <a:off x="905256" y="4023360"/>
            <a:ext cx="4434840" cy="621792"/>
          </a:xfrm>
          <a:prstGeom prst="rect">
            <a:avLst/>
          </a:prstGeom>
          <a:noFill/>
          <a:ln/>
        </p:spPr>
        <p:txBody>
          <a:bodyPr wrap="square" lIns="0" tIns="0" rIns="0" bIns="0" rtlCol="0" anchor="ctr">
            <a:normAutofit/>
          </a:bodyPr>
          <a:lstStyle/>
          <a:p>
            <a:pPr algn="l" indent="0" marL="0">
              <a:buNone/>
            </a:pPr>
            <a:r>
              <a:rPr lang="en-US" sz="2000" dirty="0">
                <a:solidFill>
                  <a:srgbClr val="263442"/>
                </a:solidFill>
                <a:latin typeface="Aptos" pitchFamily="34" charset="0"/>
                <a:ea typeface="Aptos" pitchFamily="34" charset="-122"/>
                <a:cs typeface="Aptos" pitchFamily="34" charset="-120"/>
              </a:rPr>
              <a:t>Θ(g): both bounds</a:t>
            </a:r>
            <a:endParaRPr lang="en-US" sz="2000" dirty="0"/>
          </a:p>
        </p:txBody>
      </p:sp>
      <p:sp>
        <p:nvSpPr>
          <p:cNvPr id="11" name="Shape 9"/>
          <p:cNvSpPr/>
          <p:nvPr/>
        </p:nvSpPr>
        <p:spPr>
          <a:xfrm>
            <a:off x="6537960" y="4434840"/>
            <a:ext cx="4297680" cy="0"/>
          </a:xfrm>
          <a:prstGeom prst="line">
            <a:avLst/>
          </a:prstGeom>
          <a:noFill/>
          <a:ln w="25400">
            <a:solidFill>
              <a:srgbClr val="17324D"/>
            </a:solidFill>
            <a:prstDash val="solid"/>
          </a:ln>
        </p:spPr>
      </p:sp>
      <p:sp>
        <p:nvSpPr>
          <p:cNvPr id="12" name="Shape 10"/>
          <p:cNvSpPr/>
          <p:nvPr/>
        </p:nvSpPr>
        <p:spPr>
          <a:xfrm flipV="1">
            <a:off x="6537960" y="1965960"/>
            <a:ext cx="0" cy="2468880"/>
          </a:xfrm>
          <a:prstGeom prst="line">
            <a:avLst/>
          </a:prstGeom>
          <a:noFill/>
          <a:ln w="25400">
            <a:solidFill>
              <a:srgbClr val="17324D"/>
            </a:solidFill>
            <a:prstDash val="solid"/>
          </a:ln>
        </p:spPr>
      </p:sp>
      <p:sp>
        <p:nvSpPr>
          <p:cNvPr id="13" name="Shape 11"/>
          <p:cNvSpPr/>
          <p:nvPr/>
        </p:nvSpPr>
        <p:spPr>
          <a:xfrm flipV="1">
            <a:off x="6858000" y="2670048"/>
            <a:ext cx="3474720" cy="1280160"/>
          </a:xfrm>
          <a:prstGeom prst="line">
            <a:avLst/>
          </a:prstGeom>
          <a:noFill/>
          <a:ln w="38100">
            <a:solidFill>
              <a:srgbClr val="008C95"/>
            </a:solidFill>
            <a:prstDash val="solid"/>
          </a:ln>
        </p:spPr>
      </p:sp>
      <p:sp>
        <p:nvSpPr>
          <p:cNvPr id="14" name="Shape 12"/>
          <p:cNvSpPr/>
          <p:nvPr/>
        </p:nvSpPr>
        <p:spPr>
          <a:xfrm flipV="1">
            <a:off x="6858000" y="3291840"/>
            <a:ext cx="3474720" cy="960120"/>
          </a:xfrm>
          <a:prstGeom prst="line">
            <a:avLst/>
          </a:prstGeom>
          <a:noFill/>
          <a:ln w="25400">
            <a:solidFill>
              <a:srgbClr val="D8684E"/>
            </a:solidFill>
            <a:prstDash val="solid"/>
          </a:ln>
        </p:spPr>
      </p:sp>
      <p:sp>
        <p:nvSpPr>
          <p:cNvPr id="15" name="Shape 13"/>
          <p:cNvSpPr/>
          <p:nvPr/>
        </p:nvSpPr>
        <p:spPr>
          <a:xfrm flipV="1">
            <a:off x="6858000" y="1993392"/>
            <a:ext cx="3474720" cy="1389888"/>
          </a:xfrm>
          <a:prstGeom prst="line">
            <a:avLst/>
          </a:prstGeom>
          <a:noFill/>
          <a:ln w="25400">
            <a:solidFill>
              <a:srgbClr val="BDD0D8"/>
            </a:solidFill>
            <a:prstDash val="solid"/>
          </a:ln>
        </p:spPr>
      </p:sp>
      <p:sp>
        <p:nvSpPr>
          <p:cNvPr id="16" name="Text 14"/>
          <p:cNvSpPr/>
          <p:nvPr/>
        </p:nvSpPr>
        <p:spPr>
          <a:xfrm>
            <a:off x="6995160" y="4590288"/>
            <a:ext cx="3474720" cy="320040"/>
          </a:xfrm>
          <a:prstGeom prst="rect">
            <a:avLst/>
          </a:prstGeom>
          <a:noFill/>
          <a:ln/>
        </p:spPr>
        <p:txBody>
          <a:bodyPr wrap="square" lIns="0" tIns="0" rIns="0" bIns="0" rtlCol="0" anchor="ctr">
            <a:normAutofit/>
          </a:bodyPr>
          <a:lstStyle/>
          <a:p>
            <a:pPr algn="ctr" indent="0" marL="0">
              <a:buNone/>
            </a:pPr>
            <a:r>
              <a:rPr lang="en-US" sz="1500" dirty="0">
                <a:solidFill>
                  <a:srgbClr val="263442"/>
                </a:solidFill>
                <a:latin typeface="Aptos" pitchFamily="34" charset="0"/>
                <a:ea typeface="Aptos" pitchFamily="34" charset="-122"/>
                <a:cs typeface="Aptos" pitchFamily="34" charset="-120"/>
              </a:rPr>
              <a:t>eventual bounds after n₀</a:t>
            </a:r>
            <a:endParaRPr lang="en-US" sz="1500" dirty="0"/>
          </a:p>
        </p:txBody>
      </p:sp>
      <p:sp>
        <p:nvSpPr>
          <p:cNvPr id="17" name="Shape 15"/>
          <p:cNvSpPr/>
          <p:nvPr/>
        </p:nvSpPr>
        <p:spPr>
          <a:xfrm>
            <a:off x="667512" y="6208776"/>
            <a:ext cx="10844784" cy="0"/>
          </a:xfrm>
          <a:prstGeom prst="line">
            <a:avLst/>
          </a:prstGeom>
          <a:noFill/>
          <a:ln w="10160">
            <a:solidFill>
              <a:srgbClr val="BDD0D8"/>
            </a:solidFill>
            <a:prstDash val="solid"/>
          </a:ln>
        </p:spPr>
      </p:sp>
      <p:sp>
        <p:nvSpPr>
          <p:cNvPr id="18" name="Text 16"/>
          <p:cNvSpPr/>
          <p:nvPr/>
        </p:nvSpPr>
        <p:spPr>
          <a:xfrm>
            <a:off x="667512" y="6355080"/>
            <a:ext cx="1828800" cy="228600"/>
          </a:xfrm>
          <a:prstGeom prst="rect">
            <a:avLst/>
          </a:prstGeom>
          <a:noFill/>
          <a:ln/>
        </p:spPr>
        <p:txBody>
          <a:bodyPr wrap="square" lIns="0" tIns="0" rIns="0" bIns="0" rtlCol="0" anchor="ctr">
            <a:normAutofit/>
          </a:bodyPr>
          <a:lstStyle/>
          <a:p>
            <a:pPr algn="l" indent="0" marL="0">
              <a:buNone/>
            </a:pPr>
            <a:r>
              <a:rPr lang="en-US" sz="1000" dirty="0">
                <a:solidFill>
                  <a:srgbClr val="607483"/>
                </a:solidFill>
                <a:latin typeface="Aptos" pitchFamily="34" charset="0"/>
                <a:ea typeface="Aptos" pitchFamily="34" charset="-122"/>
                <a:cs typeface="Aptos" pitchFamily="34" charset="-120"/>
              </a:rPr>
              <a:t>M12 · S01</a:t>
            </a:r>
            <a:endParaRPr lang="en-US" sz="1000" dirty="0"/>
          </a:p>
        </p:txBody>
      </p:sp>
      <p:sp>
        <p:nvSpPr>
          <p:cNvPr id="19" name="Text 17"/>
          <p:cNvSpPr/>
          <p:nvPr/>
        </p:nvSpPr>
        <p:spPr>
          <a:xfrm>
            <a:off x="10607040" y="6355080"/>
            <a:ext cx="914400" cy="228600"/>
          </a:xfrm>
          <a:prstGeom prst="rect">
            <a:avLst/>
          </a:prstGeom>
          <a:noFill/>
          <a:ln/>
        </p:spPr>
        <p:txBody>
          <a:bodyPr wrap="square" lIns="0" tIns="0" rIns="0" bIns="0" rtlCol="0" anchor="ctr">
            <a:normAutofit/>
          </a:bodyPr>
          <a:lstStyle/>
          <a:p>
            <a:pPr algn="r" indent="0" marL="0">
              <a:buNone/>
            </a:pPr>
            <a:r>
              <a:rPr lang="en-US" sz="1000" dirty="0">
                <a:solidFill>
                  <a:srgbClr val="607483"/>
                </a:solidFill>
                <a:latin typeface="Aptos" pitchFamily="34" charset="0"/>
                <a:ea typeface="Aptos" pitchFamily="34" charset="-122"/>
                <a:cs typeface="Aptos" pitchFamily="34" charset="-120"/>
              </a:rPr>
              <a:t>11 / 16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08C95"/>
          </a:solidFill>
          <a:ln w="12700">
            <a:solidFill>
              <a:srgbClr val="008C95"/>
            </a:solidFill>
            <a:prstDash val="solid"/>
          </a:ln>
        </p:spPr>
      </p:sp>
      <p:sp>
        <p:nvSpPr>
          <p:cNvPr id="3" name="Text 1"/>
          <p:cNvSpPr/>
          <p:nvPr/>
        </p:nvSpPr>
        <p:spPr>
          <a:xfrm>
            <a:off x="640080" y="384048"/>
            <a:ext cx="10881360" cy="566928"/>
          </a:xfrm>
          <a:prstGeom prst="rect">
            <a:avLst/>
          </a:prstGeom>
          <a:noFill/>
          <a:ln/>
        </p:spPr>
        <p:txBody>
          <a:bodyPr wrap="square" lIns="0" tIns="0" rIns="0" bIns="0" rtlCol="0" anchor="ctr">
            <a:normAutofit/>
          </a:bodyPr>
          <a:lstStyle/>
          <a:p>
            <a:pPr algn="l" indent="0" marL="0">
              <a:buNone/>
            </a:pPr>
            <a:r>
              <a:rPr lang="en-US" sz="3000" b="1" dirty="0">
                <a:solidFill>
                  <a:srgbClr val="17324D"/>
                </a:solidFill>
                <a:latin typeface="Aptos" pitchFamily="34" charset="0"/>
                <a:ea typeface="Aptos" pitchFamily="34" charset="-122"/>
                <a:cs typeface="Aptos" pitchFamily="34" charset="-120"/>
              </a:rPr>
              <a:t>Count operations before naming growth</a:t>
            </a:r>
            <a:endParaRPr lang="en-US" sz="3000" dirty="0"/>
          </a:p>
        </p:txBody>
      </p:sp>
      <p:sp>
        <p:nvSpPr>
          <p:cNvPr id="4" name="Text 2"/>
          <p:cNvSpPr/>
          <p:nvPr/>
        </p:nvSpPr>
        <p:spPr>
          <a:xfrm>
            <a:off x="676656" y="1024128"/>
            <a:ext cx="9875520" cy="265176"/>
          </a:xfrm>
          <a:prstGeom prst="rect">
            <a:avLst/>
          </a:prstGeom>
          <a:noFill/>
          <a:ln/>
        </p:spPr>
        <p:txBody>
          <a:bodyPr wrap="square" lIns="0" tIns="0" rIns="0" bIns="0" rtlCol="0" anchor="ctr">
            <a:normAutofit/>
          </a:bodyPr>
          <a:lstStyle/>
          <a:p>
            <a:pPr algn="l" indent="0" marL="0">
              <a:buNone/>
            </a:pPr>
            <a:r>
              <a:rPr lang="en-US" sz="1200" b="1" dirty="0">
                <a:solidFill>
                  <a:srgbClr val="008C95"/>
                </a:solidFill>
                <a:latin typeface="Aptos" pitchFamily="34" charset="0"/>
                <a:ea typeface="Aptos" pitchFamily="34" charset="-122"/>
                <a:cs typeface="Aptos" pitchFamily="34" charset="-120"/>
              </a:rPr>
              <a:t>K2, C3.</a:t>
            </a:r>
            <a:endParaRPr lang="en-US" sz="1200" dirty="0"/>
          </a:p>
        </p:txBody>
      </p:sp>
      <p:sp>
        <p:nvSpPr>
          <p:cNvPr id="5" name="Shape 3"/>
          <p:cNvSpPr/>
          <p:nvPr/>
        </p:nvSpPr>
        <p:spPr>
          <a:xfrm>
            <a:off x="676656" y="1600200"/>
            <a:ext cx="4892040" cy="914400"/>
          </a:xfrm>
          <a:prstGeom prst="roundRect">
            <a:avLst>
              <a:gd name="adj" fmla="val 12000"/>
            </a:avLst>
          </a:prstGeom>
          <a:solidFill>
            <a:srgbClr val="FFFFFF"/>
          </a:solidFill>
          <a:ln w="15240">
            <a:solidFill>
              <a:srgbClr val="BDD0D8"/>
            </a:solidFill>
            <a:prstDash val="solid"/>
          </a:ln>
        </p:spPr>
      </p:sp>
      <p:sp>
        <p:nvSpPr>
          <p:cNvPr id="6" name="Text 4"/>
          <p:cNvSpPr/>
          <p:nvPr/>
        </p:nvSpPr>
        <p:spPr>
          <a:xfrm>
            <a:off x="905256" y="1737360"/>
            <a:ext cx="4434840" cy="621792"/>
          </a:xfrm>
          <a:prstGeom prst="rect">
            <a:avLst/>
          </a:prstGeom>
          <a:noFill/>
          <a:ln/>
        </p:spPr>
        <p:txBody>
          <a:bodyPr wrap="square" lIns="0" tIns="0" rIns="0" bIns="0" rtlCol="0" anchor="ctr">
            <a:normAutofit/>
          </a:bodyPr>
          <a:lstStyle/>
          <a:p>
            <a:pPr algn="l" indent="0" marL="0">
              <a:buNone/>
            </a:pPr>
            <a:r>
              <a:rPr lang="en-US" sz="2000" dirty="0">
                <a:solidFill>
                  <a:srgbClr val="263442"/>
                </a:solidFill>
                <a:latin typeface="Aptos" pitchFamily="34" charset="0"/>
                <a:ea typeface="Aptos" pitchFamily="34" charset="-122"/>
                <a:cs typeface="Aptos" pitchFamily="34" charset="-120"/>
              </a:rPr>
              <a:t>Sequential loops add</a:t>
            </a:r>
            <a:endParaRPr lang="en-US" sz="2000" dirty="0"/>
          </a:p>
        </p:txBody>
      </p:sp>
      <p:sp>
        <p:nvSpPr>
          <p:cNvPr id="7" name="Shape 5"/>
          <p:cNvSpPr/>
          <p:nvPr/>
        </p:nvSpPr>
        <p:spPr>
          <a:xfrm>
            <a:off x="676656" y="2743200"/>
            <a:ext cx="4892040" cy="914400"/>
          </a:xfrm>
          <a:prstGeom prst="roundRect">
            <a:avLst>
              <a:gd name="adj" fmla="val 12000"/>
            </a:avLst>
          </a:prstGeom>
          <a:solidFill>
            <a:srgbClr val="E8F3F3"/>
          </a:solidFill>
          <a:ln w="15240">
            <a:solidFill>
              <a:srgbClr val="008C95"/>
            </a:solidFill>
            <a:prstDash val="solid"/>
          </a:ln>
        </p:spPr>
      </p:sp>
      <p:sp>
        <p:nvSpPr>
          <p:cNvPr id="8" name="Text 6"/>
          <p:cNvSpPr/>
          <p:nvPr/>
        </p:nvSpPr>
        <p:spPr>
          <a:xfrm>
            <a:off x="905256" y="2880360"/>
            <a:ext cx="4434840" cy="621792"/>
          </a:xfrm>
          <a:prstGeom prst="rect">
            <a:avLst/>
          </a:prstGeom>
          <a:noFill/>
          <a:ln/>
        </p:spPr>
        <p:txBody>
          <a:bodyPr wrap="square" lIns="0" tIns="0" rIns="0" bIns="0" rtlCol="0" anchor="ctr">
            <a:normAutofit/>
          </a:bodyPr>
          <a:lstStyle/>
          <a:p>
            <a:pPr algn="l" indent="0" marL="0">
              <a:buNone/>
            </a:pPr>
            <a:r>
              <a:rPr lang="en-US" sz="2000" b="1" dirty="0">
                <a:solidFill>
                  <a:srgbClr val="263442"/>
                </a:solidFill>
                <a:latin typeface="Aptos" pitchFamily="34" charset="0"/>
                <a:ea typeface="Aptos" pitchFamily="34" charset="-122"/>
                <a:cs typeface="Aptos" pitchFamily="34" charset="-120"/>
              </a:rPr>
              <a:t>Nested pair checks sum 1+…+(n−1)</a:t>
            </a:r>
            <a:endParaRPr lang="en-US" sz="2000" dirty="0"/>
          </a:p>
        </p:txBody>
      </p:sp>
      <p:sp>
        <p:nvSpPr>
          <p:cNvPr id="9" name="Shape 7"/>
          <p:cNvSpPr/>
          <p:nvPr/>
        </p:nvSpPr>
        <p:spPr>
          <a:xfrm>
            <a:off x="676656" y="3886200"/>
            <a:ext cx="4892040" cy="914400"/>
          </a:xfrm>
          <a:prstGeom prst="roundRect">
            <a:avLst>
              <a:gd name="adj" fmla="val 12000"/>
            </a:avLst>
          </a:prstGeom>
          <a:solidFill>
            <a:srgbClr val="FFFFFF"/>
          </a:solidFill>
          <a:ln w="15240">
            <a:solidFill>
              <a:srgbClr val="BDD0D8"/>
            </a:solidFill>
            <a:prstDash val="solid"/>
          </a:ln>
        </p:spPr>
      </p:sp>
      <p:sp>
        <p:nvSpPr>
          <p:cNvPr id="10" name="Text 8"/>
          <p:cNvSpPr/>
          <p:nvPr/>
        </p:nvSpPr>
        <p:spPr>
          <a:xfrm>
            <a:off x="905256" y="4023360"/>
            <a:ext cx="4434840" cy="621792"/>
          </a:xfrm>
          <a:prstGeom prst="rect">
            <a:avLst/>
          </a:prstGeom>
          <a:noFill/>
          <a:ln/>
        </p:spPr>
        <p:txBody>
          <a:bodyPr wrap="square" lIns="0" tIns="0" rIns="0" bIns="0" rtlCol="0" anchor="ctr">
            <a:normAutofit/>
          </a:bodyPr>
          <a:lstStyle/>
          <a:p>
            <a:pPr algn="l" indent="0" marL="0">
              <a:buNone/>
            </a:pPr>
            <a:r>
              <a:rPr lang="en-US" sz="2000" dirty="0">
                <a:solidFill>
                  <a:srgbClr val="263442"/>
                </a:solidFill>
                <a:latin typeface="Aptos" pitchFamily="34" charset="0"/>
                <a:ea typeface="Aptos" pitchFamily="34" charset="-122"/>
                <a:cs typeface="Aptos" pitchFamily="34" charset="-120"/>
              </a:rPr>
              <a:t>State the unit-cost assumption</a:t>
            </a:r>
            <a:endParaRPr lang="en-US" sz="2000" dirty="0"/>
          </a:p>
        </p:txBody>
      </p:sp>
      <p:sp>
        <p:nvSpPr>
          <p:cNvPr id="11" name="Text 9"/>
          <p:cNvSpPr/>
          <p:nvPr/>
        </p:nvSpPr>
        <p:spPr>
          <a:xfrm>
            <a:off x="6172200" y="1828800"/>
            <a:ext cx="2011680" cy="365760"/>
          </a:xfrm>
          <a:prstGeom prst="rect">
            <a:avLst/>
          </a:prstGeom>
          <a:noFill/>
          <a:ln/>
        </p:spPr>
        <p:txBody>
          <a:bodyPr wrap="square" lIns="0" tIns="0" rIns="0" bIns="0" rtlCol="0" anchor="ctr">
            <a:normAutofit/>
          </a:bodyPr>
          <a:lstStyle/>
          <a:p>
            <a:pPr algn="l" indent="0" marL="0">
              <a:buNone/>
            </a:pPr>
            <a:r>
              <a:rPr lang="en-US" sz="1700" b="1" dirty="0">
                <a:solidFill>
                  <a:srgbClr val="263442"/>
                </a:solidFill>
                <a:latin typeface="Aptos" pitchFamily="34" charset="0"/>
                <a:ea typeface="Aptos" pitchFamily="34" charset="-122"/>
                <a:cs typeface="Aptos" pitchFamily="34" charset="-120"/>
              </a:rPr>
              <a:t>single scan</a:t>
            </a:r>
            <a:endParaRPr lang="en-US" sz="1700" dirty="0"/>
          </a:p>
        </p:txBody>
      </p:sp>
      <p:sp>
        <p:nvSpPr>
          <p:cNvPr id="12" name="Shape 10"/>
          <p:cNvSpPr/>
          <p:nvPr/>
        </p:nvSpPr>
        <p:spPr>
          <a:xfrm>
            <a:off x="9555480" y="1828800"/>
            <a:ext cx="1097280" cy="502920"/>
          </a:xfrm>
          <a:prstGeom prst="roundRect">
            <a:avLst>
              <a:gd name="adj" fmla="val 21818"/>
            </a:avLst>
          </a:prstGeom>
          <a:solidFill>
            <a:srgbClr val="E8F3F3"/>
          </a:solidFill>
          <a:ln w="15240">
            <a:solidFill>
              <a:srgbClr val="E8F3F3"/>
            </a:solidFill>
            <a:prstDash val="solid"/>
          </a:ln>
        </p:spPr>
      </p:sp>
      <p:sp>
        <p:nvSpPr>
          <p:cNvPr id="13" name="Text 11"/>
          <p:cNvSpPr/>
          <p:nvPr/>
        </p:nvSpPr>
        <p:spPr>
          <a:xfrm>
            <a:off x="9665208" y="1874520"/>
            <a:ext cx="877824" cy="411480"/>
          </a:xfrm>
          <a:prstGeom prst="rect">
            <a:avLst/>
          </a:prstGeom>
          <a:noFill/>
          <a:ln/>
        </p:spPr>
        <p:txBody>
          <a:bodyPr wrap="square" lIns="0" tIns="0" rIns="0" bIns="0" rtlCol="0" anchor="ctr">
            <a:normAutofit/>
          </a:bodyPr>
          <a:lstStyle/>
          <a:p>
            <a:pPr algn="ctr" indent="0" marL="0">
              <a:buNone/>
            </a:pPr>
            <a:r>
              <a:rPr lang="en-US" sz="1500" b="1" dirty="0">
                <a:solidFill>
                  <a:srgbClr val="17324D"/>
                </a:solidFill>
                <a:latin typeface="Aptos" pitchFamily="34" charset="0"/>
                <a:ea typeface="Aptos" pitchFamily="34" charset="-122"/>
                <a:cs typeface="Aptos" pitchFamily="34" charset="-120"/>
              </a:rPr>
              <a:t>n</a:t>
            </a:r>
            <a:endParaRPr lang="en-US" sz="1500" dirty="0"/>
          </a:p>
        </p:txBody>
      </p:sp>
      <p:sp>
        <p:nvSpPr>
          <p:cNvPr id="14" name="Text 12"/>
          <p:cNvSpPr/>
          <p:nvPr/>
        </p:nvSpPr>
        <p:spPr>
          <a:xfrm>
            <a:off x="6172200" y="2880360"/>
            <a:ext cx="2834640" cy="365760"/>
          </a:xfrm>
          <a:prstGeom prst="rect">
            <a:avLst/>
          </a:prstGeom>
          <a:noFill/>
          <a:ln/>
        </p:spPr>
        <p:txBody>
          <a:bodyPr wrap="square" lIns="0" tIns="0" rIns="0" bIns="0" rtlCol="0" anchor="ctr">
            <a:normAutofit/>
          </a:bodyPr>
          <a:lstStyle/>
          <a:p>
            <a:pPr algn="l" indent="0" marL="0">
              <a:buNone/>
            </a:pPr>
            <a:r>
              <a:rPr lang="en-US" sz="1700" b="1" dirty="0">
                <a:solidFill>
                  <a:srgbClr val="263442"/>
                </a:solidFill>
                <a:latin typeface="Aptos" pitchFamily="34" charset="0"/>
                <a:ea typeface="Aptos" pitchFamily="34" charset="-122"/>
                <a:cs typeface="Aptos" pitchFamily="34" charset="-120"/>
              </a:rPr>
              <a:t>pair counts for n = 4</a:t>
            </a:r>
            <a:endParaRPr lang="en-US" sz="1700" dirty="0"/>
          </a:p>
        </p:txBody>
      </p:sp>
      <p:sp>
        <p:nvSpPr>
          <p:cNvPr id="15" name="Shape 13"/>
          <p:cNvSpPr/>
          <p:nvPr/>
        </p:nvSpPr>
        <p:spPr>
          <a:xfrm>
            <a:off x="6172200" y="3520440"/>
            <a:ext cx="1143000" cy="640080"/>
          </a:xfrm>
          <a:prstGeom prst="roundRect">
            <a:avLst>
              <a:gd name="adj" fmla="val 17143"/>
            </a:avLst>
          </a:prstGeom>
          <a:solidFill>
            <a:srgbClr val="E8F3F3"/>
          </a:solidFill>
          <a:ln w="15240">
            <a:solidFill>
              <a:srgbClr val="E8F3F3"/>
            </a:solidFill>
            <a:prstDash val="solid"/>
          </a:ln>
        </p:spPr>
      </p:sp>
      <p:sp>
        <p:nvSpPr>
          <p:cNvPr id="16" name="Text 14"/>
          <p:cNvSpPr/>
          <p:nvPr/>
        </p:nvSpPr>
        <p:spPr>
          <a:xfrm>
            <a:off x="6281928" y="3566160"/>
            <a:ext cx="923544" cy="548640"/>
          </a:xfrm>
          <a:prstGeom prst="rect">
            <a:avLst/>
          </a:prstGeom>
          <a:noFill/>
          <a:ln/>
        </p:spPr>
        <p:txBody>
          <a:bodyPr wrap="square" lIns="0" tIns="0" rIns="0" bIns="0" rtlCol="0" anchor="ctr">
            <a:normAutofit/>
          </a:bodyPr>
          <a:lstStyle/>
          <a:p>
            <a:pPr algn="ctr" indent="0" marL="0">
              <a:buNone/>
            </a:pPr>
            <a:r>
              <a:rPr lang="en-US" sz="1500" b="1" dirty="0">
                <a:solidFill>
                  <a:srgbClr val="17324D"/>
                </a:solidFill>
                <a:latin typeface="Aptos" pitchFamily="34" charset="0"/>
                <a:ea typeface="Aptos" pitchFamily="34" charset="-122"/>
                <a:cs typeface="Aptos" pitchFamily="34" charset="-120"/>
              </a:rPr>
              <a:t>3</a:t>
            </a:r>
            <a:endParaRPr lang="en-US" sz="1500" dirty="0"/>
          </a:p>
        </p:txBody>
      </p:sp>
      <p:sp>
        <p:nvSpPr>
          <p:cNvPr id="17" name="Shape 15"/>
          <p:cNvSpPr/>
          <p:nvPr/>
        </p:nvSpPr>
        <p:spPr>
          <a:xfrm>
            <a:off x="7589520" y="3520440"/>
            <a:ext cx="1143000" cy="640080"/>
          </a:xfrm>
          <a:prstGeom prst="roundRect">
            <a:avLst>
              <a:gd name="adj" fmla="val 17143"/>
            </a:avLst>
          </a:prstGeom>
          <a:solidFill>
            <a:srgbClr val="FFFFFF"/>
          </a:solidFill>
          <a:ln w="15240">
            <a:solidFill>
              <a:srgbClr val="FFFFFF"/>
            </a:solidFill>
            <a:prstDash val="solid"/>
          </a:ln>
        </p:spPr>
      </p:sp>
      <p:sp>
        <p:nvSpPr>
          <p:cNvPr id="18" name="Text 16"/>
          <p:cNvSpPr/>
          <p:nvPr/>
        </p:nvSpPr>
        <p:spPr>
          <a:xfrm>
            <a:off x="7699248" y="3566160"/>
            <a:ext cx="923544" cy="548640"/>
          </a:xfrm>
          <a:prstGeom prst="rect">
            <a:avLst/>
          </a:prstGeom>
          <a:noFill/>
          <a:ln/>
        </p:spPr>
        <p:txBody>
          <a:bodyPr wrap="square" lIns="0" tIns="0" rIns="0" bIns="0" rtlCol="0" anchor="ctr">
            <a:normAutofit/>
          </a:bodyPr>
          <a:lstStyle/>
          <a:p>
            <a:pPr algn="ctr" indent="0" marL="0">
              <a:buNone/>
            </a:pPr>
            <a:r>
              <a:rPr lang="en-US" sz="1500" b="1" dirty="0">
                <a:solidFill>
                  <a:srgbClr val="17324D"/>
                </a:solidFill>
                <a:latin typeface="Aptos" pitchFamily="34" charset="0"/>
                <a:ea typeface="Aptos" pitchFamily="34" charset="-122"/>
                <a:cs typeface="Aptos" pitchFamily="34" charset="-120"/>
              </a:rPr>
              <a:t>2</a:t>
            </a:r>
            <a:endParaRPr lang="en-US" sz="1500" dirty="0"/>
          </a:p>
        </p:txBody>
      </p:sp>
      <p:sp>
        <p:nvSpPr>
          <p:cNvPr id="19" name="Shape 17"/>
          <p:cNvSpPr/>
          <p:nvPr/>
        </p:nvSpPr>
        <p:spPr>
          <a:xfrm>
            <a:off x="9006840" y="3520440"/>
            <a:ext cx="1143000" cy="640080"/>
          </a:xfrm>
          <a:prstGeom prst="roundRect">
            <a:avLst>
              <a:gd name="adj" fmla="val 17143"/>
            </a:avLst>
          </a:prstGeom>
          <a:solidFill>
            <a:srgbClr val="FFFFFF"/>
          </a:solidFill>
          <a:ln w="15240">
            <a:solidFill>
              <a:srgbClr val="FFFFFF"/>
            </a:solidFill>
            <a:prstDash val="solid"/>
          </a:ln>
        </p:spPr>
      </p:sp>
      <p:sp>
        <p:nvSpPr>
          <p:cNvPr id="20" name="Text 18"/>
          <p:cNvSpPr/>
          <p:nvPr/>
        </p:nvSpPr>
        <p:spPr>
          <a:xfrm>
            <a:off x="9116568" y="3566160"/>
            <a:ext cx="923544" cy="548640"/>
          </a:xfrm>
          <a:prstGeom prst="rect">
            <a:avLst/>
          </a:prstGeom>
          <a:noFill/>
          <a:ln/>
        </p:spPr>
        <p:txBody>
          <a:bodyPr wrap="square" lIns="0" tIns="0" rIns="0" bIns="0" rtlCol="0" anchor="ctr">
            <a:normAutofit/>
          </a:bodyPr>
          <a:lstStyle/>
          <a:p>
            <a:pPr algn="ctr" indent="0" marL="0">
              <a:buNone/>
            </a:pPr>
            <a:r>
              <a:rPr lang="en-US" sz="1500" b="1" dirty="0">
                <a:solidFill>
                  <a:srgbClr val="17324D"/>
                </a:solidFill>
                <a:latin typeface="Aptos" pitchFamily="34" charset="0"/>
                <a:ea typeface="Aptos" pitchFamily="34" charset="-122"/>
                <a:cs typeface="Aptos" pitchFamily="34" charset="-120"/>
              </a:rPr>
              <a:t>1</a:t>
            </a:r>
            <a:endParaRPr lang="en-US" sz="1500" dirty="0"/>
          </a:p>
        </p:txBody>
      </p:sp>
      <p:sp>
        <p:nvSpPr>
          <p:cNvPr id="21" name="Text 19"/>
          <p:cNvSpPr/>
          <p:nvPr/>
        </p:nvSpPr>
        <p:spPr>
          <a:xfrm>
            <a:off x="6172200" y="4389120"/>
            <a:ext cx="4572000" cy="411480"/>
          </a:xfrm>
          <a:prstGeom prst="rect">
            <a:avLst/>
          </a:prstGeom>
          <a:noFill/>
          <a:ln/>
        </p:spPr>
        <p:txBody>
          <a:bodyPr wrap="square" lIns="0" tIns="0" rIns="0" bIns="0" rtlCol="0" anchor="ctr">
            <a:normAutofit/>
          </a:bodyPr>
          <a:lstStyle/>
          <a:p>
            <a:pPr algn="ctr" indent="0" marL="0">
              <a:buNone/>
            </a:pPr>
            <a:r>
              <a:rPr lang="en-US" sz="1800" dirty="0">
                <a:solidFill>
                  <a:srgbClr val="008C95"/>
                </a:solidFill>
                <a:latin typeface="Aptos" pitchFamily="34" charset="0"/>
                <a:ea typeface="Aptos" pitchFamily="34" charset="-122"/>
                <a:cs typeface="Aptos" pitchFamily="34" charset="-120"/>
              </a:rPr>
              <a:t>3 + 2 + 1 = 6</a:t>
            </a:r>
            <a:endParaRPr lang="en-US" sz="1800" dirty="0"/>
          </a:p>
        </p:txBody>
      </p:sp>
      <p:sp>
        <p:nvSpPr>
          <p:cNvPr id="22" name="Shape 20"/>
          <p:cNvSpPr/>
          <p:nvPr/>
        </p:nvSpPr>
        <p:spPr>
          <a:xfrm>
            <a:off x="667512" y="6208776"/>
            <a:ext cx="10844784" cy="0"/>
          </a:xfrm>
          <a:prstGeom prst="line">
            <a:avLst/>
          </a:prstGeom>
          <a:noFill/>
          <a:ln w="10160">
            <a:solidFill>
              <a:srgbClr val="BDD0D8"/>
            </a:solidFill>
            <a:prstDash val="solid"/>
          </a:ln>
        </p:spPr>
      </p:sp>
      <p:sp>
        <p:nvSpPr>
          <p:cNvPr id="23" name="Text 21"/>
          <p:cNvSpPr/>
          <p:nvPr/>
        </p:nvSpPr>
        <p:spPr>
          <a:xfrm>
            <a:off x="667512" y="6355080"/>
            <a:ext cx="1828800" cy="228600"/>
          </a:xfrm>
          <a:prstGeom prst="rect">
            <a:avLst/>
          </a:prstGeom>
          <a:noFill/>
          <a:ln/>
        </p:spPr>
        <p:txBody>
          <a:bodyPr wrap="square" lIns="0" tIns="0" rIns="0" bIns="0" rtlCol="0" anchor="ctr">
            <a:normAutofit/>
          </a:bodyPr>
          <a:lstStyle/>
          <a:p>
            <a:pPr algn="l" indent="0" marL="0">
              <a:buNone/>
            </a:pPr>
            <a:r>
              <a:rPr lang="en-US" sz="1000" dirty="0">
                <a:solidFill>
                  <a:srgbClr val="607483"/>
                </a:solidFill>
                <a:latin typeface="Aptos" pitchFamily="34" charset="0"/>
                <a:ea typeface="Aptos" pitchFamily="34" charset="-122"/>
                <a:cs typeface="Aptos" pitchFamily="34" charset="-120"/>
              </a:rPr>
              <a:t>M12 · S01</a:t>
            </a:r>
            <a:endParaRPr lang="en-US" sz="1000" dirty="0"/>
          </a:p>
        </p:txBody>
      </p:sp>
      <p:sp>
        <p:nvSpPr>
          <p:cNvPr id="24" name="Text 22"/>
          <p:cNvSpPr/>
          <p:nvPr/>
        </p:nvSpPr>
        <p:spPr>
          <a:xfrm>
            <a:off x="10607040" y="6355080"/>
            <a:ext cx="914400" cy="228600"/>
          </a:xfrm>
          <a:prstGeom prst="rect">
            <a:avLst/>
          </a:prstGeom>
          <a:noFill/>
          <a:ln/>
        </p:spPr>
        <p:txBody>
          <a:bodyPr wrap="square" lIns="0" tIns="0" rIns="0" bIns="0" rtlCol="0" anchor="ctr">
            <a:normAutofit/>
          </a:bodyPr>
          <a:lstStyle/>
          <a:p>
            <a:pPr algn="r" indent="0" marL="0">
              <a:buNone/>
            </a:pPr>
            <a:r>
              <a:rPr lang="en-US" sz="1000" dirty="0">
                <a:solidFill>
                  <a:srgbClr val="607483"/>
                </a:solidFill>
                <a:latin typeface="Aptos" pitchFamily="34" charset="0"/>
                <a:ea typeface="Aptos" pitchFamily="34" charset="-122"/>
                <a:cs typeface="Aptos" pitchFamily="34" charset="-120"/>
              </a:rPr>
              <a:t>12 / 16</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08C95"/>
          </a:solidFill>
          <a:ln w="12700">
            <a:solidFill>
              <a:srgbClr val="008C95"/>
            </a:solidFill>
            <a:prstDash val="solid"/>
          </a:ln>
        </p:spPr>
      </p:sp>
      <p:sp>
        <p:nvSpPr>
          <p:cNvPr id="3" name="Text 1"/>
          <p:cNvSpPr/>
          <p:nvPr/>
        </p:nvSpPr>
        <p:spPr>
          <a:xfrm>
            <a:off x="640080" y="384048"/>
            <a:ext cx="10881360" cy="566928"/>
          </a:xfrm>
          <a:prstGeom prst="rect">
            <a:avLst/>
          </a:prstGeom>
          <a:noFill/>
          <a:ln/>
        </p:spPr>
        <p:txBody>
          <a:bodyPr wrap="square" lIns="0" tIns="0" rIns="0" bIns="0" rtlCol="0" anchor="ctr">
            <a:normAutofit/>
          </a:bodyPr>
          <a:lstStyle/>
          <a:p>
            <a:pPr algn="l" indent="0" marL="0">
              <a:buNone/>
            </a:pPr>
            <a:r>
              <a:rPr lang="en-US" sz="3000" b="1" dirty="0">
                <a:solidFill>
                  <a:srgbClr val="17324D"/>
                </a:solidFill>
                <a:latin typeface="Aptos" pitchFamily="34" charset="0"/>
                <a:ea typeface="Aptos" pitchFamily="34" charset="-122"/>
                <a:cs typeface="Aptos" pitchFamily="34" charset="-120"/>
              </a:rPr>
              <a:t>Time, auxiliary space and trade-offs</a:t>
            </a:r>
            <a:endParaRPr lang="en-US" sz="3000" dirty="0"/>
          </a:p>
        </p:txBody>
      </p:sp>
      <p:sp>
        <p:nvSpPr>
          <p:cNvPr id="4" name="Text 2"/>
          <p:cNvSpPr/>
          <p:nvPr/>
        </p:nvSpPr>
        <p:spPr>
          <a:xfrm>
            <a:off x="676656" y="1024128"/>
            <a:ext cx="9875520" cy="265176"/>
          </a:xfrm>
          <a:prstGeom prst="rect">
            <a:avLst/>
          </a:prstGeom>
          <a:noFill/>
          <a:ln/>
        </p:spPr>
        <p:txBody>
          <a:bodyPr wrap="square" lIns="0" tIns="0" rIns="0" bIns="0" rtlCol="0" anchor="ctr">
            <a:normAutofit/>
          </a:bodyPr>
          <a:lstStyle/>
          <a:p>
            <a:pPr algn="l" indent="0" marL="0">
              <a:buNone/>
            </a:pPr>
            <a:r>
              <a:rPr lang="en-US" sz="1200" b="1" dirty="0">
                <a:solidFill>
                  <a:srgbClr val="008C95"/>
                </a:solidFill>
                <a:latin typeface="Aptos" pitchFamily="34" charset="0"/>
                <a:ea typeface="Aptos" pitchFamily="34" charset="-122"/>
                <a:cs typeface="Aptos" pitchFamily="34" charset="-120"/>
              </a:rPr>
              <a:t>C2, K2.</a:t>
            </a:r>
            <a:endParaRPr lang="en-US" sz="1200" dirty="0"/>
          </a:p>
        </p:txBody>
      </p:sp>
      <p:sp>
        <p:nvSpPr>
          <p:cNvPr id="5" name="Shape 3"/>
          <p:cNvSpPr/>
          <p:nvPr/>
        </p:nvSpPr>
        <p:spPr>
          <a:xfrm>
            <a:off x="676656" y="1600200"/>
            <a:ext cx="4892040" cy="914400"/>
          </a:xfrm>
          <a:prstGeom prst="roundRect">
            <a:avLst>
              <a:gd name="adj" fmla="val 12000"/>
            </a:avLst>
          </a:prstGeom>
          <a:solidFill>
            <a:srgbClr val="FFFFFF"/>
          </a:solidFill>
          <a:ln w="15240">
            <a:solidFill>
              <a:srgbClr val="BDD0D8"/>
            </a:solidFill>
            <a:prstDash val="solid"/>
          </a:ln>
        </p:spPr>
      </p:sp>
      <p:sp>
        <p:nvSpPr>
          <p:cNvPr id="6" name="Text 4"/>
          <p:cNvSpPr/>
          <p:nvPr/>
        </p:nvSpPr>
        <p:spPr>
          <a:xfrm>
            <a:off x="905256" y="1737360"/>
            <a:ext cx="4434840" cy="621792"/>
          </a:xfrm>
          <a:prstGeom prst="rect">
            <a:avLst/>
          </a:prstGeom>
          <a:noFill/>
          <a:ln/>
        </p:spPr>
        <p:txBody>
          <a:bodyPr wrap="square" lIns="0" tIns="0" rIns="0" bIns="0" rtlCol="0" anchor="ctr">
            <a:normAutofit/>
          </a:bodyPr>
          <a:lstStyle/>
          <a:p>
            <a:pPr algn="l" indent="0" marL="0">
              <a:buNone/>
            </a:pPr>
            <a:r>
              <a:rPr lang="en-US" sz="2000" dirty="0">
                <a:solidFill>
                  <a:srgbClr val="263442"/>
                </a:solidFill>
                <a:latin typeface="Aptos" pitchFamily="34" charset="0"/>
                <a:ea typeface="Aptos" pitchFamily="34" charset="-122"/>
                <a:cs typeface="Aptos" pitchFamily="34" charset="-120"/>
              </a:rPr>
              <a:t>Both scans use Θ(1) auxiliary space</a:t>
            </a:r>
            <a:endParaRPr lang="en-US" sz="2000" dirty="0"/>
          </a:p>
        </p:txBody>
      </p:sp>
      <p:sp>
        <p:nvSpPr>
          <p:cNvPr id="7" name="Shape 5"/>
          <p:cNvSpPr/>
          <p:nvPr/>
        </p:nvSpPr>
        <p:spPr>
          <a:xfrm>
            <a:off x="676656" y="2743200"/>
            <a:ext cx="4892040" cy="914400"/>
          </a:xfrm>
          <a:prstGeom prst="roundRect">
            <a:avLst>
              <a:gd name="adj" fmla="val 12000"/>
            </a:avLst>
          </a:prstGeom>
          <a:solidFill>
            <a:srgbClr val="E8F3F3"/>
          </a:solidFill>
          <a:ln w="15240">
            <a:solidFill>
              <a:srgbClr val="008C95"/>
            </a:solidFill>
            <a:prstDash val="solid"/>
          </a:ln>
        </p:spPr>
      </p:sp>
      <p:sp>
        <p:nvSpPr>
          <p:cNvPr id="8" name="Text 6"/>
          <p:cNvSpPr/>
          <p:nvPr/>
        </p:nvSpPr>
        <p:spPr>
          <a:xfrm>
            <a:off x="905256" y="2880360"/>
            <a:ext cx="4434840" cy="621792"/>
          </a:xfrm>
          <a:prstGeom prst="rect">
            <a:avLst/>
          </a:prstGeom>
          <a:noFill/>
          <a:ln/>
        </p:spPr>
        <p:txBody>
          <a:bodyPr wrap="square" lIns="0" tIns="0" rIns="0" bIns="0" rtlCol="0" anchor="ctr">
            <a:normAutofit/>
          </a:bodyPr>
          <a:lstStyle/>
          <a:p>
            <a:pPr algn="l" indent="0" marL="0">
              <a:buNone/>
            </a:pPr>
            <a:r>
              <a:rPr lang="en-US" sz="2000" b="1" dirty="0">
                <a:solidFill>
                  <a:srgbClr val="263442"/>
                </a:solidFill>
                <a:latin typeface="Aptos" pitchFamily="34" charset="0"/>
                <a:ea typeface="Aptos" pitchFamily="34" charset="-122"/>
                <a:cs typeface="Aptos" pitchFamily="34" charset="-120"/>
              </a:rPr>
              <a:t>Input storage is separate</a:t>
            </a:r>
            <a:endParaRPr lang="en-US" sz="2000" dirty="0"/>
          </a:p>
        </p:txBody>
      </p:sp>
      <p:sp>
        <p:nvSpPr>
          <p:cNvPr id="9" name="Shape 7"/>
          <p:cNvSpPr/>
          <p:nvPr/>
        </p:nvSpPr>
        <p:spPr>
          <a:xfrm>
            <a:off x="676656" y="3886200"/>
            <a:ext cx="4892040" cy="914400"/>
          </a:xfrm>
          <a:prstGeom prst="roundRect">
            <a:avLst>
              <a:gd name="adj" fmla="val 12000"/>
            </a:avLst>
          </a:prstGeom>
          <a:solidFill>
            <a:srgbClr val="FFFFFF"/>
          </a:solidFill>
          <a:ln w="15240">
            <a:solidFill>
              <a:srgbClr val="BDD0D8"/>
            </a:solidFill>
            <a:prstDash val="solid"/>
          </a:ln>
        </p:spPr>
      </p:sp>
      <p:sp>
        <p:nvSpPr>
          <p:cNvPr id="10" name="Text 8"/>
          <p:cNvSpPr/>
          <p:nvPr/>
        </p:nvSpPr>
        <p:spPr>
          <a:xfrm>
            <a:off x="905256" y="4023360"/>
            <a:ext cx="4434840" cy="621792"/>
          </a:xfrm>
          <a:prstGeom prst="rect">
            <a:avLst/>
          </a:prstGeom>
          <a:noFill/>
          <a:ln/>
        </p:spPr>
        <p:txBody>
          <a:bodyPr wrap="square" lIns="0" tIns="0" rIns="0" bIns="0" rtlCol="0" anchor="ctr">
            <a:normAutofit/>
          </a:bodyPr>
          <a:lstStyle/>
          <a:p>
            <a:pPr algn="l" indent="0" marL="0">
              <a:buNone/>
            </a:pPr>
            <a:r>
              <a:rPr lang="en-US" sz="2000" dirty="0">
                <a:solidFill>
                  <a:srgbClr val="263442"/>
                </a:solidFill>
                <a:latin typeface="Aptos" pitchFamily="34" charset="0"/>
                <a:ea typeface="Aptos" pitchFamily="34" charset="-122"/>
                <a:cs typeface="Aptos" pitchFamily="34" charset="-120"/>
              </a:rPr>
              <a:t>An index can trade setup and space for queries</a:t>
            </a:r>
            <a:endParaRPr lang="en-US" sz="2000" dirty="0"/>
          </a:p>
        </p:txBody>
      </p:sp>
      <p:sp>
        <p:nvSpPr>
          <p:cNvPr id="11" name="Shape 9"/>
          <p:cNvSpPr/>
          <p:nvPr/>
        </p:nvSpPr>
        <p:spPr>
          <a:xfrm>
            <a:off x="6172200" y="2011680"/>
            <a:ext cx="2240280" cy="2011680"/>
          </a:xfrm>
          <a:prstGeom prst="roundRect">
            <a:avLst>
              <a:gd name="adj" fmla="val 5455"/>
            </a:avLst>
          </a:prstGeom>
          <a:solidFill>
            <a:srgbClr val="FFFFFF"/>
          </a:solidFill>
          <a:ln w="15240">
            <a:solidFill>
              <a:srgbClr val="BDD0D8"/>
            </a:solidFill>
            <a:prstDash val="solid"/>
          </a:ln>
        </p:spPr>
      </p:sp>
      <p:sp>
        <p:nvSpPr>
          <p:cNvPr id="12" name="Shape 10"/>
          <p:cNvSpPr/>
          <p:nvPr/>
        </p:nvSpPr>
        <p:spPr>
          <a:xfrm>
            <a:off x="8659368" y="2011680"/>
            <a:ext cx="2240280" cy="2011680"/>
          </a:xfrm>
          <a:prstGeom prst="roundRect">
            <a:avLst>
              <a:gd name="adj" fmla="val 5455"/>
            </a:avLst>
          </a:prstGeom>
          <a:solidFill>
            <a:srgbClr val="E8F3F3"/>
          </a:solidFill>
          <a:ln w="15240">
            <a:solidFill>
              <a:srgbClr val="008C95"/>
            </a:solidFill>
            <a:prstDash val="solid"/>
          </a:ln>
        </p:spPr>
      </p:sp>
      <p:sp>
        <p:nvSpPr>
          <p:cNvPr id="13" name="Text 11"/>
          <p:cNvSpPr/>
          <p:nvPr/>
        </p:nvSpPr>
        <p:spPr>
          <a:xfrm>
            <a:off x="6355080" y="2286000"/>
            <a:ext cx="1874520" cy="457200"/>
          </a:xfrm>
          <a:prstGeom prst="rect">
            <a:avLst/>
          </a:prstGeom>
          <a:noFill/>
          <a:ln/>
        </p:spPr>
        <p:txBody>
          <a:bodyPr wrap="square" lIns="0" tIns="0" rIns="0" bIns="0" rtlCol="0" anchor="ctr">
            <a:normAutofit/>
          </a:bodyPr>
          <a:lstStyle/>
          <a:p>
            <a:pPr algn="ctr" indent="0" marL="0">
              <a:buNone/>
            </a:pPr>
            <a:r>
              <a:rPr lang="en-US" sz="2200" b="1" dirty="0">
                <a:solidFill>
                  <a:srgbClr val="263442"/>
                </a:solidFill>
                <a:latin typeface="Aptos" pitchFamily="34" charset="0"/>
                <a:ea typeface="Aptos" pitchFamily="34" charset="-122"/>
                <a:cs typeface="Aptos" pitchFamily="34" charset="-120"/>
              </a:rPr>
              <a:t>Scan</a:t>
            </a:r>
            <a:endParaRPr lang="en-US" sz="2200" dirty="0"/>
          </a:p>
        </p:txBody>
      </p:sp>
      <p:sp>
        <p:nvSpPr>
          <p:cNvPr id="14" name="Text 12"/>
          <p:cNvSpPr/>
          <p:nvPr/>
        </p:nvSpPr>
        <p:spPr>
          <a:xfrm>
            <a:off x="6355080" y="2926080"/>
            <a:ext cx="1874520" cy="822960"/>
          </a:xfrm>
          <a:prstGeom prst="rect">
            <a:avLst/>
          </a:prstGeom>
          <a:noFill/>
          <a:ln/>
        </p:spPr>
        <p:txBody>
          <a:bodyPr wrap="square" lIns="0" tIns="0" rIns="0" bIns="0" rtlCol="0" anchor="ctr">
            <a:normAutofit/>
          </a:bodyPr>
          <a:lstStyle/>
          <a:p>
            <a:pPr algn="ctr" indent="0" marL="0">
              <a:buNone/>
            </a:pPr>
            <a:r>
              <a:rPr lang="en-US" sz="1700" dirty="0">
                <a:solidFill>
                  <a:srgbClr val="263442"/>
                </a:solidFill>
                <a:latin typeface="Aptos" pitchFamily="34" charset="0"/>
                <a:ea typeface="Aptos" pitchFamily="34" charset="-122"/>
                <a:cs typeface="Aptos" pitchFamily="34" charset="-120"/>
              </a:rPr>
              <a:t>low setup</a:t>
            </a:r>
            <a:endParaRPr lang="en-US" sz="1700" dirty="0"/>
          </a:p>
          <a:p>
            <a:pPr algn="ctr" indent="0" marL="0">
              <a:buNone/>
            </a:pPr>
            <a:r>
              <a:rPr lang="en-US" sz="1700" dirty="0">
                <a:solidFill>
                  <a:srgbClr val="263442"/>
                </a:solidFill>
                <a:latin typeface="Aptos" pitchFamily="34" charset="0"/>
                <a:ea typeface="Aptos" pitchFamily="34" charset="-122"/>
                <a:cs typeface="Aptos" pitchFamily="34" charset="-120"/>
              </a:rPr>
              <a:t>low extra space</a:t>
            </a:r>
            <a:endParaRPr lang="en-US" sz="1700" dirty="0"/>
          </a:p>
        </p:txBody>
      </p:sp>
      <p:sp>
        <p:nvSpPr>
          <p:cNvPr id="15" name="Text 13"/>
          <p:cNvSpPr/>
          <p:nvPr/>
        </p:nvSpPr>
        <p:spPr>
          <a:xfrm>
            <a:off x="8823960" y="2286000"/>
            <a:ext cx="1874520" cy="457200"/>
          </a:xfrm>
          <a:prstGeom prst="rect">
            <a:avLst/>
          </a:prstGeom>
          <a:noFill/>
          <a:ln/>
        </p:spPr>
        <p:txBody>
          <a:bodyPr wrap="square" lIns="0" tIns="0" rIns="0" bIns="0" rtlCol="0" anchor="ctr">
            <a:normAutofit/>
          </a:bodyPr>
          <a:lstStyle/>
          <a:p>
            <a:pPr algn="ctr" indent="0" marL="0">
              <a:buNone/>
            </a:pPr>
            <a:r>
              <a:rPr lang="en-US" sz="2200" b="1" dirty="0">
                <a:solidFill>
                  <a:srgbClr val="263442"/>
                </a:solidFill>
                <a:latin typeface="Aptos" pitchFamily="34" charset="0"/>
                <a:ea typeface="Aptos" pitchFamily="34" charset="-122"/>
                <a:cs typeface="Aptos" pitchFamily="34" charset="-120"/>
              </a:rPr>
              <a:t>Index</a:t>
            </a:r>
            <a:endParaRPr lang="en-US" sz="2200" dirty="0"/>
          </a:p>
        </p:txBody>
      </p:sp>
      <p:sp>
        <p:nvSpPr>
          <p:cNvPr id="16" name="Text 14"/>
          <p:cNvSpPr/>
          <p:nvPr/>
        </p:nvSpPr>
        <p:spPr>
          <a:xfrm>
            <a:off x="8823960" y="2926080"/>
            <a:ext cx="1874520" cy="822960"/>
          </a:xfrm>
          <a:prstGeom prst="rect">
            <a:avLst/>
          </a:prstGeom>
          <a:noFill/>
          <a:ln/>
        </p:spPr>
        <p:txBody>
          <a:bodyPr wrap="square" lIns="0" tIns="0" rIns="0" bIns="0" rtlCol="0" anchor="ctr">
            <a:normAutofit/>
          </a:bodyPr>
          <a:lstStyle/>
          <a:p>
            <a:pPr algn="ctr" indent="0" marL="0">
              <a:buNone/>
            </a:pPr>
            <a:r>
              <a:rPr lang="en-US" sz="1700" dirty="0">
                <a:solidFill>
                  <a:srgbClr val="263442"/>
                </a:solidFill>
                <a:latin typeface="Aptos" pitchFamily="34" charset="0"/>
                <a:ea typeface="Aptos" pitchFamily="34" charset="-122"/>
                <a:cs typeface="Aptos" pitchFamily="34" charset="-120"/>
              </a:rPr>
              <a:t>setup + storage</a:t>
            </a:r>
            <a:endParaRPr lang="en-US" sz="1700" dirty="0"/>
          </a:p>
          <a:p>
            <a:pPr algn="ctr" indent="0" marL="0">
              <a:buNone/>
            </a:pPr>
            <a:r>
              <a:rPr lang="en-US" sz="1700" dirty="0">
                <a:solidFill>
                  <a:srgbClr val="263442"/>
                </a:solidFill>
                <a:latin typeface="Aptos" pitchFamily="34" charset="0"/>
                <a:ea typeface="Aptos" pitchFamily="34" charset="-122"/>
                <a:cs typeface="Aptos" pitchFamily="34" charset="-120"/>
              </a:rPr>
              <a:t>possible query gain</a:t>
            </a:r>
            <a:endParaRPr lang="en-US" sz="1700" dirty="0"/>
          </a:p>
        </p:txBody>
      </p:sp>
      <p:sp>
        <p:nvSpPr>
          <p:cNvPr id="17" name="Shape 15"/>
          <p:cNvSpPr/>
          <p:nvPr/>
        </p:nvSpPr>
        <p:spPr>
          <a:xfrm>
            <a:off x="667512" y="6208776"/>
            <a:ext cx="10844784" cy="0"/>
          </a:xfrm>
          <a:prstGeom prst="line">
            <a:avLst/>
          </a:prstGeom>
          <a:noFill/>
          <a:ln w="10160">
            <a:solidFill>
              <a:srgbClr val="BDD0D8"/>
            </a:solidFill>
            <a:prstDash val="solid"/>
          </a:ln>
        </p:spPr>
      </p:sp>
      <p:sp>
        <p:nvSpPr>
          <p:cNvPr id="18" name="Text 16"/>
          <p:cNvSpPr/>
          <p:nvPr/>
        </p:nvSpPr>
        <p:spPr>
          <a:xfrm>
            <a:off x="667512" y="6355080"/>
            <a:ext cx="1828800" cy="228600"/>
          </a:xfrm>
          <a:prstGeom prst="rect">
            <a:avLst/>
          </a:prstGeom>
          <a:noFill/>
          <a:ln/>
        </p:spPr>
        <p:txBody>
          <a:bodyPr wrap="square" lIns="0" tIns="0" rIns="0" bIns="0" rtlCol="0" anchor="ctr">
            <a:normAutofit/>
          </a:bodyPr>
          <a:lstStyle/>
          <a:p>
            <a:pPr algn="l" indent="0" marL="0">
              <a:buNone/>
            </a:pPr>
            <a:r>
              <a:rPr lang="en-US" sz="1000" dirty="0">
                <a:solidFill>
                  <a:srgbClr val="607483"/>
                </a:solidFill>
                <a:latin typeface="Aptos" pitchFamily="34" charset="0"/>
                <a:ea typeface="Aptos" pitchFamily="34" charset="-122"/>
                <a:cs typeface="Aptos" pitchFamily="34" charset="-120"/>
              </a:rPr>
              <a:t>M12 · S01</a:t>
            </a:r>
            <a:endParaRPr lang="en-US" sz="1000" dirty="0"/>
          </a:p>
        </p:txBody>
      </p:sp>
      <p:sp>
        <p:nvSpPr>
          <p:cNvPr id="19" name="Text 17"/>
          <p:cNvSpPr/>
          <p:nvPr/>
        </p:nvSpPr>
        <p:spPr>
          <a:xfrm>
            <a:off x="10607040" y="6355080"/>
            <a:ext cx="914400" cy="228600"/>
          </a:xfrm>
          <a:prstGeom prst="rect">
            <a:avLst/>
          </a:prstGeom>
          <a:noFill/>
          <a:ln/>
        </p:spPr>
        <p:txBody>
          <a:bodyPr wrap="square" lIns="0" tIns="0" rIns="0" bIns="0" rtlCol="0" anchor="ctr">
            <a:normAutofit/>
          </a:bodyPr>
          <a:lstStyle/>
          <a:p>
            <a:pPr algn="r" indent="0" marL="0">
              <a:buNone/>
            </a:pPr>
            <a:r>
              <a:rPr lang="en-US" sz="1000" dirty="0">
                <a:solidFill>
                  <a:srgbClr val="607483"/>
                </a:solidFill>
                <a:latin typeface="Aptos" pitchFamily="34" charset="0"/>
                <a:ea typeface="Aptos" pitchFamily="34" charset="-122"/>
                <a:cs typeface="Aptos" pitchFamily="34" charset="-120"/>
              </a:rPr>
              <a:t>13 / 16</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08C95"/>
          </a:solidFill>
          <a:ln w="12700">
            <a:solidFill>
              <a:srgbClr val="008C95"/>
            </a:solidFill>
            <a:prstDash val="solid"/>
          </a:ln>
        </p:spPr>
      </p:sp>
      <p:sp>
        <p:nvSpPr>
          <p:cNvPr id="3" name="Text 1"/>
          <p:cNvSpPr/>
          <p:nvPr/>
        </p:nvSpPr>
        <p:spPr>
          <a:xfrm>
            <a:off x="640080" y="384048"/>
            <a:ext cx="10881360" cy="566928"/>
          </a:xfrm>
          <a:prstGeom prst="rect">
            <a:avLst/>
          </a:prstGeom>
          <a:noFill/>
          <a:ln/>
        </p:spPr>
        <p:txBody>
          <a:bodyPr wrap="square" lIns="0" tIns="0" rIns="0" bIns="0" rtlCol="0" anchor="ctr">
            <a:normAutofit/>
          </a:bodyPr>
          <a:lstStyle/>
          <a:p>
            <a:pPr algn="l" indent="0" marL="0">
              <a:buNone/>
            </a:pPr>
            <a:r>
              <a:rPr lang="en-US" sz="3000" b="1" dirty="0">
                <a:solidFill>
                  <a:srgbClr val="17324D"/>
                </a:solidFill>
                <a:latin typeface="Aptos" pitchFamily="34" charset="0"/>
                <a:ea typeface="Aptos" pitchFamily="34" charset="-122"/>
                <a:cs typeface="Aptos" pitchFamily="34" charset="-120"/>
              </a:rPr>
              <a:t>Measuring without overclaiming</a:t>
            </a:r>
            <a:endParaRPr lang="en-US" sz="3000" dirty="0"/>
          </a:p>
        </p:txBody>
      </p:sp>
      <p:sp>
        <p:nvSpPr>
          <p:cNvPr id="4" name="Text 2"/>
          <p:cNvSpPr/>
          <p:nvPr/>
        </p:nvSpPr>
        <p:spPr>
          <a:xfrm>
            <a:off x="676656" y="1024128"/>
            <a:ext cx="9875520" cy="265176"/>
          </a:xfrm>
          <a:prstGeom prst="rect">
            <a:avLst/>
          </a:prstGeom>
          <a:noFill/>
          <a:ln/>
        </p:spPr>
        <p:txBody>
          <a:bodyPr wrap="square" lIns="0" tIns="0" rIns="0" bIns="0" rtlCol="0" anchor="ctr">
            <a:normAutofit/>
          </a:bodyPr>
          <a:lstStyle/>
          <a:p>
            <a:pPr algn="l" indent="0" marL="0">
              <a:buNone/>
            </a:pPr>
            <a:r>
              <a:rPr lang="en-US" sz="1200" b="1" dirty="0">
                <a:solidFill>
                  <a:srgbClr val="008C95"/>
                </a:solidFill>
                <a:latin typeface="Aptos" pitchFamily="34" charset="0"/>
                <a:ea typeface="Aptos" pitchFamily="34" charset="-122"/>
                <a:cs typeface="Aptos" pitchFamily="34" charset="-120"/>
              </a:rPr>
              <a:t>C6, K2.</a:t>
            </a:r>
            <a:endParaRPr lang="en-US" sz="1200" dirty="0"/>
          </a:p>
        </p:txBody>
      </p:sp>
      <p:sp>
        <p:nvSpPr>
          <p:cNvPr id="5" name="Shape 3"/>
          <p:cNvSpPr/>
          <p:nvPr/>
        </p:nvSpPr>
        <p:spPr>
          <a:xfrm>
            <a:off x="676656" y="1600200"/>
            <a:ext cx="4892040" cy="914400"/>
          </a:xfrm>
          <a:prstGeom prst="roundRect">
            <a:avLst>
              <a:gd name="adj" fmla="val 12000"/>
            </a:avLst>
          </a:prstGeom>
          <a:solidFill>
            <a:srgbClr val="FFFFFF"/>
          </a:solidFill>
          <a:ln w="15240">
            <a:solidFill>
              <a:srgbClr val="BDD0D8"/>
            </a:solidFill>
            <a:prstDash val="solid"/>
          </a:ln>
        </p:spPr>
      </p:sp>
      <p:sp>
        <p:nvSpPr>
          <p:cNvPr id="6" name="Text 4"/>
          <p:cNvSpPr/>
          <p:nvPr/>
        </p:nvSpPr>
        <p:spPr>
          <a:xfrm>
            <a:off x="905256" y="1737360"/>
            <a:ext cx="4434840" cy="621792"/>
          </a:xfrm>
          <a:prstGeom prst="rect">
            <a:avLst/>
          </a:prstGeom>
          <a:noFill/>
          <a:ln/>
        </p:spPr>
        <p:txBody>
          <a:bodyPr wrap="square" lIns="0" tIns="0" rIns="0" bIns="0" rtlCol="0" anchor="ctr">
            <a:normAutofit/>
          </a:bodyPr>
          <a:lstStyle/>
          <a:p>
            <a:pPr algn="l" indent="0" marL="0">
              <a:buNone/>
            </a:pPr>
            <a:r>
              <a:rPr lang="en-US" sz="2000" dirty="0">
                <a:solidFill>
                  <a:srgbClr val="263442"/>
                </a:solidFill>
                <a:latin typeface="Aptos" pitchFamily="34" charset="0"/>
                <a:ea typeface="Aptos" pitchFamily="34" charset="-122"/>
                <a:cs typeface="Aptos" pitchFamily="34" charset="-120"/>
              </a:rPr>
              <a:t>Deterministic inputs and target position</a:t>
            </a:r>
            <a:endParaRPr lang="en-US" sz="2000" dirty="0"/>
          </a:p>
        </p:txBody>
      </p:sp>
      <p:sp>
        <p:nvSpPr>
          <p:cNvPr id="7" name="Shape 5"/>
          <p:cNvSpPr/>
          <p:nvPr/>
        </p:nvSpPr>
        <p:spPr>
          <a:xfrm>
            <a:off x="676656" y="2743200"/>
            <a:ext cx="4892040" cy="914400"/>
          </a:xfrm>
          <a:prstGeom prst="roundRect">
            <a:avLst>
              <a:gd name="adj" fmla="val 12000"/>
            </a:avLst>
          </a:prstGeom>
          <a:solidFill>
            <a:srgbClr val="E8F3F3"/>
          </a:solidFill>
          <a:ln w="15240">
            <a:solidFill>
              <a:srgbClr val="008C95"/>
            </a:solidFill>
            <a:prstDash val="solid"/>
          </a:ln>
        </p:spPr>
      </p:sp>
      <p:sp>
        <p:nvSpPr>
          <p:cNvPr id="8" name="Text 6"/>
          <p:cNvSpPr/>
          <p:nvPr/>
        </p:nvSpPr>
        <p:spPr>
          <a:xfrm>
            <a:off x="905256" y="2880360"/>
            <a:ext cx="4434840" cy="621792"/>
          </a:xfrm>
          <a:prstGeom prst="rect">
            <a:avLst/>
          </a:prstGeom>
          <a:noFill/>
          <a:ln/>
        </p:spPr>
        <p:txBody>
          <a:bodyPr wrap="square" lIns="0" tIns="0" rIns="0" bIns="0" rtlCol="0" anchor="ctr">
            <a:normAutofit/>
          </a:bodyPr>
          <a:lstStyle/>
          <a:p>
            <a:pPr algn="l" indent="0" marL="0">
              <a:buNone/>
            </a:pPr>
            <a:r>
              <a:rPr lang="en-US" sz="2000" b="1" dirty="0">
                <a:solidFill>
                  <a:srgbClr val="263442"/>
                </a:solidFill>
                <a:latin typeface="Aptos" pitchFamily="34" charset="0"/>
                <a:ea typeface="Aptos" pitchFamily="34" charset="-122"/>
                <a:cs typeface="Aptos" pitchFamily="34" charset="-120"/>
              </a:rPr>
              <a:t>Warm up; repeat; report a statistic</a:t>
            </a:r>
            <a:endParaRPr lang="en-US" sz="2000" dirty="0"/>
          </a:p>
        </p:txBody>
      </p:sp>
      <p:sp>
        <p:nvSpPr>
          <p:cNvPr id="9" name="Shape 7"/>
          <p:cNvSpPr/>
          <p:nvPr/>
        </p:nvSpPr>
        <p:spPr>
          <a:xfrm>
            <a:off x="676656" y="3886200"/>
            <a:ext cx="4892040" cy="914400"/>
          </a:xfrm>
          <a:prstGeom prst="roundRect">
            <a:avLst>
              <a:gd name="adj" fmla="val 12000"/>
            </a:avLst>
          </a:prstGeom>
          <a:solidFill>
            <a:srgbClr val="FFFFFF"/>
          </a:solidFill>
          <a:ln w="15240">
            <a:solidFill>
              <a:srgbClr val="BDD0D8"/>
            </a:solidFill>
            <a:prstDash val="solid"/>
          </a:ln>
        </p:spPr>
      </p:sp>
      <p:sp>
        <p:nvSpPr>
          <p:cNvPr id="10" name="Text 8"/>
          <p:cNvSpPr/>
          <p:nvPr/>
        </p:nvSpPr>
        <p:spPr>
          <a:xfrm>
            <a:off x="905256" y="4023360"/>
            <a:ext cx="4434840" cy="621792"/>
          </a:xfrm>
          <a:prstGeom prst="rect">
            <a:avLst/>
          </a:prstGeom>
          <a:noFill/>
          <a:ln/>
        </p:spPr>
        <p:txBody>
          <a:bodyPr wrap="square" lIns="0" tIns="0" rIns="0" bIns="0" rtlCol="0" anchor="ctr">
            <a:normAutofit/>
          </a:bodyPr>
          <a:lstStyle/>
          <a:p>
            <a:pPr algn="l" indent="0" marL="0">
              <a:buNone/>
            </a:pPr>
            <a:r>
              <a:rPr lang="en-US" sz="2000" dirty="0">
                <a:solidFill>
                  <a:srgbClr val="263442"/>
                </a:solidFill>
                <a:latin typeface="Aptos" pitchFamily="34" charset="0"/>
                <a:ea typeface="Aptos" pitchFamily="34" charset="-122"/>
                <a:cs typeface="Aptos" pitchFamily="34" charset="-120"/>
              </a:rPr>
              <a:t>Record runtime, compiler flags and hardware</a:t>
            </a:r>
            <a:endParaRPr lang="en-US" sz="2000" dirty="0"/>
          </a:p>
        </p:txBody>
      </p:sp>
      <p:sp>
        <p:nvSpPr>
          <p:cNvPr id="11" name="Shape 9"/>
          <p:cNvSpPr/>
          <p:nvPr/>
        </p:nvSpPr>
        <p:spPr>
          <a:xfrm>
            <a:off x="6217920" y="2057400"/>
            <a:ext cx="1417320" cy="1005840"/>
          </a:xfrm>
          <a:prstGeom prst="roundRect">
            <a:avLst>
              <a:gd name="adj" fmla="val 10909"/>
            </a:avLst>
          </a:prstGeom>
          <a:solidFill>
            <a:srgbClr val="E8F3F3"/>
          </a:solidFill>
          <a:ln w="15240">
            <a:solidFill>
              <a:srgbClr val="008C95"/>
            </a:solidFill>
            <a:prstDash val="solid"/>
          </a:ln>
        </p:spPr>
      </p:sp>
      <p:sp>
        <p:nvSpPr>
          <p:cNvPr id="12" name="Text 10"/>
          <p:cNvSpPr/>
          <p:nvPr/>
        </p:nvSpPr>
        <p:spPr>
          <a:xfrm>
            <a:off x="6327648" y="2221992"/>
            <a:ext cx="1197864" cy="640080"/>
          </a:xfrm>
          <a:prstGeom prst="rect">
            <a:avLst/>
          </a:prstGeom>
          <a:noFill/>
          <a:ln/>
        </p:spPr>
        <p:txBody>
          <a:bodyPr wrap="square" lIns="0" tIns="0" rIns="0" bIns="0" rtlCol="0" anchor="ctr">
            <a:normAutofit/>
          </a:bodyPr>
          <a:lstStyle/>
          <a:p>
            <a:pPr algn="ctr" indent="0" marL="0">
              <a:buNone/>
            </a:pPr>
            <a:r>
              <a:rPr lang="en-US" sz="1500" b="1" dirty="0">
                <a:solidFill>
                  <a:srgbClr val="263442"/>
                </a:solidFill>
                <a:latin typeface="Aptos" pitchFamily="34" charset="0"/>
                <a:ea typeface="Aptos" pitchFamily="34" charset="-122"/>
                <a:cs typeface="Aptos" pitchFamily="34" charset="-120"/>
              </a:rPr>
              <a:t>Build input</a:t>
            </a:r>
            <a:endParaRPr lang="en-US" sz="1500" dirty="0"/>
          </a:p>
        </p:txBody>
      </p:sp>
      <p:sp>
        <p:nvSpPr>
          <p:cNvPr id="13" name="Text 11"/>
          <p:cNvSpPr/>
          <p:nvPr/>
        </p:nvSpPr>
        <p:spPr>
          <a:xfrm>
            <a:off x="7635240" y="2368296"/>
            <a:ext cx="201168" cy="228600"/>
          </a:xfrm>
          <a:prstGeom prst="rect">
            <a:avLst/>
          </a:prstGeom>
          <a:noFill/>
          <a:ln/>
        </p:spPr>
        <p:txBody>
          <a:bodyPr wrap="square" lIns="0" tIns="0" rIns="0" bIns="0" rtlCol="0" anchor="ctr">
            <a:normAutofit/>
          </a:bodyPr>
          <a:lstStyle/>
          <a:p>
            <a:pPr algn="ctr" indent="0" marL="0">
              <a:buNone/>
            </a:pPr>
            <a:r>
              <a:rPr lang="en-US" sz="1800" dirty="0">
                <a:solidFill>
                  <a:srgbClr val="008C95"/>
                </a:solidFill>
                <a:latin typeface="Aptos" pitchFamily="34" charset="0"/>
                <a:ea typeface="Aptos" pitchFamily="34" charset="-122"/>
                <a:cs typeface="Aptos" pitchFamily="34" charset="-120"/>
              </a:rPr>
              <a:t>→</a:t>
            </a:r>
            <a:endParaRPr lang="en-US" sz="1800" dirty="0"/>
          </a:p>
        </p:txBody>
      </p:sp>
      <p:sp>
        <p:nvSpPr>
          <p:cNvPr id="14" name="Shape 12"/>
          <p:cNvSpPr/>
          <p:nvPr/>
        </p:nvSpPr>
        <p:spPr>
          <a:xfrm>
            <a:off x="7836408" y="2057400"/>
            <a:ext cx="1417320" cy="1005840"/>
          </a:xfrm>
          <a:prstGeom prst="roundRect">
            <a:avLst>
              <a:gd name="adj" fmla="val 10909"/>
            </a:avLst>
          </a:prstGeom>
          <a:solidFill>
            <a:srgbClr val="FFFFFF"/>
          </a:solidFill>
          <a:ln w="15240">
            <a:solidFill>
              <a:srgbClr val="BDD0D8"/>
            </a:solidFill>
            <a:prstDash val="solid"/>
          </a:ln>
        </p:spPr>
      </p:sp>
      <p:sp>
        <p:nvSpPr>
          <p:cNvPr id="15" name="Text 13"/>
          <p:cNvSpPr/>
          <p:nvPr/>
        </p:nvSpPr>
        <p:spPr>
          <a:xfrm>
            <a:off x="7946136" y="2221992"/>
            <a:ext cx="1197864" cy="640080"/>
          </a:xfrm>
          <a:prstGeom prst="rect">
            <a:avLst/>
          </a:prstGeom>
          <a:noFill/>
          <a:ln/>
        </p:spPr>
        <p:txBody>
          <a:bodyPr wrap="square" lIns="0" tIns="0" rIns="0" bIns="0" rtlCol="0" anchor="ctr">
            <a:normAutofit/>
          </a:bodyPr>
          <a:lstStyle/>
          <a:p>
            <a:pPr algn="ctr" indent="0" marL="0">
              <a:buNone/>
            </a:pPr>
            <a:r>
              <a:rPr lang="en-US" sz="1500" b="1" dirty="0">
                <a:solidFill>
                  <a:srgbClr val="263442"/>
                </a:solidFill>
                <a:latin typeface="Aptos" pitchFamily="34" charset="0"/>
                <a:ea typeface="Aptos" pitchFamily="34" charset="-122"/>
                <a:cs typeface="Aptos" pitchFamily="34" charset="-120"/>
              </a:rPr>
              <a:t>Repeat timing</a:t>
            </a:r>
            <a:endParaRPr lang="en-US" sz="1500" dirty="0"/>
          </a:p>
        </p:txBody>
      </p:sp>
      <p:sp>
        <p:nvSpPr>
          <p:cNvPr id="16" name="Text 14"/>
          <p:cNvSpPr/>
          <p:nvPr/>
        </p:nvSpPr>
        <p:spPr>
          <a:xfrm>
            <a:off x="9253728" y="2368296"/>
            <a:ext cx="201168" cy="228600"/>
          </a:xfrm>
          <a:prstGeom prst="rect">
            <a:avLst/>
          </a:prstGeom>
          <a:noFill/>
          <a:ln/>
        </p:spPr>
        <p:txBody>
          <a:bodyPr wrap="square" lIns="0" tIns="0" rIns="0" bIns="0" rtlCol="0" anchor="ctr">
            <a:normAutofit/>
          </a:bodyPr>
          <a:lstStyle/>
          <a:p>
            <a:pPr algn="ctr" indent="0" marL="0">
              <a:buNone/>
            </a:pPr>
            <a:r>
              <a:rPr lang="en-US" sz="1800" dirty="0">
                <a:solidFill>
                  <a:srgbClr val="008C95"/>
                </a:solidFill>
                <a:latin typeface="Aptos" pitchFamily="34" charset="0"/>
                <a:ea typeface="Aptos" pitchFamily="34" charset="-122"/>
                <a:cs typeface="Aptos" pitchFamily="34" charset="-120"/>
              </a:rPr>
              <a:t>→</a:t>
            </a:r>
            <a:endParaRPr lang="en-US" sz="1800" dirty="0"/>
          </a:p>
        </p:txBody>
      </p:sp>
      <p:sp>
        <p:nvSpPr>
          <p:cNvPr id="17" name="Shape 15"/>
          <p:cNvSpPr/>
          <p:nvPr/>
        </p:nvSpPr>
        <p:spPr>
          <a:xfrm>
            <a:off x="9454896" y="2057400"/>
            <a:ext cx="1417320" cy="1005840"/>
          </a:xfrm>
          <a:prstGeom prst="roundRect">
            <a:avLst>
              <a:gd name="adj" fmla="val 10909"/>
            </a:avLst>
          </a:prstGeom>
          <a:solidFill>
            <a:srgbClr val="FFFFFF"/>
          </a:solidFill>
          <a:ln w="15240">
            <a:solidFill>
              <a:srgbClr val="BDD0D8"/>
            </a:solidFill>
            <a:prstDash val="solid"/>
          </a:ln>
        </p:spPr>
      </p:sp>
      <p:sp>
        <p:nvSpPr>
          <p:cNvPr id="18" name="Text 16"/>
          <p:cNvSpPr/>
          <p:nvPr/>
        </p:nvSpPr>
        <p:spPr>
          <a:xfrm>
            <a:off x="9564624" y="2221992"/>
            <a:ext cx="1197864" cy="640080"/>
          </a:xfrm>
          <a:prstGeom prst="rect">
            <a:avLst/>
          </a:prstGeom>
          <a:noFill/>
          <a:ln/>
        </p:spPr>
        <p:txBody>
          <a:bodyPr wrap="square" lIns="0" tIns="0" rIns="0" bIns="0" rtlCol="0" anchor="ctr">
            <a:normAutofit/>
          </a:bodyPr>
          <a:lstStyle/>
          <a:p>
            <a:pPr algn="ctr" indent="0" marL="0">
              <a:buNone/>
            </a:pPr>
            <a:r>
              <a:rPr lang="en-US" sz="1500" b="1" dirty="0">
                <a:solidFill>
                  <a:srgbClr val="263442"/>
                </a:solidFill>
                <a:latin typeface="Aptos" pitchFamily="34" charset="0"/>
                <a:ea typeface="Aptos" pitchFamily="34" charset="-122"/>
                <a:cs typeface="Aptos" pitchFamily="34" charset="-120"/>
              </a:rPr>
              <a:t>Interpret</a:t>
            </a:r>
            <a:endParaRPr lang="en-US" sz="1500" dirty="0"/>
          </a:p>
        </p:txBody>
      </p:sp>
      <p:sp>
        <p:nvSpPr>
          <p:cNvPr id="19" name="Shape 17"/>
          <p:cNvSpPr/>
          <p:nvPr/>
        </p:nvSpPr>
        <p:spPr>
          <a:xfrm>
            <a:off x="6702552" y="3886200"/>
            <a:ext cx="3749040" cy="694944"/>
          </a:xfrm>
          <a:prstGeom prst="roundRect">
            <a:avLst>
              <a:gd name="adj" fmla="val 15789"/>
            </a:avLst>
          </a:prstGeom>
          <a:solidFill>
            <a:srgbClr val="E8F3F3"/>
          </a:solidFill>
          <a:ln w="15240">
            <a:solidFill>
              <a:srgbClr val="E8F3F3"/>
            </a:solidFill>
            <a:prstDash val="solid"/>
          </a:ln>
        </p:spPr>
      </p:sp>
      <p:sp>
        <p:nvSpPr>
          <p:cNvPr id="20" name="Text 18"/>
          <p:cNvSpPr/>
          <p:nvPr/>
        </p:nvSpPr>
        <p:spPr>
          <a:xfrm>
            <a:off x="6812280" y="3931920"/>
            <a:ext cx="3529584" cy="603504"/>
          </a:xfrm>
          <a:prstGeom prst="rect">
            <a:avLst/>
          </a:prstGeom>
          <a:noFill/>
          <a:ln/>
        </p:spPr>
        <p:txBody>
          <a:bodyPr wrap="square" lIns="0" tIns="0" rIns="0" bIns="0" rtlCol="0" anchor="ctr">
            <a:normAutofit/>
          </a:bodyPr>
          <a:lstStyle/>
          <a:p>
            <a:pPr algn="ctr" indent="0" marL="0">
              <a:buNone/>
            </a:pPr>
            <a:r>
              <a:rPr lang="en-US" sz="1500" b="1" dirty="0">
                <a:solidFill>
                  <a:srgbClr val="17324D"/>
                </a:solidFill>
                <a:latin typeface="Aptos" pitchFamily="34" charset="0"/>
                <a:ea typeface="Aptos" pitchFamily="34" charset="-122"/>
                <a:cs typeface="Aptos" pitchFamily="34" charset="-120"/>
              </a:rPr>
              <a:t>comparison counts stay separate</a:t>
            </a:r>
            <a:endParaRPr lang="en-US" sz="1500" dirty="0"/>
          </a:p>
        </p:txBody>
      </p:sp>
      <p:sp>
        <p:nvSpPr>
          <p:cNvPr id="21" name="Shape 19"/>
          <p:cNvSpPr/>
          <p:nvPr/>
        </p:nvSpPr>
        <p:spPr>
          <a:xfrm>
            <a:off x="667512" y="6208776"/>
            <a:ext cx="10844784" cy="0"/>
          </a:xfrm>
          <a:prstGeom prst="line">
            <a:avLst/>
          </a:prstGeom>
          <a:noFill/>
          <a:ln w="10160">
            <a:solidFill>
              <a:srgbClr val="BDD0D8"/>
            </a:solidFill>
            <a:prstDash val="solid"/>
          </a:ln>
        </p:spPr>
      </p:sp>
      <p:sp>
        <p:nvSpPr>
          <p:cNvPr id="22" name="Text 20"/>
          <p:cNvSpPr/>
          <p:nvPr/>
        </p:nvSpPr>
        <p:spPr>
          <a:xfrm>
            <a:off x="667512" y="6355080"/>
            <a:ext cx="1828800" cy="228600"/>
          </a:xfrm>
          <a:prstGeom prst="rect">
            <a:avLst/>
          </a:prstGeom>
          <a:noFill/>
          <a:ln/>
        </p:spPr>
        <p:txBody>
          <a:bodyPr wrap="square" lIns="0" tIns="0" rIns="0" bIns="0" rtlCol="0" anchor="ctr">
            <a:normAutofit/>
          </a:bodyPr>
          <a:lstStyle/>
          <a:p>
            <a:pPr algn="l" indent="0" marL="0">
              <a:buNone/>
            </a:pPr>
            <a:r>
              <a:rPr lang="en-US" sz="1000" dirty="0">
                <a:solidFill>
                  <a:srgbClr val="607483"/>
                </a:solidFill>
                <a:latin typeface="Aptos" pitchFamily="34" charset="0"/>
                <a:ea typeface="Aptos" pitchFamily="34" charset="-122"/>
                <a:cs typeface="Aptos" pitchFamily="34" charset="-120"/>
              </a:rPr>
              <a:t>M12 · S01</a:t>
            </a:r>
            <a:endParaRPr lang="en-US" sz="1000" dirty="0"/>
          </a:p>
        </p:txBody>
      </p:sp>
      <p:sp>
        <p:nvSpPr>
          <p:cNvPr id="23" name="Text 21"/>
          <p:cNvSpPr/>
          <p:nvPr/>
        </p:nvSpPr>
        <p:spPr>
          <a:xfrm>
            <a:off x="10607040" y="6355080"/>
            <a:ext cx="914400" cy="228600"/>
          </a:xfrm>
          <a:prstGeom prst="rect">
            <a:avLst/>
          </a:prstGeom>
          <a:noFill/>
          <a:ln/>
        </p:spPr>
        <p:txBody>
          <a:bodyPr wrap="square" lIns="0" tIns="0" rIns="0" bIns="0" rtlCol="0" anchor="ctr">
            <a:normAutofit/>
          </a:bodyPr>
          <a:lstStyle/>
          <a:p>
            <a:pPr algn="r" indent="0" marL="0">
              <a:buNone/>
            </a:pPr>
            <a:r>
              <a:rPr lang="en-US" sz="1000" dirty="0">
                <a:solidFill>
                  <a:srgbClr val="607483"/>
                </a:solidFill>
                <a:latin typeface="Aptos" pitchFamily="34" charset="0"/>
                <a:ea typeface="Aptos" pitchFamily="34" charset="-122"/>
                <a:cs typeface="Aptos" pitchFamily="34" charset="-120"/>
              </a:rPr>
              <a:t>14 / 16</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08C95"/>
          </a:solidFill>
          <a:ln w="12700">
            <a:solidFill>
              <a:srgbClr val="008C95"/>
            </a:solidFill>
            <a:prstDash val="solid"/>
          </a:ln>
        </p:spPr>
      </p:sp>
      <p:sp>
        <p:nvSpPr>
          <p:cNvPr id="3" name="Text 1"/>
          <p:cNvSpPr/>
          <p:nvPr/>
        </p:nvSpPr>
        <p:spPr>
          <a:xfrm>
            <a:off x="640080" y="384048"/>
            <a:ext cx="10881360" cy="566928"/>
          </a:xfrm>
          <a:prstGeom prst="rect">
            <a:avLst/>
          </a:prstGeom>
          <a:noFill/>
          <a:ln/>
        </p:spPr>
        <p:txBody>
          <a:bodyPr wrap="square" lIns="0" tIns="0" rIns="0" bIns="0" rtlCol="0" anchor="ctr">
            <a:normAutofit/>
          </a:bodyPr>
          <a:lstStyle/>
          <a:p>
            <a:pPr algn="l" indent="0" marL="0">
              <a:buNone/>
            </a:pPr>
            <a:r>
              <a:rPr lang="en-US" sz="3000" b="1" dirty="0">
                <a:solidFill>
                  <a:srgbClr val="17324D"/>
                </a:solidFill>
                <a:latin typeface="Aptos" pitchFamily="34" charset="0"/>
                <a:ea typeface="Aptos" pitchFamily="34" charset="-122"/>
                <a:cs typeface="Aptos" pitchFamily="34" charset="-120"/>
              </a:rPr>
              <a:t>Lab investigation</a:t>
            </a:r>
            <a:endParaRPr lang="en-US" sz="3000" dirty="0"/>
          </a:p>
        </p:txBody>
      </p:sp>
      <p:sp>
        <p:nvSpPr>
          <p:cNvPr id="4" name="Text 2"/>
          <p:cNvSpPr/>
          <p:nvPr/>
        </p:nvSpPr>
        <p:spPr>
          <a:xfrm>
            <a:off x="676656" y="1024128"/>
            <a:ext cx="9875520" cy="265176"/>
          </a:xfrm>
          <a:prstGeom prst="rect">
            <a:avLst/>
          </a:prstGeom>
          <a:noFill/>
          <a:ln/>
        </p:spPr>
        <p:txBody>
          <a:bodyPr wrap="square" lIns="0" tIns="0" rIns="0" bIns="0" rtlCol="0" anchor="ctr">
            <a:normAutofit/>
          </a:bodyPr>
          <a:lstStyle/>
          <a:p>
            <a:pPr algn="l" indent="0" marL="0">
              <a:buNone/>
            </a:pPr>
            <a:r>
              <a:rPr lang="en-US" sz="1200" b="1" dirty="0">
                <a:solidFill>
                  <a:srgbClr val="008C95"/>
                </a:solidFill>
                <a:latin typeface="Aptos" pitchFamily="34" charset="0"/>
                <a:ea typeface="Aptos" pitchFamily="34" charset="-122"/>
                <a:cs typeface="Aptos" pitchFamily="34" charset="-120"/>
              </a:rPr>
              <a:t>C6, C2, K2.</a:t>
            </a:r>
            <a:endParaRPr lang="en-US" sz="1200" dirty="0"/>
          </a:p>
        </p:txBody>
      </p:sp>
      <p:sp>
        <p:nvSpPr>
          <p:cNvPr id="5" name="Shape 3"/>
          <p:cNvSpPr/>
          <p:nvPr/>
        </p:nvSpPr>
        <p:spPr>
          <a:xfrm>
            <a:off x="676656" y="1600200"/>
            <a:ext cx="4892040" cy="914400"/>
          </a:xfrm>
          <a:prstGeom prst="roundRect">
            <a:avLst>
              <a:gd name="adj" fmla="val 12000"/>
            </a:avLst>
          </a:prstGeom>
          <a:solidFill>
            <a:srgbClr val="FFFFFF"/>
          </a:solidFill>
          <a:ln w="15240">
            <a:solidFill>
              <a:srgbClr val="BDD0D8"/>
            </a:solidFill>
            <a:prstDash val="solid"/>
          </a:ln>
        </p:spPr>
      </p:sp>
      <p:sp>
        <p:nvSpPr>
          <p:cNvPr id="6" name="Text 4"/>
          <p:cNvSpPr/>
          <p:nvPr/>
        </p:nvSpPr>
        <p:spPr>
          <a:xfrm>
            <a:off x="905256" y="1737360"/>
            <a:ext cx="4434840" cy="621792"/>
          </a:xfrm>
          <a:prstGeom prst="rect">
            <a:avLst/>
          </a:prstGeom>
          <a:noFill/>
          <a:ln/>
        </p:spPr>
        <p:txBody>
          <a:bodyPr wrap="square" lIns="0" tIns="0" rIns="0" bIns="0" rtlCol="0" anchor="ctr">
            <a:normAutofit/>
          </a:bodyPr>
          <a:lstStyle/>
          <a:p>
            <a:pPr algn="l" indent="0" marL="0">
              <a:buNone/>
            </a:pPr>
            <a:r>
              <a:rPr lang="en-US" sz="2000" dirty="0">
                <a:solidFill>
                  <a:srgbClr val="263442"/>
                </a:solidFill>
                <a:latin typeface="Aptos" pitchFamily="34" charset="0"/>
                <a:ea typeface="Aptos" pitchFamily="34" charset="-122"/>
                <a:cs typeface="Aptos" pitchFamily="34" charset="-120"/>
              </a:rPr>
              <a:t>Predict counts for n = 16, 64, 256, 512</a:t>
            </a:r>
            <a:endParaRPr lang="en-US" sz="2000" dirty="0"/>
          </a:p>
        </p:txBody>
      </p:sp>
      <p:sp>
        <p:nvSpPr>
          <p:cNvPr id="7" name="Shape 5"/>
          <p:cNvSpPr/>
          <p:nvPr/>
        </p:nvSpPr>
        <p:spPr>
          <a:xfrm>
            <a:off x="676656" y="2743200"/>
            <a:ext cx="4892040" cy="914400"/>
          </a:xfrm>
          <a:prstGeom prst="roundRect">
            <a:avLst>
              <a:gd name="adj" fmla="val 12000"/>
            </a:avLst>
          </a:prstGeom>
          <a:solidFill>
            <a:srgbClr val="E8F3F3"/>
          </a:solidFill>
          <a:ln w="15240">
            <a:solidFill>
              <a:srgbClr val="008C95"/>
            </a:solidFill>
            <a:prstDash val="solid"/>
          </a:ln>
        </p:spPr>
      </p:sp>
      <p:sp>
        <p:nvSpPr>
          <p:cNvPr id="8" name="Text 6"/>
          <p:cNvSpPr/>
          <p:nvPr/>
        </p:nvSpPr>
        <p:spPr>
          <a:xfrm>
            <a:off x="905256" y="2880360"/>
            <a:ext cx="4434840" cy="621792"/>
          </a:xfrm>
          <a:prstGeom prst="rect">
            <a:avLst/>
          </a:prstGeom>
          <a:noFill/>
          <a:ln/>
        </p:spPr>
        <p:txBody>
          <a:bodyPr wrap="square" lIns="0" tIns="0" rIns="0" bIns="0" rtlCol="0" anchor="ctr">
            <a:normAutofit/>
          </a:bodyPr>
          <a:lstStyle/>
          <a:p>
            <a:pPr algn="l" indent="0" marL="0">
              <a:buNone/>
            </a:pPr>
            <a:r>
              <a:rPr lang="en-US" sz="2000" b="1" dirty="0">
                <a:solidFill>
                  <a:srgbClr val="263442"/>
                </a:solidFill>
                <a:latin typeface="Aptos" pitchFamily="34" charset="0"/>
                <a:ea typeface="Aptos" pitchFamily="34" charset="-122"/>
                <a:cs typeface="Aptos" pitchFamily="34" charset="-120"/>
              </a:rPr>
              <a:t>Run Python; run C++ if available</a:t>
            </a:r>
            <a:endParaRPr lang="en-US" sz="2000" dirty="0"/>
          </a:p>
        </p:txBody>
      </p:sp>
      <p:sp>
        <p:nvSpPr>
          <p:cNvPr id="9" name="Shape 7"/>
          <p:cNvSpPr/>
          <p:nvPr/>
        </p:nvSpPr>
        <p:spPr>
          <a:xfrm>
            <a:off x="676656" y="3886200"/>
            <a:ext cx="4892040" cy="914400"/>
          </a:xfrm>
          <a:prstGeom prst="roundRect">
            <a:avLst>
              <a:gd name="adj" fmla="val 12000"/>
            </a:avLst>
          </a:prstGeom>
          <a:solidFill>
            <a:srgbClr val="FFFFFF"/>
          </a:solidFill>
          <a:ln w="15240">
            <a:solidFill>
              <a:srgbClr val="BDD0D8"/>
            </a:solidFill>
            <a:prstDash val="solid"/>
          </a:ln>
        </p:spPr>
      </p:sp>
      <p:sp>
        <p:nvSpPr>
          <p:cNvPr id="10" name="Text 8"/>
          <p:cNvSpPr/>
          <p:nvPr/>
        </p:nvSpPr>
        <p:spPr>
          <a:xfrm>
            <a:off x="905256" y="4023360"/>
            <a:ext cx="4434840" cy="621792"/>
          </a:xfrm>
          <a:prstGeom prst="rect">
            <a:avLst/>
          </a:prstGeom>
          <a:noFill/>
          <a:ln/>
        </p:spPr>
        <p:txBody>
          <a:bodyPr wrap="square" lIns="0" tIns="0" rIns="0" bIns="0" rtlCol="0" anchor="ctr">
            <a:normAutofit/>
          </a:bodyPr>
          <a:lstStyle/>
          <a:p>
            <a:pPr algn="l" indent="0" marL="0">
              <a:buNone/>
            </a:pPr>
            <a:r>
              <a:rPr lang="en-US" sz="2000" dirty="0">
                <a:solidFill>
                  <a:srgbClr val="263442"/>
                </a:solidFill>
                <a:latin typeface="Aptos" pitchFamily="34" charset="0"/>
                <a:ea typeface="Aptos" pitchFamily="34" charset="-122"/>
                <a:cs typeface="Aptos" pitchFamily="34" charset="-120"/>
              </a:rPr>
              <a:t>Explain one noisy timing ratio</a:t>
            </a:r>
            <a:endParaRPr lang="en-US" sz="2000" dirty="0"/>
          </a:p>
        </p:txBody>
      </p:sp>
      <p:sp>
        <p:nvSpPr>
          <p:cNvPr id="11" name="Shape 9"/>
          <p:cNvSpPr/>
          <p:nvPr/>
        </p:nvSpPr>
        <p:spPr>
          <a:xfrm>
            <a:off x="6172200" y="1901952"/>
            <a:ext cx="502920" cy="713232"/>
          </a:xfrm>
          <a:prstGeom prst="rect">
            <a:avLst/>
          </a:prstGeom>
          <a:solidFill>
            <a:srgbClr val="E8F3F3"/>
          </a:solidFill>
          <a:ln w="15240">
            <a:solidFill>
              <a:srgbClr val="008C95"/>
            </a:solidFill>
            <a:prstDash val="solid"/>
          </a:ln>
        </p:spPr>
      </p:sp>
      <p:sp>
        <p:nvSpPr>
          <p:cNvPr id="12" name="Text 10"/>
          <p:cNvSpPr/>
          <p:nvPr/>
        </p:nvSpPr>
        <p:spPr>
          <a:xfrm>
            <a:off x="6208776" y="2011680"/>
            <a:ext cx="429768" cy="411480"/>
          </a:xfrm>
          <a:prstGeom prst="rect">
            <a:avLst/>
          </a:prstGeom>
          <a:noFill/>
          <a:ln/>
        </p:spPr>
        <p:txBody>
          <a:bodyPr wrap="square" lIns="0" tIns="0" rIns="0" bIns="0" rtlCol="0" anchor="ctr">
            <a:normAutofit/>
          </a:bodyPr>
          <a:lstStyle/>
          <a:p>
            <a:pPr algn="ctr" indent="0" marL="0">
              <a:buNone/>
            </a:pPr>
            <a:r>
              <a:rPr lang="en-US" sz="1300" b="1" dirty="0">
                <a:solidFill>
                  <a:srgbClr val="263442"/>
                </a:solidFill>
                <a:latin typeface="Aptos" pitchFamily="34" charset="0"/>
                <a:ea typeface="Aptos" pitchFamily="34" charset="-122"/>
                <a:cs typeface="Aptos" pitchFamily="34" charset="-120"/>
              </a:rPr>
              <a:t>n</a:t>
            </a:r>
            <a:endParaRPr lang="en-US" sz="1300" dirty="0"/>
          </a:p>
        </p:txBody>
      </p:sp>
      <p:sp>
        <p:nvSpPr>
          <p:cNvPr id="13" name="Shape 11"/>
          <p:cNvSpPr/>
          <p:nvPr/>
        </p:nvSpPr>
        <p:spPr>
          <a:xfrm>
            <a:off x="6675120" y="1901952"/>
            <a:ext cx="1280160" cy="713232"/>
          </a:xfrm>
          <a:prstGeom prst="rect">
            <a:avLst/>
          </a:prstGeom>
          <a:solidFill>
            <a:srgbClr val="E8F3F3"/>
          </a:solidFill>
          <a:ln w="15240">
            <a:solidFill>
              <a:srgbClr val="008C95"/>
            </a:solidFill>
            <a:prstDash val="solid"/>
          </a:ln>
        </p:spPr>
      </p:sp>
      <p:sp>
        <p:nvSpPr>
          <p:cNvPr id="14" name="Text 12"/>
          <p:cNvSpPr/>
          <p:nvPr/>
        </p:nvSpPr>
        <p:spPr>
          <a:xfrm>
            <a:off x="6711696" y="2011680"/>
            <a:ext cx="1207008" cy="411480"/>
          </a:xfrm>
          <a:prstGeom prst="rect">
            <a:avLst/>
          </a:prstGeom>
          <a:noFill/>
          <a:ln/>
        </p:spPr>
        <p:txBody>
          <a:bodyPr wrap="square" lIns="0" tIns="0" rIns="0" bIns="0" rtlCol="0" anchor="ctr">
            <a:normAutofit/>
          </a:bodyPr>
          <a:lstStyle/>
          <a:p>
            <a:pPr algn="ctr" indent="0" marL="0">
              <a:buNone/>
            </a:pPr>
            <a:r>
              <a:rPr lang="en-US" sz="1300" b="1" dirty="0">
                <a:solidFill>
                  <a:srgbClr val="263442"/>
                </a:solidFill>
                <a:latin typeface="Aptos" pitchFamily="34" charset="0"/>
                <a:ea typeface="Aptos" pitchFamily="34" charset="-122"/>
                <a:cs typeface="Aptos" pitchFamily="34" charset="-120"/>
              </a:rPr>
              <a:t>predicted count</a:t>
            </a:r>
            <a:endParaRPr lang="en-US" sz="1300" dirty="0"/>
          </a:p>
        </p:txBody>
      </p:sp>
      <p:sp>
        <p:nvSpPr>
          <p:cNvPr id="15" name="Shape 13"/>
          <p:cNvSpPr/>
          <p:nvPr/>
        </p:nvSpPr>
        <p:spPr>
          <a:xfrm>
            <a:off x="7955280" y="1901952"/>
            <a:ext cx="1280160" cy="713232"/>
          </a:xfrm>
          <a:prstGeom prst="rect">
            <a:avLst/>
          </a:prstGeom>
          <a:solidFill>
            <a:srgbClr val="E8F3F3"/>
          </a:solidFill>
          <a:ln w="15240">
            <a:solidFill>
              <a:srgbClr val="008C95"/>
            </a:solidFill>
            <a:prstDash val="solid"/>
          </a:ln>
        </p:spPr>
      </p:sp>
      <p:sp>
        <p:nvSpPr>
          <p:cNvPr id="16" name="Text 14"/>
          <p:cNvSpPr/>
          <p:nvPr/>
        </p:nvSpPr>
        <p:spPr>
          <a:xfrm>
            <a:off x="7991856" y="2011680"/>
            <a:ext cx="1207008" cy="411480"/>
          </a:xfrm>
          <a:prstGeom prst="rect">
            <a:avLst/>
          </a:prstGeom>
          <a:noFill/>
          <a:ln/>
        </p:spPr>
        <p:txBody>
          <a:bodyPr wrap="square" lIns="0" tIns="0" rIns="0" bIns="0" rtlCol="0" anchor="ctr">
            <a:normAutofit/>
          </a:bodyPr>
          <a:lstStyle/>
          <a:p>
            <a:pPr algn="ctr" indent="0" marL="0">
              <a:buNone/>
            </a:pPr>
            <a:r>
              <a:rPr lang="en-US" sz="1300" b="1" dirty="0">
                <a:solidFill>
                  <a:srgbClr val="263442"/>
                </a:solidFill>
                <a:latin typeface="Aptos" pitchFamily="34" charset="0"/>
                <a:ea typeface="Aptos" pitchFamily="34" charset="-122"/>
                <a:cs typeface="Aptos" pitchFamily="34" charset="-120"/>
              </a:rPr>
              <a:t>observed time</a:t>
            </a:r>
            <a:endParaRPr lang="en-US" sz="1300" dirty="0"/>
          </a:p>
        </p:txBody>
      </p:sp>
      <p:sp>
        <p:nvSpPr>
          <p:cNvPr id="17" name="Shape 15"/>
          <p:cNvSpPr/>
          <p:nvPr/>
        </p:nvSpPr>
        <p:spPr>
          <a:xfrm>
            <a:off x="9235440" y="1901952"/>
            <a:ext cx="1645920" cy="713232"/>
          </a:xfrm>
          <a:prstGeom prst="rect">
            <a:avLst/>
          </a:prstGeom>
          <a:solidFill>
            <a:srgbClr val="E8F3F3"/>
          </a:solidFill>
          <a:ln w="15240">
            <a:solidFill>
              <a:srgbClr val="008C95"/>
            </a:solidFill>
            <a:prstDash val="solid"/>
          </a:ln>
        </p:spPr>
      </p:sp>
      <p:sp>
        <p:nvSpPr>
          <p:cNvPr id="18" name="Text 16"/>
          <p:cNvSpPr/>
          <p:nvPr/>
        </p:nvSpPr>
        <p:spPr>
          <a:xfrm>
            <a:off x="9272016" y="2011680"/>
            <a:ext cx="1572768" cy="411480"/>
          </a:xfrm>
          <a:prstGeom prst="rect">
            <a:avLst/>
          </a:prstGeom>
          <a:noFill/>
          <a:ln/>
        </p:spPr>
        <p:txBody>
          <a:bodyPr wrap="square" lIns="0" tIns="0" rIns="0" bIns="0" rtlCol="0" anchor="ctr">
            <a:normAutofit/>
          </a:bodyPr>
          <a:lstStyle/>
          <a:p>
            <a:pPr algn="ctr" indent="0" marL="0">
              <a:buNone/>
            </a:pPr>
            <a:r>
              <a:rPr lang="en-US" sz="1300" b="1" dirty="0">
                <a:solidFill>
                  <a:srgbClr val="263442"/>
                </a:solidFill>
                <a:latin typeface="Aptos" pitchFamily="34" charset="0"/>
                <a:ea typeface="Aptos" pitchFamily="34" charset="-122"/>
                <a:cs typeface="Aptos" pitchFamily="34" charset="-120"/>
              </a:rPr>
              <a:t>interpretation</a:t>
            </a:r>
            <a:endParaRPr lang="en-US" sz="1300" dirty="0"/>
          </a:p>
        </p:txBody>
      </p:sp>
      <p:sp>
        <p:nvSpPr>
          <p:cNvPr id="19" name="Shape 17"/>
          <p:cNvSpPr/>
          <p:nvPr/>
        </p:nvSpPr>
        <p:spPr>
          <a:xfrm>
            <a:off x="6172200" y="2615184"/>
            <a:ext cx="502920" cy="576072"/>
          </a:xfrm>
          <a:prstGeom prst="rect">
            <a:avLst/>
          </a:prstGeom>
          <a:solidFill>
            <a:srgbClr val="FFFFFF"/>
          </a:solidFill>
          <a:ln w="15240">
            <a:solidFill>
              <a:srgbClr val="BDD0D8"/>
            </a:solidFill>
            <a:prstDash val="solid"/>
          </a:ln>
        </p:spPr>
      </p:sp>
      <p:sp>
        <p:nvSpPr>
          <p:cNvPr id="20" name="Text 18"/>
          <p:cNvSpPr/>
          <p:nvPr/>
        </p:nvSpPr>
        <p:spPr>
          <a:xfrm>
            <a:off x="6172200" y="2715768"/>
            <a:ext cx="502920" cy="320040"/>
          </a:xfrm>
          <a:prstGeom prst="rect">
            <a:avLst/>
          </a:prstGeom>
          <a:noFill/>
          <a:ln/>
        </p:spPr>
        <p:txBody>
          <a:bodyPr wrap="square" lIns="0" tIns="0" rIns="0" bIns="0" rtlCol="0" anchor="ctr">
            <a:normAutofit/>
          </a:bodyPr>
          <a:lstStyle/>
          <a:p>
            <a:pPr algn="ctr" indent="0" marL="0">
              <a:buNone/>
            </a:pPr>
            <a:r>
              <a:rPr lang="en-US" sz="1600" dirty="0">
                <a:solidFill>
                  <a:srgbClr val="263442"/>
                </a:solidFill>
                <a:latin typeface="Aptos" pitchFamily="34" charset="0"/>
                <a:ea typeface="Aptos" pitchFamily="34" charset="-122"/>
                <a:cs typeface="Aptos" pitchFamily="34" charset="-120"/>
              </a:rPr>
              <a:t>16</a:t>
            </a:r>
            <a:endParaRPr lang="en-US" sz="1600" dirty="0"/>
          </a:p>
        </p:txBody>
      </p:sp>
      <p:sp>
        <p:nvSpPr>
          <p:cNvPr id="21" name="Shape 19"/>
          <p:cNvSpPr/>
          <p:nvPr/>
        </p:nvSpPr>
        <p:spPr>
          <a:xfrm>
            <a:off x="6675120" y="2615184"/>
            <a:ext cx="1280160" cy="576072"/>
          </a:xfrm>
          <a:prstGeom prst="rect">
            <a:avLst/>
          </a:prstGeom>
          <a:solidFill>
            <a:srgbClr val="FFFFFF"/>
          </a:solidFill>
          <a:ln w="15240">
            <a:solidFill>
              <a:srgbClr val="BDD0D8"/>
            </a:solidFill>
            <a:prstDash val="solid"/>
          </a:ln>
        </p:spPr>
      </p:sp>
      <p:sp>
        <p:nvSpPr>
          <p:cNvPr id="22" name="Shape 20"/>
          <p:cNvSpPr/>
          <p:nvPr/>
        </p:nvSpPr>
        <p:spPr>
          <a:xfrm>
            <a:off x="7955280" y="2615184"/>
            <a:ext cx="1280160" cy="576072"/>
          </a:xfrm>
          <a:prstGeom prst="rect">
            <a:avLst/>
          </a:prstGeom>
          <a:solidFill>
            <a:srgbClr val="FFFFFF"/>
          </a:solidFill>
          <a:ln w="15240">
            <a:solidFill>
              <a:srgbClr val="BDD0D8"/>
            </a:solidFill>
            <a:prstDash val="solid"/>
          </a:ln>
        </p:spPr>
      </p:sp>
      <p:sp>
        <p:nvSpPr>
          <p:cNvPr id="23" name="Shape 21"/>
          <p:cNvSpPr/>
          <p:nvPr/>
        </p:nvSpPr>
        <p:spPr>
          <a:xfrm>
            <a:off x="9235440" y="2615184"/>
            <a:ext cx="1645920" cy="576072"/>
          </a:xfrm>
          <a:prstGeom prst="rect">
            <a:avLst/>
          </a:prstGeom>
          <a:solidFill>
            <a:srgbClr val="FFFFFF"/>
          </a:solidFill>
          <a:ln w="15240">
            <a:solidFill>
              <a:srgbClr val="BDD0D8"/>
            </a:solidFill>
            <a:prstDash val="solid"/>
          </a:ln>
        </p:spPr>
      </p:sp>
      <p:sp>
        <p:nvSpPr>
          <p:cNvPr id="24" name="Shape 22"/>
          <p:cNvSpPr/>
          <p:nvPr/>
        </p:nvSpPr>
        <p:spPr>
          <a:xfrm>
            <a:off x="6172200" y="3191256"/>
            <a:ext cx="502920" cy="576072"/>
          </a:xfrm>
          <a:prstGeom prst="rect">
            <a:avLst/>
          </a:prstGeom>
          <a:solidFill>
            <a:srgbClr val="FFFFFF"/>
          </a:solidFill>
          <a:ln w="15240">
            <a:solidFill>
              <a:srgbClr val="BDD0D8"/>
            </a:solidFill>
            <a:prstDash val="solid"/>
          </a:ln>
        </p:spPr>
      </p:sp>
      <p:sp>
        <p:nvSpPr>
          <p:cNvPr id="25" name="Text 23"/>
          <p:cNvSpPr/>
          <p:nvPr/>
        </p:nvSpPr>
        <p:spPr>
          <a:xfrm>
            <a:off x="6172200" y="3291840"/>
            <a:ext cx="502920" cy="320040"/>
          </a:xfrm>
          <a:prstGeom prst="rect">
            <a:avLst/>
          </a:prstGeom>
          <a:noFill/>
          <a:ln/>
        </p:spPr>
        <p:txBody>
          <a:bodyPr wrap="square" lIns="0" tIns="0" rIns="0" bIns="0" rtlCol="0" anchor="ctr">
            <a:normAutofit/>
          </a:bodyPr>
          <a:lstStyle/>
          <a:p>
            <a:pPr algn="ctr" indent="0" marL="0">
              <a:buNone/>
            </a:pPr>
            <a:r>
              <a:rPr lang="en-US" sz="1600" dirty="0">
                <a:solidFill>
                  <a:srgbClr val="263442"/>
                </a:solidFill>
                <a:latin typeface="Aptos" pitchFamily="34" charset="0"/>
                <a:ea typeface="Aptos" pitchFamily="34" charset="-122"/>
                <a:cs typeface="Aptos" pitchFamily="34" charset="-120"/>
              </a:rPr>
              <a:t>64</a:t>
            </a:r>
            <a:endParaRPr lang="en-US" sz="1600" dirty="0"/>
          </a:p>
        </p:txBody>
      </p:sp>
      <p:sp>
        <p:nvSpPr>
          <p:cNvPr id="26" name="Shape 24"/>
          <p:cNvSpPr/>
          <p:nvPr/>
        </p:nvSpPr>
        <p:spPr>
          <a:xfrm>
            <a:off x="6675120" y="3191256"/>
            <a:ext cx="1280160" cy="576072"/>
          </a:xfrm>
          <a:prstGeom prst="rect">
            <a:avLst/>
          </a:prstGeom>
          <a:solidFill>
            <a:srgbClr val="FFFFFF"/>
          </a:solidFill>
          <a:ln w="15240">
            <a:solidFill>
              <a:srgbClr val="BDD0D8"/>
            </a:solidFill>
            <a:prstDash val="solid"/>
          </a:ln>
        </p:spPr>
      </p:sp>
      <p:sp>
        <p:nvSpPr>
          <p:cNvPr id="27" name="Shape 25"/>
          <p:cNvSpPr/>
          <p:nvPr/>
        </p:nvSpPr>
        <p:spPr>
          <a:xfrm>
            <a:off x="7955280" y="3191256"/>
            <a:ext cx="1280160" cy="576072"/>
          </a:xfrm>
          <a:prstGeom prst="rect">
            <a:avLst/>
          </a:prstGeom>
          <a:solidFill>
            <a:srgbClr val="FFFFFF"/>
          </a:solidFill>
          <a:ln w="15240">
            <a:solidFill>
              <a:srgbClr val="BDD0D8"/>
            </a:solidFill>
            <a:prstDash val="solid"/>
          </a:ln>
        </p:spPr>
      </p:sp>
      <p:sp>
        <p:nvSpPr>
          <p:cNvPr id="28" name="Shape 26"/>
          <p:cNvSpPr/>
          <p:nvPr/>
        </p:nvSpPr>
        <p:spPr>
          <a:xfrm>
            <a:off x="9235440" y="3191256"/>
            <a:ext cx="1645920" cy="576072"/>
          </a:xfrm>
          <a:prstGeom prst="rect">
            <a:avLst/>
          </a:prstGeom>
          <a:solidFill>
            <a:srgbClr val="FFFFFF"/>
          </a:solidFill>
          <a:ln w="15240">
            <a:solidFill>
              <a:srgbClr val="BDD0D8"/>
            </a:solidFill>
            <a:prstDash val="solid"/>
          </a:ln>
        </p:spPr>
      </p:sp>
      <p:sp>
        <p:nvSpPr>
          <p:cNvPr id="29" name="Shape 27"/>
          <p:cNvSpPr/>
          <p:nvPr/>
        </p:nvSpPr>
        <p:spPr>
          <a:xfrm>
            <a:off x="6172200" y="3767328"/>
            <a:ext cx="502920" cy="576072"/>
          </a:xfrm>
          <a:prstGeom prst="rect">
            <a:avLst/>
          </a:prstGeom>
          <a:solidFill>
            <a:srgbClr val="FFFFFF"/>
          </a:solidFill>
          <a:ln w="15240">
            <a:solidFill>
              <a:srgbClr val="BDD0D8"/>
            </a:solidFill>
            <a:prstDash val="solid"/>
          </a:ln>
        </p:spPr>
      </p:sp>
      <p:sp>
        <p:nvSpPr>
          <p:cNvPr id="30" name="Text 28"/>
          <p:cNvSpPr/>
          <p:nvPr/>
        </p:nvSpPr>
        <p:spPr>
          <a:xfrm>
            <a:off x="6172200" y="3867912"/>
            <a:ext cx="502920" cy="320040"/>
          </a:xfrm>
          <a:prstGeom prst="rect">
            <a:avLst/>
          </a:prstGeom>
          <a:noFill/>
          <a:ln/>
        </p:spPr>
        <p:txBody>
          <a:bodyPr wrap="square" lIns="0" tIns="0" rIns="0" bIns="0" rtlCol="0" anchor="ctr">
            <a:normAutofit/>
          </a:bodyPr>
          <a:lstStyle/>
          <a:p>
            <a:pPr algn="ctr" indent="0" marL="0">
              <a:buNone/>
            </a:pPr>
            <a:r>
              <a:rPr lang="en-US" sz="1600" dirty="0">
                <a:solidFill>
                  <a:srgbClr val="263442"/>
                </a:solidFill>
                <a:latin typeface="Aptos" pitchFamily="34" charset="0"/>
                <a:ea typeface="Aptos" pitchFamily="34" charset="-122"/>
                <a:cs typeface="Aptos" pitchFamily="34" charset="-120"/>
              </a:rPr>
              <a:t>256</a:t>
            </a:r>
            <a:endParaRPr lang="en-US" sz="1600" dirty="0"/>
          </a:p>
        </p:txBody>
      </p:sp>
      <p:sp>
        <p:nvSpPr>
          <p:cNvPr id="31" name="Shape 29"/>
          <p:cNvSpPr/>
          <p:nvPr/>
        </p:nvSpPr>
        <p:spPr>
          <a:xfrm>
            <a:off x="6675120" y="3767328"/>
            <a:ext cx="1280160" cy="576072"/>
          </a:xfrm>
          <a:prstGeom prst="rect">
            <a:avLst/>
          </a:prstGeom>
          <a:solidFill>
            <a:srgbClr val="FFFFFF"/>
          </a:solidFill>
          <a:ln w="15240">
            <a:solidFill>
              <a:srgbClr val="BDD0D8"/>
            </a:solidFill>
            <a:prstDash val="solid"/>
          </a:ln>
        </p:spPr>
      </p:sp>
      <p:sp>
        <p:nvSpPr>
          <p:cNvPr id="32" name="Shape 30"/>
          <p:cNvSpPr/>
          <p:nvPr/>
        </p:nvSpPr>
        <p:spPr>
          <a:xfrm>
            <a:off x="7955280" y="3767328"/>
            <a:ext cx="1280160" cy="576072"/>
          </a:xfrm>
          <a:prstGeom prst="rect">
            <a:avLst/>
          </a:prstGeom>
          <a:solidFill>
            <a:srgbClr val="FFFFFF"/>
          </a:solidFill>
          <a:ln w="15240">
            <a:solidFill>
              <a:srgbClr val="BDD0D8"/>
            </a:solidFill>
            <a:prstDash val="solid"/>
          </a:ln>
        </p:spPr>
      </p:sp>
      <p:sp>
        <p:nvSpPr>
          <p:cNvPr id="33" name="Shape 31"/>
          <p:cNvSpPr/>
          <p:nvPr/>
        </p:nvSpPr>
        <p:spPr>
          <a:xfrm>
            <a:off x="9235440" y="3767328"/>
            <a:ext cx="1645920" cy="576072"/>
          </a:xfrm>
          <a:prstGeom prst="rect">
            <a:avLst/>
          </a:prstGeom>
          <a:solidFill>
            <a:srgbClr val="FFFFFF"/>
          </a:solidFill>
          <a:ln w="15240">
            <a:solidFill>
              <a:srgbClr val="BDD0D8"/>
            </a:solidFill>
            <a:prstDash val="solid"/>
          </a:ln>
        </p:spPr>
      </p:sp>
      <p:sp>
        <p:nvSpPr>
          <p:cNvPr id="34" name="Shape 32"/>
          <p:cNvSpPr/>
          <p:nvPr/>
        </p:nvSpPr>
        <p:spPr>
          <a:xfrm>
            <a:off x="6172200" y="4343400"/>
            <a:ext cx="502920" cy="576072"/>
          </a:xfrm>
          <a:prstGeom prst="rect">
            <a:avLst/>
          </a:prstGeom>
          <a:solidFill>
            <a:srgbClr val="FFFFFF"/>
          </a:solidFill>
          <a:ln w="15240">
            <a:solidFill>
              <a:srgbClr val="BDD0D8"/>
            </a:solidFill>
            <a:prstDash val="solid"/>
          </a:ln>
        </p:spPr>
      </p:sp>
      <p:sp>
        <p:nvSpPr>
          <p:cNvPr id="35" name="Text 33"/>
          <p:cNvSpPr/>
          <p:nvPr/>
        </p:nvSpPr>
        <p:spPr>
          <a:xfrm>
            <a:off x="6172200" y="4443984"/>
            <a:ext cx="502920" cy="320040"/>
          </a:xfrm>
          <a:prstGeom prst="rect">
            <a:avLst/>
          </a:prstGeom>
          <a:noFill/>
          <a:ln/>
        </p:spPr>
        <p:txBody>
          <a:bodyPr wrap="square" lIns="0" tIns="0" rIns="0" bIns="0" rtlCol="0" anchor="ctr">
            <a:normAutofit/>
          </a:bodyPr>
          <a:lstStyle/>
          <a:p>
            <a:pPr algn="ctr" indent="0" marL="0">
              <a:buNone/>
            </a:pPr>
            <a:r>
              <a:rPr lang="en-US" sz="1600" dirty="0">
                <a:solidFill>
                  <a:srgbClr val="263442"/>
                </a:solidFill>
                <a:latin typeface="Aptos" pitchFamily="34" charset="0"/>
                <a:ea typeface="Aptos" pitchFamily="34" charset="-122"/>
                <a:cs typeface="Aptos" pitchFamily="34" charset="-120"/>
              </a:rPr>
              <a:t>512</a:t>
            </a:r>
            <a:endParaRPr lang="en-US" sz="1600" dirty="0"/>
          </a:p>
        </p:txBody>
      </p:sp>
      <p:sp>
        <p:nvSpPr>
          <p:cNvPr id="36" name="Shape 34"/>
          <p:cNvSpPr/>
          <p:nvPr/>
        </p:nvSpPr>
        <p:spPr>
          <a:xfrm>
            <a:off x="6675120" y="4343400"/>
            <a:ext cx="1280160" cy="576072"/>
          </a:xfrm>
          <a:prstGeom prst="rect">
            <a:avLst/>
          </a:prstGeom>
          <a:solidFill>
            <a:srgbClr val="FFFFFF"/>
          </a:solidFill>
          <a:ln w="15240">
            <a:solidFill>
              <a:srgbClr val="BDD0D8"/>
            </a:solidFill>
            <a:prstDash val="solid"/>
          </a:ln>
        </p:spPr>
      </p:sp>
      <p:sp>
        <p:nvSpPr>
          <p:cNvPr id="37" name="Shape 35"/>
          <p:cNvSpPr/>
          <p:nvPr/>
        </p:nvSpPr>
        <p:spPr>
          <a:xfrm>
            <a:off x="7955280" y="4343400"/>
            <a:ext cx="1280160" cy="576072"/>
          </a:xfrm>
          <a:prstGeom prst="rect">
            <a:avLst/>
          </a:prstGeom>
          <a:solidFill>
            <a:srgbClr val="FFFFFF"/>
          </a:solidFill>
          <a:ln w="15240">
            <a:solidFill>
              <a:srgbClr val="BDD0D8"/>
            </a:solidFill>
            <a:prstDash val="solid"/>
          </a:ln>
        </p:spPr>
      </p:sp>
      <p:sp>
        <p:nvSpPr>
          <p:cNvPr id="38" name="Shape 36"/>
          <p:cNvSpPr/>
          <p:nvPr/>
        </p:nvSpPr>
        <p:spPr>
          <a:xfrm>
            <a:off x="9235440" y="4343400"/>
            <a:ext cx="1645920" cy="576072"/>
          </a:xfrm>
          <a:prstGeom prst="rect">
            <a:avLst/>
          </a:prstGeom>
          <a:solidFill>
            <a:srgbClr val="FFFFFF"/>
          </a:solidFill>
          <a:ln w="15240">
            <a:solidFill>
              <a:srgbClr val="BDD0D8"/>
            </a:solidFill>
            <a:prstDash val="solid"/>
          </a:ln>
        </p:spPr>
      </p:sp>
      <p:sp>
        <p:nvSpPr>
          <p:cNvPr id="39" name="Shape 37"/>
          <p:cNvSpPr/>
          <p:nvPr/>
        </p:nvSpPr>
        <p:spPr>
          <a:xfrm>
            <a:off x="667512" y="6208776"/>
            <a:ext cx="10844784" cy="0"/>
          </a:xfrm>
          <a:prstGeom prst="line">
            <a:avLst/>
          </a:prstGeom>
          <a:noFill/>
          <a:ln w="10160">
            <a:solidFill>
              <a:srgbClr val="BDD0D8"/>
            </a:solidFill>
            <a:prstDash val="solid"/>
          </a:ln>
        </p:spPr>
      </p:sp>
      <p:sp>
        <p:nvSpPr>
          <p:cNvPr id="40" name="Text 38"/>
          <p:cNvSpPr/>
          <p:nvPr/>
        </p:nvSpPr>
        <p:spPr>
          <a:xfrm>
            <a:off x="667512" y="6355080"/>
            <a:ext cx="1828800" cy="228600"/>
          </a:xfrm>
          <a:prstGeom prst="rect">
            <a:avLst/>
          </a:prstGeom>
          <a:noFill/>
          <a:ln/>
        </p:spPr>
        <p:txBody>
          <a:bodyPr wrap="square" lIns="0" tIns="0" rIns="0" bIns="0" rtlCol="0" anchor="ctr">
            <a:normAutofit/>
          </a:bodyPr>
          <a:lstStyle/>
          <a:p>
            <a:pPr algn="l" indent="0" marL="0">
              <a:buNone/>
            </a:pPr>
            <a:r>
              <a:rPr lang="en-US" sz="1000" dirty="0">
                <a:solidFill>
                  <a:srgbClr val="607483"/>
                </a:solidFill>
                <a:latin typeface="Aptos" pitchFamily="34" charset="0"/>
                <a:ea typeface="Aptos" pitchFamily="34" charset="-122"/>
                <a:cs typeface="Aptos" pitchFamily="34" charset="-120"/>
              </a:rPr>
              <a:t>M12 · S01</a:t>
            </a:r>
            <a:endParaRPr lang="en-US" sz="1000" dirty="0"/>
          </a:p>
        </p:txBody>
      </p:sp>
      <p:sp>
        <p:nvSpPr>
          <p:cNvPr id="41" name="Text 39"/>
          <p:cNvSpPr/>
          <p:nvPr/>
        </p:nvSpPr>
        <p:spPr>
          <a:xfrm>
            <a:off x="10607040" y="6355080"/>
            <a:ext cx="914400" cy="228600"/>
          </a:xfrm>
          <a:prstGeom prst="rect">
            <a:avLst/>
          </a:prstGeom>
          <a:noFill/>
          <a:ln/>
        </p:spPr>
        <p:txBody>
          <a:bodyPr wrap="square" lIns="0" tIns="0" rIns="0" bIns="0" rtlCol="0" anchor="ctr">
            <a:normAutofit/>
          </a:bodyPr>
          <a:lstStyle/>
          <a:p>
            <a:pPr algn="r" indent="0" marL="0">
              <a:buNone/>
            </a:pPr>
            <a:r>
              <a:rPr lang="en-US" sz="1000" dirty="0">
                <a:solidFill>
                  <a:srgbClr val="607483"/>
                </a:solidFill>
                <a:latin typeface="Aptos" pitchFamily="34" charset="0"/>
                <a:ea typeface="Aptos" pitchFamily="34" charset="-122"/>
                <a:cs typeface="Aptos" pitchFamily="34" charset="-120"/>
              </a:rPr>
              <a:t>15 / 16</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08C95"/>
          </a:solidFill>
          <a:ln w="12700">
            <a:solidFill>
              <a:srgbClr val="008C95"/>
            </a:solidFill>
            <a:prstDash val="solid"/>
          </a:ln>
        </p:spPr>
      </p:sp>
      <p:sp>
        <p:nvSpPr>
          <p:cNvPr id="3" name="Text 1"/>
          <p:cNvSpPr/>
          <p:nvPr/>
        </p:nvSpPr>
        <p:spPr>
          <a:xfrm>
            <a:off x="640080" y="384048"/>
            <a:ext cx="10881360" cy="566928"/>
          </a:xfrm>
          <a:prstGeom prst="rect">
            <a:avLst/>
          </a:prstGeom>
          <a:noFill/>
          <a:ln/>
        </p:spPr>
        <p:txBody>
          <a:bodyPr wrap="square" lIns="0" tIns="0" rIns="0" bIns="0" rtlCol="0" anchor="ctr">
            <a:normAutofit/>
          </a:bodyPr>
          <a:lstStyle/>
          <a:p>
            <a:pPr algn="l" indent="0" marL="0">
              <a:buNone/>
            </a:pPr>
            <a:r>
              <a:rPr lang="en-US" sz="3000" b="1" dirty="0">
                <a:solidFill>
                  <a:srgbClr val="17324D"/>
                </a:solidFill>
                <a:latin typeface="Aptos" pitchFamily="34" charset="0"/>
                <a:ea typeface="Aptos" pitchFamily="34" charset="-122"/>
                <a:cs typeface="Aptos" pitchFamily="34" charset="-120"/>
              </a:rPr>
              <a:t>Apply, explain and exit</a:t>
            </a:r>
            <a:endParaRPr lang="en-US" sz="3000" dirty="0"/>
          </a:p>
        </p:txBody>
      </p:sp>
      <p:sp>
        <p:nvSpPr>
          <p:cNvPr id="4" name="Text 2"/>
          <p:cNvSpPr/>
          <p:nvPr/>
        </p:nvSpPr>
        <p:spPr>
          <a:xfrm>
            <a:off x="676656" y="1024128"/>
            <a:ext cx="9875520" cy="265176"/>
          </a:xfrm>
          <a:prstGeom prst="rect">
            <a:avLst/>
          </a:prstGeom>
          <a:noFill/>
          <a:ln/>
        </p:spPr>
        <p:txBody>
          <a:bodyPr wrap="square" lIns="0" tIns="0" rIns="0" bIns="0" rtlCol="0" anchor="ctr">
            <a:normAutofit/>
          </a:bodyPr>
          <a:lstStyle/>
          <a:p>
            <a:pPr algn="l" indent="0" marL="0">
              <a:buNone/>
            </a:pPr>
            <a:r>
              <a:rPr lang="en-US" sz="1200" b="1" dirty="0">
                <a:solidFill>
                  <a:srgbClr val="008C95"/>
                </a:solidFill>
                <a:latin typeface="Aptos" pitchFamily="34" charset="0"/>
                <a:ea typeface="Aptos" pitchFamily="34" charset="-122"/>
                <a:cs typeface="Aptos" pitchFamily="34" charset="-120"/>
              </a:rPr>
              <a:t>C2, C3, C6, K1, K2.</a:t>
            </a:r>
            <a:endParaRPr lang="en-US" sz="1200" dirty="0"/>
          </a:p>
        </p:txBody>
      </p:sp>
      <p:sp>
        <p:nvSpPr>
          <p:cNvPr id="5" name="Shape 3"/>
          <p:cNvSpPr/>
          <p:nvPr/>
        </p:nvSpPr>
        <p:spPr>
          <a:xfrm>
            <a:off x="676656" y="1600200"/>
            <a:ext cx="4892040" cy="914400"/>
          </a:xfrm>
          <a:prstGeom prst="roundRect">
            <a:avLst>
              <a:gd name="adj" fmla="val 12000"/>
            </a:avLst>
          </a:prstGeom>
          <a:solidFill>
            <a:srgbClr val="FFFFFF"/>
          </a:solidFill>
          <a:ln w="15240">
            <a:solidFill>
              <a:srgbClr val="BDD0D8"/>
            </a:solidFill>
            <a:prstDash val="solid"/>
          </a:ln>
        </p:spPr>
      </p:sp>
      <p:sp>
        <p:nvSpPr>
          <p:cNvPr id="6" name="Text 4"/>
          <p:cNvSpPr/>
          <p:nvPr/>
        </p:nvSpPr>
        <p:spPr>
          <a:xfrm>
            <a:off x="905256" y="1737360"/>
            <a:ext cx="4434840" cy="621792"/>
          </a:xfrm>
          <a:prstGeom prst="rect">
            <a:avLst/>
          </a:prstGeom>
          <a:noFill/>
          <a:ln/>
        </p:spPr>
        <p:txBody>
          <a:bodyPr wrap="square" lIns="0" tIns="0" rIns="0" bIns="0" rtlCol="0" anchor="ctr">
            <a:normAutofit/>
          </a:bodyPr>
          <a:lstStyle/>
          <a:p>
            <a:pPr algn="l" indent="0" marL="0">
              <a:buNone/>
            </a:pPr>
            <a:r>
              <a:rPr lang="en-US" sz="2000" dirty="0">
                <a:solidFill>
                  <a:srgbClr val="263442"/>
                </a:solidFill>
                <a:latin typeface="Aptos" pitchFamily="34" charset="0"/>
                <a:ea typeface="Aptos" pitchFamily="34" charset="-122"/>
                <a:cs typeface="Aptos" pitchFamily="34" charset="-120"/>
              </a:rPr>
              <a:t>Classify five snippets with assumptions</a:t>
            </a:r>
            <a:endParaRPr lang="en-US" sz="2000" dirty="0"/>
          </a:p>
        </p:txBody>
      </p:sp>
      <p:sp>
        <p:nvSpPr>
          <p:cNvPr id="7" name="Shape 5"/>
          <p:cNvSpPr/>
          <p:nvPr/>
        </p:nvSpPr>
        <p:spPr>
          <a:xfrm>
            <a:off x="676656" y="2743200"/>
            <a:ext cx="4892040" cy="914400"/>
          </a:xfrm>
          <a:prstGeom prst="roundRect">
            <a:avLst>
              <a:gd name="adj" fmla="val 12000"/>
            </a:avLst>
          </a:prstGeom>
          <a:solidFill>
            <a:srgbClr val="E8F3F3"/>
          </a:solidFill>
          <a:ln w="15240">
            <a:solidFill>
              <a:srgbClr val="008C95"/>
            </a:solidFill>
            <a:prstDash val="solid"/>
          </a:ln>
        </p:spPr>
      </p:sp>
      <p:sp>
        <p:nvSpPr>
          <p:cNvPr id="8" name="Text 6"/>
          <p:cNvSpPr/>
          <p:nvPr/>
        </p:nvSpPr>
        <p:spPr>
          <a:xfrm>
            <a:off x="905256" y="2880360"/>
            <a:ext cx="4434840" cy="621792"/>
          </a:xfrm>
          <a:prstGeom prst="rect">
            <a:avLst/>
          </a:prstGeom>
          <a:noFill/>
          <a:ln/>
        </p:spPr>
        <p:txBody>
          <a:bodyPr wrap="square" lIns="0" tIns="0" rIns="0" bIns="0" rtlCol="0" anchor="ctr">
            <a:normAutofit/>
          </a:bodyPr>
          <a:lstStyle/>
          <a:p>
            <a:pPr algn="l" indent="0" marL="0">
              <a:buNone/>
            </a:pPr>
            <a:r>
              <a:rPr lang="en-US" sz="2000" b="1" dirty="0">
                <a:solidFill>
                  <a:srgbClr val="263442"/>
                </a:solidFill>
                <a:latin typeface="Aptos" pitchFamily="34" charset="0"/>
                <a:ea typeface="Aptos" pitchFamily="34" charset="-122"/>
                <a:cs typeface="Aptos" pitchFamily="34" charset="-120"/>
              </a:rPr>
              <a:t>Justify the first-index search invariant</a:t>
            </a:r>
            <a:endParaRPr lang="en-US" sz="2000" dirty="0"/>
          </a:p>
        </p:txBody>
      </p:sp>
      <p:sp>
        <p:nvSpPr>
          <p:cNvPr id="9" name="Shape 7"/>
          <p:cNvSpPr/>
          <p:nvPr/>
        </p:nvSpPr>
        <p:spPr>
          <a:xfrm>
            <a:off x="676656" y="3886200"/>
            <a:ext cx="4892040" cy="914400"/>
          </a:xfrm>
          <a:prstGeom prst="roundRect">
            <a:avLst>
              <a:gd name="adj" fmla="val 12000"/>
            </a:avLst>
          </a:prstGeom>
          <a:solidFill>
            <a:srgbClr val="FFFFFF"/>
          </a:solidFill>
          <a:ln w="15240">
            <a:solidFill>
              <a:srgbClr val="BDD0D8"/>
            </a:solidFill>
            <a:prstDash val="solid"/>
          </a:ln>
        </p:spPr>
      </p:sp>
      <p:sp>
        <p:nvSpPr>
          <p:cNvPr id="10" name="Text 8"/>
          <p:cNvSpPr/>
          <p:nvPr/>
        </p:nvSpPr>
        <p:spPr>
          <a:xfrm>
            <a:off x="905256" y="4023360"/>
            <a:ext cx="4434840" cy="621792"/>
          </a:xfrm>
          <a:prstGeom prst="rect">
            <a:avLst/>
          </a:prstGeom>
          <a:noFill/>
          <a:ln/>
        </p:spPr>
        <p:txBody>
          <a:bodyPr wrap="square" lIns="0" tIns="0" rIns="0" bIns="0" rtlCol="0" anchor="ctr">
            <a:normAutofit/>
          </a:bodyPr>
          <a:lstStyle/>
          <a:p>
            <a:pPr algn="l" indent="0" marL="0">
              <a:buNone/>
            </a:pPr>
            <a:r>
              <a:rPr lang="en-US" sz="2000" dirty="0">
                <a:solidFill>
                  <a:srgbClr val="263442"/>
                </a:solidFill>
                <a:latin typeface="Aptos" pitchFamily="34" charset="0"/>
                <a:ea typeface="Aptos" pitchFamily="34" charset="-122"/>
                <a:cs typeface="Aptos" pitchFamily="34" charset="-120"/>
              </a:rPr>
              <a:t>One bound; one measurement limitation</a:t>
            </a:r>
            <a:endParaRPr lang="en-US" sz="2000" dirty="0"/>
          </a:p>
        </p:txBody>
      </p:sp>
      <p:sp>
        <p:nvSpPr>
          <p:cNvPr id="11" name="Shape 9"/>
          <p:cNvSpPr/>
          <p:nvPr/>
        </p:nvSpPr>
        <p:spPr>
          <a:xfrm>
            <a:off x="6217920" y="2240280"/>
            <a:ext cx="1417320" cy="1005840"/>
          </a:xfrm>
          <a:prstGeom prst="roundRect">
            <a:avLst>
              <a:gd name="adj" fmla="val 10909"/>
            </a:avLst>
          </a:prstGeom>
          <a:solidFill>
            <a:srgbClr val="E8F3F3"/>
          </a:solidFill>
          <a:ln w="15240">
            <a:solidFill>
              <a:srgbClr val="008C95"/>
            </a:solidFill>
            <a:prstDash val="solid"/>
          </a:ln>
        </p:spPr>
      </p:sp>
      <p:sp>
        <p:nvSpPr>
          <p:cNvPr id="12" name="Text 10"/>
          <p:cNvSpPr/>
          <p:nvPr/>
        </p:nvSpPr>
        <p:spPr>
          <a:xfrm>
            <a:off x="6327648" y="2404872"/>
            <a:ext cx="1197864" cy="640080"/>
          </a:xfrm>
          <a:prstGeom prst="rect">
            <a:avLst/>
          </a:prstGeom>
          <a:noFill/>
          <a:ln/>
        </p:spPr>
        <p:txBody>
          <a:bodyPr wrap="square" lIns="0" tIns="0" rIns="0" bIns="0" rtlCol="0" anchor="ctr">
            <a:normAutofit/>
          </a:bodyPr>
          <a:lstStyle/>
          <a:p>
            <a:pPr algn="ctr" indent="0" marL="0">
              <a:buNone/>
            </a:pPr>
            <a:r>
              <a:rPr lang="en-US" sz="1500" b="1" dirty="0">
                <a:solidFill>
                  <a:srgbClr val="263442"/>
                </a:solidFill>
                <a:latin typeface="Aptos" pitchFamily="34" charset="0"/>
                <a:ea typeface="Aptos" pitchFamily="34" charset="-122"/>
                <a:cs typeface="Aptos" pitchFamily="34" charset="-120"/>
              </a:rPr>
              <a:t>Classify</a:t>
            </a:r>
            <a:endParaRPr lang="en-US" sz="1500" dirty="0"/>
          </a:p>
        </p:txBody>
      </p:sp>
      <p:sp>
        <p:nvSpPr>
          <p:cNvPr id="13" name="Text 11"/>
          <p:cNvSpPr/>
          <p:nvPr/>
        </p:nvSpPr>
        <p:spPr>
          <a:xfrm>
            <a:off x="7635240" y="2551176"/>
            <a:ext cx="201168" cy="228600"/>
          </a:xfrm>
          <a:prstGeom prst="rect">
            <a:avLst/>
          </a:prstGeom>
          <a:noFill/>
          <a:ln/>
        </p:spPr>
        <p:txBody>
          <a:bodyPr wrap="square" lIns="0" tIns="0" rIns="0" bIns="0" rtlCol="0" anchor="ctr">
            <a:normAutofit/>
          </a:bodyPr>
          <a:lstStyle/>
          <a:p>
            <a:pPr algn="ctr" indent="0" marL="0">
              <a:buNone/>
            </a:pPr>
            <a:r>
              <a:rPr lang="en-US" sz="1800" dirty="0">
                <a:solidFill>
                  <a:srgbClr val="008C95"/>
                </a:solidFill>
                <a:latin typeface="Aptos" pitchFamily="34" charset="0"/>
                <a:ea typeface="Aptos" pitchFamily="34" charset="-122"/>
                <a:cs typeface="Aptos" pitchFamily="34" charset="-120"/>
              </a:rPr>
              <a:t>→</a:t>
            </a:r>
            <a:endParaRPr lang="en-US" sz="1800" dirty="0"/>
          </a:p>
        </p:txBody>
      </p:sp>
      <p:sp>
        <p:nvSpPr>
          <p:cNvPr id="14" name="Shape 12"/>
          <p:cNvSpPr/>
          <p:nvPr/>
        </p:nvSpPr>
        <p:spPr>
          <a:xfrm>
            <a:off x="7836408" y="2240280"/>
            <a:ext cx="1417320" cy="1005840"/>
          </a:xfrm>
          <a:prstGeom prst="roundRect">
            <a:avLst>
              <a:gd name="adj" fmla="val 10909"/>
            </a:avLst>
          </a:prstGeom>
          <a:solidFill>
            <a:srgbClr val="FFFFFF"/>
          </a:solidFill>
          <a:ln w="15240">
            <a:solidFill>
              <a:srgbClr val="BDD0D8"/>
            </a:solidFill>
            <a:prstDash val="solid"/>
          </a:ln>
        </p:spPr>
      </p:sp>
      <p:sp>
        <p:nvSpPr>
          <p:cNvPr id="15" name="Text 13"/>
          <p:cNvSpPr/>
          <p:nvPr/>
        </p:nvSpPr>
        <p:spPr>
          <a:xfrm>
            <a:off x="7946136" y="2404872"/>
            <a:ext cx="1197864" cy="640080"/>
          </a:xfrm>
          <a:prstGeom prst="rect">
            <a:avLst/>
          </a:prstGeom>
          <a:noFill/>
          <a:ln/>
        </p:spPr>
        <p:txBody>
          <a:bodyPr wrap="square" lIns="0" tIns="0" rIns="0" bIns="0" rtlCol="0" anchor="ctr">
            <a:normAutofit/>
          </a:bodyPr>
          <a:lstStyle/>
          <a:p>
            <a:pPr algn="ctr" indent="0" marL="0">
              <a:buNone/>
            </a:pPr>
            <a:r>
              <a:rPr lang="en-US" sz="1500" b="1" dirty="0">
                <a:solidFill>
                  <a:srgbClr val="263442"/>
                </a:solidFill>
                <a:latin typeface="Aptos" pitchFamily="34" charset="0"/>
                <a:ea typeface="Aptos" pitchFamily="34" charset="-122"/>
                <a:cs typeface="Aptos" pitchFamily="34" charset="-120"/>
              </a:rPr>
              <a:t>Justify</a:t>
            </a:r>
            <a:endParaRPr lang="en-US" sz="1500" dirty="0"/>
          </a:p>
        </p:txBody>
      </p:sp>
      <p:sp>
        <p:nvSpPr>
          <p:cNvPr id="16" name="Text 14"/>
          <p:cNvSpPr/>
          <p:nvPr/>
        </p:nvSpPr>
        <p:spPr>
          <a:xfrm>
            <a:off x="9253728" y="2551176"/>
            <a:ext cx="201168" cy="228600"/>
          </a:xfrm>
          <a:prstGeom prst="rect">
            <a:avLst/>
          </a:prstGeom>
          <a:noFill/>
          <a:ln/>
        </p:spPr>
        <p:txBody>
          <a:bodyPr wrap="square" lIns="0" tIns="0" rIns="0" bIns="0" rtlCol="0" anchor="ctr">
            <a:normAutofit/>
          </a:bodyPr>
          <a:lstStyle/>
          <a:p>
            <a:pPr algn="ctr" indent="0" marL="0">
              <a:buNone/>
            </a:pPr>
            <a:r>
              <a:rPr lang="en-US" sz="1800" dirty="0">
                <a:solidFill>
                  <a:srgbClr val="008C95"/>
                </a:solidFill>
                <a:latin typeface="Aptos" pitchFamily="34" charset="0"/>
                <a:ea typeface="Aptos" pitchFamily="34" charset="-122"/>
                <a:cs typeface="Aptos" pitchFamily="34" charset="-120"/>
              </a:rPr>
              <a:t>→</a:t>
            </a:r>
            <a:endParaRPr lang="en-US" sz="1800" dirty="0"/>
          </a:p>
        </p:txBody>
      </p:sp>
      <p:sp>
        <p:nvSpPr>
          <p:cNvPr id="17" name="Shape 15"/>
          <p:cNvSpPr/>
          <p:nvPr/>
        </p:nvSpPr>
        <p:spPr>
          <a:xfrm>
            <a:off x="9454896" y="2240280"/>
            <a:ext cx="1417320" cy="1005840"/>
          </a:xfrm>
          <a:prstGeom prst="roundRect">
            <a:avLst>
              <a:gd name="adj" fmla="val 10909"/>
            </a:avLst>
          </a:prstGeom>
          <a:solidFill>
            <a:srgbClr val="FFFFFF"/>
          </a:solidFill>
          <a:ln w="15240">
            <a:solidFill>
              <a:srgbClr val="BDD0D8"/>
            </a:solidFill>
            <a:prstDash val="solid"/>
          </a:ln>
        </p:spPr>
      </p:sp>
      <p:sp>
        <p:nvSpPr>
          <p:cNvPr id="18" name="Text 16"/>
          <p:cNvSpPr/>
          <p:nvPr/>
        </p:nvSpPr>
        <p:spPr>
          <a:xfrm>
            <a:off x="9564624" y="2404872"/>
            <a:ext cx="1197864" cy="640080"/>
          </a:xfrm>
          <a:prstGeom prst="rect">
            <a:avLst/>
          </a:prstGeom>
          <a:noFill/>
          <a:ln/>
        </p:spPr>
        <p:txBody>
          <a:bodyPr wrap="square" lIns="0" tIns="0" rIns="0" bIns="0" rtlCol="0" anchor="ctr">
            <a:normAutofit/>
          </a:bodyPr>
          <a:lstStyle/>
          <a:p>
            <a:pPr algn="ctr" indent="0" marL="0">
              <a:buNone/>
            </a:pPr>
            <a:r>
              <a:rPr lang="en-US" sz="1500" b="1" dirty="0">
                <a:solidFill>
                  <a:srgbClr val="263442"/>
                </a:solidFill>
                <a:latin typeface="Aptos" pitchFamily="34" charset="0"/>
                <a:ea typeface="Aptos" pitchFamily="34" charset="-122"/>
                <a:cs typeface="Aptos" pitchFamily="34" charset="-120"/>
              </a:rPr>
              <a:t>Exit</a:t>
            </a:r>
            <a:endParaRPr lang="en-US" sz="1500" dirty="0"/>
          </a:p>
        </p:txBody>
      </p:sp>
      <p:sp>
        <p:nvSpPr>
          <p:cNvPr id="19" name="Text 17"/>
          <p:cNvSpPr/>
          <p:nvPr/>
        </p:nvSpPr>
        <p:spPr>
          <a:xfrm>
            <a:off x="6172200" y="3886200"/>
            <a:ext cx="4846320" cy="548640"/>
          </a:xfrm>
          <a:prstGeom prst="rect">
            <a:avLst/>
          </a:prstGeom>
          <a:noFill/>
          <a:ln/>
        </p:spPr>
        <p:txBody>
          <a:bodyPr wrap="square" lIns="0" tIns="0" rIns="0" bIns="0" rtlCol="0" anchor="ctr">
            <a:normAutofit/>
          </a:bodyPr>
          <a:lstStyle/>
          <a:p>
            <a:pPr algn="ctr" indent="0" marL="0">
              <a:buNone/>
            </a:pPr>
            <a:r>
              <a:rPr lang="en-US" sz="1900" b="1" dirty="0">
                <a:solidFill>
                  <a:srgbClr val="008C95"/>
                </a:solidFill>
                <a:latin typeface="Aptos" pitchFamily="34" charset="0"/>
                <a:ea typeface="Aptos" pitchFamily="34" charset="-122"/>
                <a:cs typeface="Aptos" pitchFamily="34" charset="-120"/>
              </a:rPr>
              <a:t>State assumptions before a bound</a:t>
            </a:r>
            <a:endParaRPr lang="en-US" sz="1900" dirty="0"/>
          </a:p>
        </p:txBody>
      </p:sp>
      <p:sp>
        <p:nvSpPr>
          <p:cNvPr id="20" name="Shape 18"/>
          <p:cNvSpPr/>
          <p:nvPr/>
        </p:nvSpPr>
        <p:spPr>
          <a:xfrm>
            <a:off x="667512" y="6208776"/>
            <a:ext cx="10844784" cy="0"/>
          </a:xfrm>
          <a:prstGeom prst="line">
            <a:avLst/>
          </a:prstGeom>
          <a:noFill/>
          <a:ln w="10160">
            <a:solidFill>
              <a:srgbClr val="BDD0D8"/>
            </a:solidFill>
            <a:prstDash val="solid"/>
          </a:ln>
        </p:spPr>
      </p:sp>
      <p:sp>
        <p:nvSpPr>
          <p:cNvPr id="21" name="Text 19"/>
          <p:cNvSpPr/>
          <p:nvPr/>
        </p:nvSpPr>
        <p:spPr>
          <a:xfrm>
            <a:off x="667512" y="6355080"/>
            <a:ext cx="1828800" cy="228600"/>
          </a:xfrm>
          <a:prstGeom prst="rect">
            <a:avLst/>
          </a:prstGeom>
          <a:noFill/>
          <a:ln/>
        </p:spPr>
        <p:txBody>
          <a:bodyPr wrap="square" lIns="0" tIns="0" rIns="0" bIns="0" rtlCol="0" anchor="ctr">
            <a:normAutofit/>
          </a:bodyPr>
          <a:lstStyle/>
          <a:p>
            <a:pPr algn="l" indent="0" marL="0">
              <a:buNone/>
            </a:pPr>
            <a:r>
              <a:rPr lang="en-US" sz="1000" dirty="0">
                <a:solidFill>
                  <a:srgbClr val="607483"/>
                </a:solidFill>
                <a:latin typeface="Aptos" pitchFamily="34" charset="0"/>
                <a:ea typeface="Aptos" pitchFamily="34" charset="-122"/>
                <a:cs typeface="Aptos" pitchFamily="34" charset="-120"/>
              </a:rPr>
              <a:t>M12 · S01</a:t>
            </a:r>
            <a:endParaRPr lang="en-US" sz="1000" dirty="0"/>
          </a:p>
        </p:txBody>
      </p:sp>
      <p:sp>
        <p:nvSpPr>
          <p:cNvPr id="22" name="Text 20"/>
          <p:cNvSpPr/>
          <p:nvPr/>
        </p:nvSpPr>
        <p:spPr>
          <a:xfrm>
            <a:off x="10607040" y="6355080"/>
            <a:ext cx="914400" cy="228600"/>
          </a:xfrm>
          <a:prstGeom prst="rect">
            <a:avLst/>
          </a:prstGeom>
          <a:noFill/>
          <a:ln/>
        </p:spPr>
        <p:txBody>
          <a:bodyPr wrap="square" lIns="0" tIns="0" rIns="0" bIns="0" rtlCol="0" anchor="ctr">
            <a:normAutofit/>
          </a:bodyPr>
          <a:lstStyle/>
          <a:p>
            <a:pPr algn="r" indent="0" marL="0">
              <a:buNone/>
            </a:pPr>
            <a:r>
              <a:rPr lang="en-US" sz="1000" dirty="0">
                <a:solidFill>
                  <a:srgbClr val="607483"/>
                </a:solidFill>
                <a:latin typeface="Aptos" pitchFamily="34" charset="0"/>
                <a:ea typeface="Aptos" pitchFamily="34" charset="-122"/>
                <a:cs typeface="Aptos" pitchFamily="34" charset="-120"/>
              </a:rPr>
              <a:t>16 / 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S01 — Algorithmic thinking, ADTs and asymptotic analysis</dc:title>
  <dc:subject>S01 teaching deck</dc:subject>
  <dc:creator>M12 Data Structures and Algorithms</dc:creator>
  <cp:lastModifiedBy>M12 Data Structures and Algorithms</cp:lastModifiedBy>
  <cp:revision>1</cp:revision>
  <dcterms:created xsi:type="dcterms:W3CDTF">2026-10-22T11:27:19Z</dcterms:created>
  <dcterms:modified xsi:type="dcterms:W3CDTF">2026-10-22T11:27:19Z</dcterms:modified>
</cp:coreProperties>
</file>